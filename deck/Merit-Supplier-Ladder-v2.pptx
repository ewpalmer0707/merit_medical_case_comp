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i · The problem" id="{5de89c53-d9c6-bd26-4a78-43c839f63261}">
          <p14:sldIdLst>
            <p14:sldId id="256"/>
            <p14:sldId id="257"/>
            <p14:sldId id="258"/>
          </p14:sldIdLst>
        </p14:section>
        <p14:section name="Cameron · The tiers" id="{7c15040d-bf7d-f7e0-0b28-72ac8e77979f}">
          <p14:sldIdLst>
            <p14:sldId id="259"/>
          </p14:sldIdLst>
        </p14:section>
        <p14:section name="Nolan · Implementation" id="{92e088ed-9465-442c-f672-6b4ed8321345}">
          <p14:sldIdLst>
            <p14:sldId id="260"/>
            <p14:sldId id="261"/>
          </p14:sldIdLst>
        </p14:section>
        <p14:section name="Eli · Feasibility" id="{e4181338-c161-ddc3-d76f-514ae273fa68}">
          <p14:sldIdLst>
            <p14:sldId id="262"/>
          </p14:sldIdLst>
        </p14:section>
        <p14:section name="Cameron · Incentives" id="{0aa38b27-4711-ced8-77ee-173a7114167a}">
          <p14:sldIdLst>
            <p14:sldId id="263"/>
          </p14:sldIdLst>
        </p14:section>
        <p14:section name="Nolan · Success" id="{7e8d8e86-66b8-1207-93b8-f1e699801d65}">
          <p14:sldIdLst>
            <p14:sldId id="264"/>
            <p14:sldId id="265"/>
          </p14:sldIdLst>
        </p14:section>
        <p14:section name="Cameron · Close" id="{5f9ae8ef-1345-95fd-7a13-ea3c2fafbc31}">
          <p14:sldIdLst>
            <p14:sldId id="266"/>
            <p14:sldId id="267"/>
            <p14:sldId id="268"/>
          </p14:sldIdLst>
        </p14:section>
        <p14:section name="Backup" id="{108c2cce-6ab5-4e9e-5c97-4ed9fdf192a6}">
          <p14:sldIdLst>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4F4C"/>
                </a:solidFill>
                <a:latin typeface="+mn-lt"/>
              </a:defRPr>
            </a:pPr>
            <a:r>
              <a:rPr sz="1300" b="0" i="0" u="none" strike="noStrike">
                <a:solidFill>
                  <a:srgbClr val="0B4F4C"/>
                </a:solidFill>
                <a:latin typeface="+mn-lt"/>
              </a:rPr>
              <a:t>Year-one cost build (estimate, $k)</a:t>
            </a:r>
          </a:p>
        </c:rich>
      </c:tx>
      <c:layout/>
      <c:overlay val="0"/>
    </c:title>
    <c:autoTitleDeleted val="0"/>
    <c:plotArea>
      <c:layout/>
      <c:barChart>
        <c:barDir val="bar"/>
        <c:grouping val="stacked"/>
        <c:varyColors val="0"/>
        <c:ser>
          <c:idx val="0"/>
          <c:order val="0"/>
          <c:tx>
            <c:strRef>
              <c:f>Sheet1!$B$1</c:f>
              <c:strCache>
                <c:ptCount val="1"/>
                <c:pt idx="0">
                  <c:v>Tier-2 support (50)</c:v>
                </c:pt>
              </c:strCache>
            </c:strRef>
          </c:tx>
          <c:spPr>
            <a:solidFill>
              <a:srgbClr val="D98E04"/>
            </a:solidFill>
            <a:effectLst/>
          </c:spPr>
          <c:invertIfNegative val="0"/>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Year one</c:v>
                  </c:pt>
                </c:lvl>
              </c:multiLvlStrCache>
            </c:multiLvlStrRef>
          </c:cat>
          <c:val>
            <c:numRef>
              <c:f>Sheet1!$B$2:$B$2</c:f>
              <c:numCache>
                <c:formatCode>General</c:formatCode>
                <c:ptCount val="1"/>
                <c:pt idx="0">
                  <c:v>225</c:v>
                </c:pt>
              </c:numCache>
            </c:numRef>
          </c:val>
        </c:ser>
        <c:ser>
          <c:idx val="1"/>
          <c:order val="1"/>
          <c:tx>
            <c:strRef>
              <c:f>Sheet1!$C$1</c:f>
              <c:strCache>
                <c:ptCount val="1"/>
                <c:pt idx="0">
                  <c:v>AI assistant (build + run)</c:v>
                </c:pt>
              </c:strCache>
            </c:strRef>
          </c:tx>
          <c:spPr>
            <a:solidFill>
              <a:srgbClr val="5BB5A2"/>
            </a:solidFill>
            <a:effectLst/>
          </c:spPr>
          <c:invertIfNegative val="0"/>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Year one</c:v>
                  </c:pt>
                </c:lvl>
              </c:multiLvlStrCache>
            </c:multiLvlStrRef>
          </c:cat>
          <c:val>
            <c:numRef>
              <c:f>Sheet1!$C$2:$C$2</c:f>
              <c:numCache>
                <c:formatCode>General</c:formatCode>
                <c:ptCount val="1"/>
                <c:pt idx="0">
                  <c:v>190</c:v>
                </c:pt>
              </c:numCache>
            </c:numRef>
          </c:val>
        </c:ser>
        <c:ser>
          <c:idx val="2"/>
          <c:order val="2"/>
          <c:tx>
            <c:strRef>
              <c:f>Sheet1!$D$1</c:f>
              <c:strCache>
                <c:ptCount val="1"/>
                <c:pt idx="0">
                  <c:v>Coordinators</c:v>
                </c:pt>
              </c:strCache>
            </c:strRef>
          </c:tx>
          <c:spPr>
            <a:solidFill>
              <a:srgbClr val="0F7C76"/>
            </a:solidFill>
            <a:effectLst/>
          </c:spPr>
          <c:invertIfNegative val="0"/>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Year one</c:v>
                  </c:pt>
                </c:lvl>
              </c:multiLvlStrCache>
            </c:multiLvlStrRef>
          </c:cat>
          <c:val>
            <c:numRef>
              <c:f>Sheet1!$D$2:$D$2</c:f>
              <c:numCache>
                <c:formatCode>General</c:formatCode>
                <c:ptCount val="1"/>
                <c:pt idx="0">
                  <c:v>165</c:v>
                </c:pt>
              </c:numCache>
            </c:numRef>
          </c:val>
        </c:ser>
        <c:ser>
          <c:idx val="3"/>
          <c:order val="3"/>
          <c:tx>
            <c:strRef>
              <c:f>Sheet1!$E$1</c:f>
              <c:strCache>
                <c:ptCount val="1"/>
                <c:pt idx="0">
                  <c:v>Impact measurement</c:v>
                </c:pt>
              </c:strCache>
            </c:strRef>
          </c:tx>
          <c:spPr>
            <a:solidFill>
              <a:srgbClr val="0B4F4C"/>
            </a:solidFill>
            <a:effectLst/>
          </c:spPr>
          <c:invertIfNegative val="0"/>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Year one</c:v>
                  </c:pt>
                </c:lvl>
              </c:multiLvlStrCache>
            </c:multiLvlStrRef>
          </c:cat>
          <c:val>
            <c:numRef>
              <c:f>Sheet1!$E$2:$E$2</c:f>
              <c:numCache>
                <c:formatCode>General</c:formatCode>
                <c:ptCount val="1"/>
                <c:pt idx="0">
                  <c:v>130</c:v>
                </c:pt>
              </c:numCache>
            </c:numRef>
          </c:val>
        </c:ser>
        <c:ser>
          <c:idx val="4"/>
          <c:order val="4"/>
          <c:tx>
            <c:strRef>
              <c:f>Sheet1!$F$1</c:f>
              <c:strCache>
                <c:ptCount val="1"/>
                <c:pt idx="0">
                  <c:v>Partners + contingency</c:v>
                </c:pt>
              </c:strCache>
            </c:strRef>
          </c:tx>
          <c:spPr>
            <a:solidFill>
              <a:srgbClr val="8A9499"/>
            </a:solidFill>
            <a:effectLst/>
          </c:spPr>
          <c:invertIfNegative val="0"/>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Year one</c:v>
                  </c:pt>
                </c:lvl>
              </c:multiLvlStrCache>
            </c:multiLvlStrRef>
          </c:cat>
          <c:val>
            <c:numRef>
              <c:f>Sheet1!$F$2:$F$2</c:f>
              <c:numCache>
                <c:formatCode>General</c:formatCode>
                <c:ptCount val="1"/>
                <c:pt idx="0">
                  <c:v>100</c:v>
                </c:pt>
              </c:numCache>
            </c:numRef>
          </c:val>
        </c:ser>
        <c:dLbls>
          <c:numFmt formatCode="&quot;$&quot;#,##0&quot;k&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 (0:25): Hook
Good morning. We're Team 23. In June 2024, Merit recalled some of its custom procedure kits. The problem was a syringe inside them, made by a Chinese company the FDA had warned months earlier. Merit only found out through one of its own suppliers. Merit couldn't see that far down its supply chain, and that blind spot is what we're here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 (0:55): The core problem
Here's the situation. Merit buys from about 1,030 suppliers in 42 countries. The top 78 make up 65% of spend, and most of them are big companies that already report. The gap is the small, single-plant makers in Mexico and China. No sustainability staff, no emissions tracking. They're also the hardest to replace: requalifying a supplier takes 9 to 12 months, and patients wait.
Meanwhile, Merit's story is ahead of its numbers. Scope 3 isn't measured yet, Scope 1 and 2 are only 2% below 2020 against a 40% goal, and Merit's own report calls Scope 3 from China and Mexico a top risk.
So the root problem is simple: Merit asks every supplier the same question, so the ones that matter most are the ones that can't answer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 (0:35): Why the defaults fail
The case gives Merit two defaults. Option A: mandate EcoVadis for everyone. That gets forms, not data. Unverified supplier surveys average 89%, with 40% perfect scores, and suppliers handed demands without help start walking away. Option B: start with the top 78. Fast and cheap, but it leaves Mexico and China dark for years. We keep B's speed and fix A's blind spot. Cameron will show you how we sort the suppliers.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Cameron (1:10): Sorting suppliers into tiers
Step one is sorting, and Merit already has the data in its vendor master. We score every supplier on four things: how hard they are to replace, how much Merit spends with them, country risk, and how ready they are to report. That puts each one in a tier.
Tier 1 is the anchors, about 65 of the top 78. Most already have an EcoVadis score for another customer, so we ask them to share it, minimum 45. That locks in about 65% of spend in month one.
Tier 2 is critical and stuck: 30 to 50 small suppliers, mostly in Mexico and China, that Merit can't lose and that can't do EcoVadis alone. That's where the real help goes.
Tier 3 is the long tail, about 900 easy-to-replace suppliers. They answer a 30-minute questionnaire, and Merit estimates the rest from its own spend data.
The rule is the real deliverable: it works for 1,030 suppliers today and every new one tomorrow. Nolan will show how the help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Nolan (1:05): How the data gets collected
So how do you get credible data out of a 40-person machine shop in Tijuana? Most of it already exists. In Mexico every invoice is a digital CFDI file, including the electricity bill. In China it's the e-fapiao. And most small manufacturers keep their books in software like CONTPAQi or Kingdee.
So Merit builds an AI evidence assistant that reads those records and organizes what EcoVadis and our Scope 3 math need: kilowatt-hours, fuel, policies, and a source for every number.
The obvious question is trust. Why let Merit's software into your books? You don't have to. Merit pays a local consultant who already knows the supplier's software. The consultant runs the assistant on-site, the raw data never leaves the building, and the supplier approves the evidence pack before anything is shared.
One honest limit: the tool only finds records that exist. If something was never measured, that gap becomes a plan to start measuring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Nolan (0:40): Tijuana pilot and timeline
We start in Tijuana, next to Merit's largest plant. This November and December, the Board approves, we sort all 1,030 suppliers, and we test the assistant with two suppliers. Listening sessions and readiness requests go to 12 pilot suppliers in December, so the pilot starts in 2026. In early 2027 they produce their first evidence packs. Then there's a gate: we only expand if cost per pack and supplier retention hit their targets. China follows in late 2027, and by 2028 the rule covers all 42 countries. Eli will cover whether Merit can afford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 (0:55): Is this actually feasible?
So, is this actually feasible? Year one costs about $810,000, capped. That includes about $150,000 to build the assistant once and reuse it for every supplier. After that it's about $660,000 a year, roughly a quarter of one percent of Merit's non-GAAP operating income. Merit is already inside its 20 to 22% margin target and has already hit its $400 million cash-flow goal.
What does Merit get back? McKinsey found supply shocks cost the average medtech company 38% of a year's earnings every decade. If losing one critical supplier costs about $2.5 million, which is our estimate, the program pays for itself by catching one failure early every four years. We're not promising to prevent recalls. We're giving Merit the visibility to catch them sooner. Cameron will show why suppliers want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Cameron (0:45): What suppliers get
Picture running a small precision shop in China. Your team is focused on good parts, shipped on time, and now Merit wants sustainability evidence. Why bother? Merit pays for the assessment. Suppliers that finish get paid faster through NAFIN's fee-free early-payment program, and qualify for longer contracts. One EcoVadis score works for all their customers, so fewer audits. We help Mexican suppliers handle the new 40-hour week without cutting pay. And the score helps them win other buyers. CDP found suppliers are 52% more likely to cut emissions when buyers offer financial incentives, not just training. Nolan will show how we know it's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Nolan (0:40): What success looks like
Peers like Stryker measure spend: 85% of direct spend assessed by 2027. We'll match that, but we also track what matters to patients: critical suppliers with a traceable evidence pack, 60% in 2027 and 90% in 2028. No peer reports that. Tier 2 retention stays at 100%, because losing a critical supplier means we failed. For workers, we track legal hours with pay held, against a wait-listed comparison group. Backorders caused by suppliers go to zero. And publicly, Merit reports only what it can prove: coverage, and how much of Scope 3 is real supplier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Nolan (0:30): Others have done it
And this has worked before. Schneider Electric helped more than 700 suppliers measure their footprint for the first time. Philips partnered with a Chinese supplier, Zhejiang Haishun, instead of auditing it, and found over 120 improvements. CDP and HSBC studied 23,000 suppliers and found financial incentives beat training alone. And Better Work found factory lines got 22% more productive after supervisor training. Cameron will bring it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Cameron (0:50): Social Impact Cycle + tripwires
We built this on the Social Impact Cycle. We loved the problem: small plants asked for something new, with no help, while a labor reform lands on them. So we listen first, design the sort and the matched help, implement with the Tijuana 12, and evaluate outputs, outcomes and impact. Good intentions can backfire, so every risk has a tripwire. Help is time-boxed so no one depends on it. A third party reviews evidence so paperwork can't replace practice. Retention has to stay at 100%. Weekly pay has to hold. And supplier data stays with the supplier. That makes this socially strategic: healthy suppliers are core to Merit's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Cameron (0:40): Mission, vision, values + the ask
Merit wants to be the most customer-focused company in healthcare, and that customer is a patient waiting on a device. Its mission is Understand, Innovate, Deliver: we understand suppliers by asking what's blocking them, we innovate with an assistant that keeps their data in their hands, and we deliver by keeping critical parts flowing. That's HEART carried down the supply chain. We ask the Board for three things: approve the sorting rule, fund about $810,000 for year one, and start in Tijuana this December. The next Shenli gets caught earlier.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7680960" cy="1371600"/>
          </a:xfrm>
          <a:prstGeom prst="rect">
            <a:avLst/>
          </a:prstGeom>
          <a:noFill/>
          <a:ln/>
        </p:spPr>
        <p:txBody>
          <a:bodyPr wrap="square" rtlCol="0"/>
          <a:lstStyle>
            <a:lvl1pPr algn="l" indent="0" marL="0">
              <a:buNone/>
              <a:defRPr lang="en-US" sz="4800" b="1" dirty="0">
                <a:solidFill>
                  <a:schemeClr val="bg1"/>
                </a:solidFill>
                <a:latin typeface="+mj-lt" pitchFamily="34" charset="0"/>
                <a:ea typeface="+mj-lt" pitchFamily="34" charset="-122"/>
                <a:cs typeface="+mj-lt" pitchFamily="34" charset="-120"/>
              </a:defRPr>
            </a:lvl1pPr>
          </a:lstStyle>
          <a:p>
            <a:pPr algn="l" indent="0" marL="0">
              <a:buNone/>
            </a:pPr>
            <a:endParaRPr lang="en-US" sz="4800" dirty="0"/>
          </a:p>
        </p:txBody>
      </p:sp>
      <p:sp>
        <p:nvSpPr>
          <p:cNvPr id="3" name="Text 0"/>
          <p:cNvSpPr/>
          <p:nvPr>
            <p:ph idx="101" type="body" hasCustomPrompt="1"/>
          </p:nvPr>
        </p:nvSpPr>
        <p:spPr>
          <a:xfrm>
            <a:off x="640080" y="3246120"/>
            <a:ext cx="7680960" cy="914400"/>
          </a:xfrm>
          <a:prstGeom prst="rect">
            <a:avLst/>
          </a:prstGeom>
          <a:noFill/>
          <a:ln/>
        </p:spPr>
        <p:txBody>
          <a:bodyPr wrap="square" rtlCol="0"/>
          <a:lstStyle>
            <a:lvl1pPr algn="l" indent="0" marL="0">
              <a:buNone/>
              <a:defRPr lang="en-US" sz="2200" dirty="0">
                <a:solidFill>
                  <a:schemeClr val="accent4"/>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rtlCol="0"/>
          <a:lstStyle>
            <a:lvl1pPr algn="l" indent="0" marL="0">
              <a:buNone/>
              <a:defRPr lang="en-US" sz="2800" b="1" dirty="0">
                <a:solidFill>
                  <a:schemeClr val="tx2"/>
                </a:solidFill>
                <a:latin typeface="+mj-lt" pitchFamily="34" charset="0"/>
                <a:ea typeface="+mj-lt" pitchFamily="34" charset="-122"/>
                <a:cs typeface="+mj-lt" pitchFamily="34" charset="-120"/>
              </a:defRPr>
            </a:lvl1pPr>
          </a:lstStyle>
          <a:p>
            <a:pPr algn="l" indent="0" marL="0">
              <a:buNone/>
            </a:pPr>
            <a:endParaRPr lang="en-US" sz="2800" dirty="0"/>
          </a:p>
        </p:txBody>
      </p:sp>
      <p:sp>
        <p:nvSpPr>
          <p:cNvPr id="3" name="Text 0"/>
          <p:cNvSpPr/>
          <p:nvPr/>
        </p:nvSpPr>
        <p:spPr>
          <a:xfrm>
            <a:off x="7863840" y="6419088"/>
            <a:ext cx="3291840" cy="274320"/>
          </a:xfrm>
          <a:prstGeom prst="rect">
            <a:avLst/>
          </a:prstGeom>
          <a:noFill/>
          <a:ln/>
        </p:spPr>
        <p:txBody>
          <a:bodyPr wrap="square" lIns="0" tIns="0" rIns="0" bIns="0" rtlCol="0" anchor="ctr"/>
          <a:lstStyle/>
          <a:p>
            <a:pPr algn="r" indent="0" marL="0">
              <a:buNone/>
            </a:pPr>
            <a:r>
              <a:rPr lang="en-US" sz="1000" dirty="0">
                <a:solidFill>
                  <a:schemeClr val="accent3"/>
                </a:solidFill>
              </a:rPr>
              <a:t>T_23 · Merit Supplier Ladder</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7680960" cy="1371600"/>
          </a:xfrm>
          <a:prstGeom prst="rect">
            <a:avLst/>
          </a:prstGeom>
          <a:noFill/>
          <a:ln/>
        </p:spPr>
        <p:txBody>
          <a:bodyPr wrap="square" lIns="0" tIns="0" rIns="0" bIns="0" rtlCol="0" anchor="b"/>
          <a:lstStyle/>
          <a:p>
            <a:pPr algn="l" indent="0" marL="0">
              <a:buNone/>
            </a:pPr>
            <a:r>
              <a:rPr lang="en-US" sz="4800" b="1" dirty="0">
                <a:solidFill>
                  <a:schemeClr val="bg1"/>
                </a:solidFill>
                <a:latin typeface="+mj-lt" pitchFamily="34" charset="0"/>
                <a:ea typeface="+mj-lt" pitchFamily="34" charset="-122"/>
                <a:cs typeface="+mj-lt" pitchFamily="34" charset="-120"/>
              </a:rPr>
              <a:t>Merit Supplier Ladder</a:t>
            </a:r>
            <a:endParaRPr lang="en-US" sz="4800" dirty="0"/>
          </a:p>
        </p:txBody>
      </p:sp>
      <p:sp>
        <p:nvSpPr>
          <p:cNvPr id="3" name="Text 0"/>
          <p:cNvSpPr/>
          <p:nvPr>
            <p:ph idx="101" type="body" hasCustomPrompt="1"/>
          </p:nvPr>
        </p:nvSpPr>
        <p:spPr>
          <a:xfrm>
            <a:off x="640080" y="3246120"/>
            <a:ext cx="7680960" cy="914400"/>
          </a:xfrm>
          <a:prstGeom prst="rect">
            <a:avLst/>
          </a:prstGeom>
          <a:noFill/>
          <a:ln/>
        </p:spPr>
        <p:txBody>
          <a:bodyPr wrap="square" lIns="0" tIns="0" rIns="0" bIns="0" rtlCol="0" anchor="t"/>
          <a:lstStyle/>
          <a:p>
            <a:pPr algn="l" indent="0" marL="0">
              <a:buNone/>
            </a:pPr>
            <a:r>
              <a:rPr lang="en-US" sz="2200" dirty="0">
                <a:solidFill>
                  <a:schemeClr val="accent4"/>
                </a:solidFill>
              </a:rPr>
              <a:t>Credible data from the supply chain partners patients can't lose</a:t>
            </a:r>
            <a:endParaRPr lang="en-US" sz="2200" dirty="0"/>
          </a:p>
        </p:txBody>
      </p:sp>
      <p:sp>
        <p:nvSpPr>
          <p:cNvPr id="4" name="Text 2"/>
          <p:cNvSpPr txBox="1"/>
          <p:nvPr/>
        </p:nvSpPr>
        <p:spPr>
          <a:xfrm>
            <a:off x="640080" y="4343400"/>
            <a:ext cx="7132320" cy="365760"/>
          </a:xfrm>
          <a:prstGeom prst="rect">
            <a:avLst/>
          </a:prstGeom>
          <a:noFill/>
          <a:ln/>
        </p:spPr>
        <p:txBody>
          <a:bodyPr wrap="square" lIns="0" tIns="0" rIns="0" bIns="0" rtlCol="0" anchor="t"/>
          <a:lstStyle/>
          <a:p>
            <a:pPr indent="0" marL="0">
              <a:buNone/>
            </a:pPr>
            <a:r>
              <a:rPr lang="en-US" sz="1600" dirty="0">
                <a:solidFill>
                  <a:schemeClr val="bg1"/>
                </a:solidFill>
              </a:rPr>
              <a:t>Team 23 · Elijah Palmer · Cameron Boyle · Nolan Ford</a:t>
            </a:r>
            <a:endParaRPr lang="en-US" sz="1600" dirty="0"/>
          </a:p>
        </p:txBody>
      </p:sp>
      <p:sp>
        <p:nvSpPr>
          <p:cNvPr id="5" name="Shape 3"/>
          <p:cNvSpPr/>
          <p:nvPr/>
        </p:nvSpPr>
        <p:spPr>
          <a:xfrm>
            <a:off x="640080" y="5212080"/>
            <a:ext cx="6766560" cy="777240"/>
          </a:xfrm>
          <a:prstGeom prst="roundRect">
            <a:avLst>
              <a:gd name="adj" fmla="val 9412"/>
            </a:avLst>
          </a:prstGeom>
          <a:solidFill>
            <a:schemeClr val="bg1">
              <a:alpha val="10000"/>
            </a:schemeClr>
          </a:solidFill>
          <a:ln/>
        </p:spPr>
      </p:sp>
      <p:sp>
        <p:nvSpPr>
          <p:cNvPr id="6" name="Text 4"/>
          <p:cNvSpPr txBox="1"/>
          <p:nvPr/>
        </p:nvSpPr>
        <p:spPr>
          <a:xfrm>
            <a:off x="822960" y="5303520"/>
            <a:ext cx="6400800" cy="594360"/>
          </a:xfrm>
          <a:prstGeom prst="rect">
            <a:avLst/>
          </a:prstGeom>
          <a:noFill/>
          <a:ln/>
        </p:spPr>
        <p:txBody>
          <a:bodyPr wrap="square" lIns="0" tIns="0" rIns="0" bIns="0" rtlCol="0" anchor="ctr"/>
          <a:lstStyle/>
          <a:p>
            <a:pPr indent="0" marL="0">
              <a:buNone/>
            </a:pPr>
            <a:r>
              <a:rPr lang="en-US" sz="1500" b="1" dirty="0">
                <a:solidFill>
                  <a:schemeClr val="accent2"/>
                </a:solidFill>
              </a:rPr>
              <a:t>June 2024  </a:t>
            </a:r>
            <a:pPr indent="0" marL="0">
              <a:buNone/>
            </a:pPr>
            <a:r>
              <a:rPr lang="en-US" sz="1500" dirty="0">
                <a:solidFill>
                  <a:schemeClr val="bg1"/>
                </a:solidFill>
              </a:rPr>
              <a:t>An uncleared syringe from a supplier Merit couldn't see led to a recall of Merit's custom kits.</a:t>
            </a:r>
            <a:endParaRPr lang="en-US" sz="1500" dirty="0"/>
          </a:p>
        </p:txBody>
      </p:sp>
      <p:sp>
        <p:nvSpPr>
          <p:cNvPr id="7" name="Shape 5"/>
          <p:cNvSpPr/>
          <p:nvPr/>
        </p:nvSpPr>
        <p:spPr>
          <a:xfrm>
            <a:off x="8595360" y="914400"/>
            <a:ext cx="139903" cy="5120640"/>
          </a:xfrm>
          <a:prstGeom prst="rect">
            <a:avLst/>
          </a:prstGeom>
          <a:solidFill>
            <a:schemeClr val="accent4"/>
          </a:solidFill>
          <a:ln/>
        </p:spPr>
      </p:sp>
      <p:sp>
        <p:nvSpPr>
          <p:cNvPr id="8" name="Shape 6"/>
          <p:cNvSpPr/>
          <p:nvPr/>
        </p:nvSpPr>
        <p:spPr>
          <a:xfrm>
            <a:off x="10009937" y="914400"/>
            <a:ext cx="139903" cy="5120640"/>
          </a:xfrm>
          <a:prstGeom prst="rect">
            <a:avLst/>
          </a:prstGeom>
          <a:solidFill>
            <a:schemeClr val="accent4"/>
          </a:solidFill>
          <a:ln/>
        </p:spPr>
      </p:sp>
      <p:sp>
        <p:nvSpPr>
          <p:cNvPr id="9" name="Shape 7"/>
          <p:cNvSpPr/>
          <p:nvPr/>
        </p:nvSpPr>
        <p:spPr>
          <a:xfrm>
            <a:off x="8735263" y="5305349"/>
            <a:ext cx="1274674" cy="179222"/>
          </a:xfrm>
          <a:prstGeom prst="rect">
            <a:avLst/>
          </a:prstGeom>
          <a:solidFill>
            <a:schemeClr val="accent4"/>
          </a:solidFill>
          <a:ln/>
        </p:spPr>
      </p:sp>
      <p:sp>
        <p:nvSpPr>
          <p:cNvPr id="10" name="Shape 8"/>
          <p:cNvSpPr/>
          <p:nvPr/>
        </p:nvSpPr>
        <p:spPr>
          <a:xfrm>
            <a:off x="8735263" y="4025189"/>
            <a:ext cx="1274674" cy="179222"/>
          </a:xfrm>
          <a:prstGeom prst="rect">
            <a:avLst/>
          </a:prstGeom>
          <a:solidFill>
            <a:schemeClr val="accent4"/>
          </a:solidFill>
          <a:ln/>
        </p:spPr>
      </p:sp>
      <p:sp>
        <p:nvSpPr>
          <p:cNvPr id="11" name="Shape 9"/>
          <p:cNvSpPr/>
          <p:nvPr/>
        </p:nvSpPr>
        <p:spPr>
          <a:xfrm>
            <a:off x="8735263" y="2745029"/>
            <a:ext cx="1274674" cy="179222"/>
          </a:xfrm>
          <a:prstGeom prst="rect">
            <a:avLst/>
          </a:prstGeom>
          <a:solidFill>
            <a:schemeClr val="accent4"/>
          </a:solidFill>
          <a:ln/>
        </p:spPr>
      </p:sp>
      <p:sp>
        <p:nvSpPr>
          <p:cNvPr id="12" name="Shape 10"/>
          <p:cNvSpPr/>
          <p:nvPr/>
        </p:nvSpPr>
        <p:spPr>
          <a:xfrm>
            <a:off x="8735263" y="1464869"/>
            <a:ext cx="1274674" cy="179222"/>
          </a:xfrm>
          <a:prstGeom prst="rect">
            <a:avLst/>
          </a:prstGeom>
          <a:solidFill>
            <a:schemeClr val="accent4"/>
          </a:solidFill>
          <a:ln/>
        </p:spPr>
      </p:sp>
      <p:sp>
        <p:nvSpPr>
          <p:cNvPr id="13" name="Text 11"/>
          <p:cNvSpPr txBox="1"/>
          <p:nvPr/>
        </p:nvSpPr>
        <p:spPr>
          <a:xfrm>
            <a:off x="10378440" y="5212080"/>
            <a:ext cx="1463040" cy="365760"/>
          </a:xfrm>
          <a:prstGeom prst="rect">
            <a:avLst/>
          </a:prstGeom>
          <a:noFill/>
          <a:ln/>
        </p:spPr>
        <p:txBody>
          <a:bodyPr wrap="square" lIns="0" tIns="0" rIns="0" bIns="0" rtlCol="0" anchor="ctr"/>
          <a:lstStyle/>
          <a:p>
            <a:pPr indent="0" marL="0">
              <a:buNone/>
            </a:pPr>
            <a:r>
              <a:rPr lang="en-US" sz="1400" dirty="0">
                <a:solidFill>
                  <a:schemeClr val="bg1"/>
                </a:solidFill>
              </a:rPr>
              <a:t>Estimate</a:t>
            </a:r>
            <a:endParaRPr lang="en-US" sz="1400" dirty="0"/>
          </a:p>
        </p:txBody>
      </p:sp>
      <p:sp>
        <p:nvSpPr>
          <p:cNvPr id="14" name="Text 12"/>
          <p:cNvSpPr txBox="1"/>
          <p:nvPr/>
        </p:nvSpPr>
        <p:spPr>
          <a:xfrm>
            <a:off x="10378440" y="3931920"/>
            <a:ext cx="1463040" cy="365760"/>
          </a:xfrm>
          <a:prstGeom prst="rect">
            <a:avLst/>
          </a:prstGeom>
          <a:noFill/>
          <a:ln/>
        </p:spPr>
        <p:txBody>
          <a:bodyPr wrap="square" lIns="0" tIns="0" rIns="0" bIns="0" rtlCol="0" anchor="ctr"/>
          <a:lstStyle/>
          <a:p>
            <a:pPr indent="0" marL="0">
              <a:buNone/>
            </a:pPr>
            <a:r>
              <a:rPr lang="en-US" sz="1400" dirty="0">
                <a:solidFill>
                  <a:schemeClr val="bg1"/>
                </a:solidFill>
              </a:rPr>
              <a:t>Reported</a:t>
            </a:r>
            <a:endParaRPr lang="en-US" sz="1400" dirty="0"/>
          </a:p>
        </p:txBody>
      </p:sp>
      <p:sp>
        <p:nvSpPr>
          <p:cNvPr id="15" name="Text 13"/>
          <p:cNvSpPr txBox="1"/>
          <p:nvPr/>
        </p:nvSpPr>
        <p:spPr>
          <a:xfrm>
            <a:off x="10378440" y="2651760"/>
            <a:ext cx="1463040" cy="365760"/>
          </a:xfrm>
          <a:prstGeom prst="rect">
            <a:avLst/>
          </a:prstGeom>
          <a:noFill/>
          <a:ln/>
        </p:spPr>
        <p:txBody>
          <a:bodyPr wrap="square" lIns="0" tIns="0" rIns="0" bIns="0" rtlCol="0" anchor="ctr"/>
          <a:lstStyle/>
          <a:p>
            <a:pPr indent="0" marL="0">
              <a:buNone/>
            </a:pPr>
            <a:r>
              <a:rPr lang="en-US" sz="1400" dirty="0">
                <a:solidFill>
                  <a:schemeClr val="bg1"/>
                </a:solidFill>
              </a:rPr>
              <a:t>Traceable</a:t>
            </a:r>
            <a:endParaRPr lang="en-US" sz="1400" dirty="0"/>
          </a:p>
        </p:txBody>
      </p:sp>
      <p:sp>
        <p:nvSpPr>
          <p:cNvPr id="16" name="Text 14"/>
          <p:cNvSpPr txBox="1"/>
          <p:nvPr/>
        </p:nvSpPr>
        <p:spPr>
          <a:xfrm>
            <a:off x="10378440" y="1371600"/>
            <a:ext cx="1463040" cy="365760"/>
          </a:xfrm>
          <a:prstGeom prst="rect">
            <a:avLst/>
          </a:prstGeom>
          <a:noFill/>
          <a:ln/>
        </p:spPr>
        <p:txBody>
          <a:bodyPr wrap="square" lIns="0" tIns="0" rIns="0" bIns="0" rtlCol="0" anchor="ctr"/>
          <a:lstStyle/>
          <a:p>
            <a:pPr indent="0" marL="0">
              <a:buNone/>
            </a:pPr>
            <a:r>
              <a:rPr lang="en-US" sz="1400" dirty="0">
                <a:solidFill>
                  <a:schemeClr val="bg1"/>
                </a:solidFill>
              </a:rPr>
              <a:t>Rated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Merit asks every supplier the same question, so the ones that matter most can't answer it</a:t>
            </a:r>
            <a:endParaRPr lang="en-US" sz="2800" dirty="0"/>
          </a:p>
        </p:txBody>
      </p:sp>
      <p:sp>
        <p:nvSpPr>
          <p:cNvPr id="3" name="Shape 1"/>
          <p:cNvSpPr/>
          <p:nvPr/>
        </p:nvSpPr>
        <p:spPr>
          <a:xfrm>
            <a:off x="548640" y="1554480"/>
            <a:ext cx="5394960" cy="3657600"/>
          </a:xfrm>
          <a:prstGeom prst="roundRect">
            <a:avLst>
              <a:gd name="adj" fmla="val 2000"/>
            </a:avLst>
          </a:prstGeom>
          <a:solidFill>
            <a:schemeClr val="bg2"/>
          </a:solidFill>
          <a:ln/>
        </p:spPr>
      </p:sp>
      <p:sp>
        <p:nvSpPr>
          <p:cNvPr id="4" name="Text 2"/>
          <p:cNvSpPr txBox="1"/>
          <p:nvPr/>
        </p:nvSpPr>
        <p:spPr>
          <a:xfrm>
            <a:off x="822960" y="1691640"/>
            <a:ext cx="4846320" cy="41148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The data gap sits where risk is highest</a:t>
            </a:r>
            <a:endParaRPr lang="en-US" sz="1800" dirty="0"/>
          </a:p>
        </p:txBody>
      </p:sp>
      <p:sp>
        <p:nvSpPr>
          <p:cNvPr id="5" name="Text 3"/>
          <p:cNvSpPr txBox="1"/>
          <p:nvPr/>
        </p:nvSpPr>
        <p:spPr>
          <a:xfrm>
            <a:off x="822960" y="219456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1,030</a:t>
            </a:r>
            <a:endParaRPr lang="en-US" sz="3000" dirty="0"/>
          </a:p>
        </p:txBody>
      </p:sp>
      <p:sp>
        <p:nvSpPr>
          <p:cNvPr id="6" name="Text 4"/>
          <p:cNvSpPr txBox="1"/>
          <p:nvPr/>
        </p:nvSpPr>
        <p:spPr>
          <a:xfrm>
            <a:off x="2651760" y="2194560"/>
            <a:ext cx="3063240" cy="685800"/>
          </a:xfrm>
          <a:prstGeom prst="rect">
            <a:avLst/>
          </a:prstGeom>
          <a:noFill/>
          <a:ln/>
        </p:spPr>
        <p:txBody>
          <a:bodyPr wrap="square" lIns="0" tIns="0" rIns="0" bIns="0" rtlCol="0" anchor="ctr"/>
          <a:lstStyle/>
          <a:p>
            <a:pPr indent="0" marL="0">
              <a:buNone/>
            </a:pPr>
            <a:r>
              <a:rPr lang="en-US" sz="1400" dirty="0">
                <a:solidFill>
                  <a:schemeClr val="tx1"/>
                </a:solidFill>
              </a:rPr>
              <a:t>direct suppliers in 42 countries</a:t>
            </a:r>
            <a:endParaRPr lang="en-US" sz="1400" dirty="0"/>
          </a:p>
        </p:txBody>
      </p:sp>
      <p:sp>
        <p:nvSpPr>
          <p:cNvPr id="7" name="Text 5"/>
          <p:cNvSpPr txBox="1"/>
          <p:nvPr/>
        </p:nvSpPr>
        <p:spPr>
          <a:xfrm>
            <a:off x="822960" y="297180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65%</a:t>
            </a:r>
            <a:endParaRPr lang="en-US" sz="3000" dirty="0"/>
          </a:p>
        </p:txBody>
      </p:sp>
      <p:sp>
        <p:nvSpPr>
          <p:cNvPr id="8" name="Text 6"/>
          <p:cNvSpPr txBox="1"/>
          <p:nvPr/>
        </p:nvSpPr>
        <p:spPr>
          <a:xfrm>
            <a:off x="2651760" y="2971800"/>
            <a:ext cx="3063240" cy="685800"/>
          </a:xfrm>
          <a:prstGeom prst="rect">
            <a:avLst/>
          </a:prstGeom>
          <a:noFill/>
          <a:ln/>
        </p:spPr>
        <p:txBody>
          <a:bodyPr wrap="square" lIns="0" tIns="0" rIns="0" bIns="0" rtlCol="0" anchor="ctr"/>
          <a:lstStyle/>
          <a:p>
            <a:pPr indent="0" marL="0">
              <a:buNone/>
            </a:pPr>
            <a:r>
              <a:rPr lang="en-US" sz="1400" dirty="0">
                <a:solidFill>
                  <a:schemeClr val="tx1"/>
                </a:solidFill>
              </a:rPr>
              <a:t>of spend is with the top 78, which are mostly already reporting</a:t>
            </a:r>
            <a:endParaRPr lang="en-US" sz="1400" dirty="0"/>
          </a:p>
        </p:txBody>
      </p:sp>
      <p:sp>
        <p:nvSpPr>
          <p:cNvPr id="9" name="Text 7"/>
          <p:cNvSpPr txBox="1"/>
          <p:nvPr/>
        </p:nvSpPr>
        <p:spPr>
          <a:xfrm>
            <a:off x="822960" y="374904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9–12 mo</a:t>
            </a:r>
            <a:endParaRPr lang="en-US" sz="3000" dirty="0"/>
          </a:p>
        </p:txBody>
      </p:sp>
      <p:sp>
        <p:nvSpPr>
          <p:cNvPr id="10" name="Text 8"/>
          <p:cNvSpPr txBox="1"/>
          <p:nvPr/>
        </p:nvSpPr>
        <p:spPr>
          <a:xfrm>
            <a:off x="2651760" y="3749040"/>
            <a:ext cx="3063240" cy="685800"/>
          </a:xfrm>
          <a:prstGeom prst="rect">
            <a:avLst/>
          </a:prstGeom>
          <a:noFill/>
          <a:ln/>
        </p:spPr>
        <p:txBody>
          <a:bodyPr wrap="square" lIns="0" tIns="0" rIns="0" bIns="0" rtlCol="0" anchor="ctr"/>
          <a:lstStyle/>
          <a:p>
            <a:pPr indent="0" marL="0">
              <a:buNone/>
            </a:pPr>
            <a:r>
              <a:rPr lang="en-US" sz="1400" dirty="0">
                <a:solidFill>
                  <a:schemeClr val="tx1"/>
                </a:solidFill>
              </a:rPr>
              <a:t>to requalify a supplier, so losing one means patients wait</a:t>
            </a:r>
            <a:endParaRPr lang="en-US" sz="1400" dirty="0"/>
          </a:p>
        </p:txBody>
      </p:sp>
      <p:sp>
        <p:nvSpPr>
          <p:cNvPr id="11" name="Text 9"/>
          <p:cNvSpPr txBox="1"/>
          <p:nvPr/>
        </p:nvSpPr>
        <p:spPr>
          <a:xfrm>
            <a:off x="822960" y="4617720"/>
            <a:ext cx="4937760" cy="411480"/>
          </a:xfrm>
          <a:prstGeom prst="rect">
            <a:avLst/>
          </a:prstGeom>
          <a:noFill/>
          <a:ln/>
        </p:spPr>
        <p:txBody>
          <a:bodyPr wrap="square" lIns="0" tIns="0" rIns="0" bIns="0" rtlCol="0" anchor="ctr"/>
          <a:lstStyle/>
          <a:p>
            <a:pPr indent="0" marL="0">
              <a:buNone/>
            </a:pPr>
            <a:r>
              <a:rPr lang="en-US" sz="1400" b="1" dirty="0">
                <a:solidFill>
                  <a:schemeClr val="accent2"/>
                </a:solidFill>
              </a:rPr>
              <a:t>The gap: small, single-plant makers in Mexico and China</a:t>
            </a:r>
            <a:endParaRPr lang="en-US" sz="1400" dirty="0"/>
          </a:p>
        </p:txBody>
      </p:sp>
      <p:sp>
        <p:nvSpPr>
          <p:cNvPr id="12" name="Shape 10"/>
          <p:cNvSpPr/>
          <p:nvPr/>
        </p:nvSpPr>
        <p:spPr>
          <a:xfrm>
            <a:off x="6263640" y="1554480"/>
            <a:ext cx="5394960" cy="3657600"/>
          </a:xfrm>
          <a:prstGeom prst="roundRect">
            <a:avLst>
              <a:gd name="adj" fmla="val 2000"/>
            </a:avLst>
          </a:prstGeom>
          <a:solidFill>
            <a:schemeClr val="bg2"/>
          </a:solidFill>
          <a:ln/>
        </p:spPr>
      </p:sp>
      <p:sp>
        <p:nvSpPr>
          <p:cNvPr id="13" name="Text 11"/>
          <p:cNvSpPr txBox="1"/>
          <p:nvPr/>
        </p:nvSpPr>
        <p:spPr>
          <a:xfrm>
            <a:off x="6537960" y="1691640"/>
            <a:ext cx="4846320" cy="41148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The story is ahead of the numbers</a:t>
            </a:r>
            <a:endParaRPr lang="en-US" sz="1800" dirty="0"/>
          </a:p>
        </p:txBody>
      </p:sp>
      <p:sp>
        <p:nvSpPr>
          <p:cNvPr id="14" name="Text 12"/>
          <p:cNvSpPr txBox="1"/>
          <p:nvPr/>
        </p:nvSpPr>
        <p:spPr>
          <a:xfrm>
            <a:off x="6537960" y="219456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Scope 3</a:t>
            </a:r>
            <a:endParaRPr lang="en-US" sz="3000" dirty="0"/>
          </a:p>
        </p:txBody>
      </p:sp>
      <p:sp>
        <p:nvSpPr>
          <p:cNvPr id="15" name="Text 13"/>
          <p:cNvSpPr txBox="1"/>
          <p:nvPr/>
        </p:nvSpPr>
        <p:spPr>
          <a:xfrm>
            <a:off x="8366760" y="2194560"/>
            <a:ext cx="3063240" cy="685800"/>
          </a:xfrm>
          <a:prstGeom prst="rect">
            <a:avLst/>
          </a:prstGeom>
          <a:noFill/>
          <a:ln/>
        </p:spPr>
        <p:txBody>
          <a:bodyPr wrap="square" lIns="0" tIns="0" rIns="0" bIns="0" rtlCol="0" anchor="ctr"/>
          <a:lstStyle/>
          <a:p>
            <a:pPr indent="0" marL="0">
              <a:buNone/>
            </a:pPr>
            <a:r>
              <a:rPr lang="en-US" sz="1400" dirty="0">
                <a:solidFill>
                  <a:schemeClr val="tx1"/>
                </a:solidFill>
              </a:rPr>
              <a:t>unmeasured: only a 2024 baseline exists</a:t>
            </a:r>
            <a:endParaRPr lang="en-US" sz="1400" dirty="0"/>
          </a:p>
        </p:txBody>
      </p:sp>
      <p:sp>
        <p:nvSpPr>
          <p:cNvPr id="16" name="Text 14"/>
          <p:cNvSpPr txBox="1"/>
          <p:nvPr/>
        </p:nvSpPr>
        <p:spPr>
          <a:xfrm>
            <a:off x="6537960" y="297180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−2%</a:t>
            </a:r>
            <a:endParaRPr lang="en-US" sz="3000" dirty="0"/>
          </a:p>
        </p:txBody>
      </p:sp>
      <p:sp>
        <p:nvSpPr>
          <p:cNvPr id="17" name="Text 15"/>
          <p:cNvSpPr txBox="1"/>
          <p:nvPr/>
        </p:nvSpPr>
        <p:spPr>
          <a:xfrm>
            <a:off x="8366760" y="2971800"/>
            <a:ext cx="3063240" cy="685800"/>
          </a:xfrm>
          <a:prstGeom prst="rect">
            <a:avLst/>
          </a:prstGeom>
          <a:noFill/>
          <a:ln/>
        </p:spPr>
        <p:txBody>
          <a:bodyPr wrap="square" lIns="0" tIns="0" rIns="0" bIns="0" rtlCol="0" anchor="ctr"/>
          <a:lstStyle/>
          <a:p>
            <a:pPr indent="0" marL="0">
              <a:buNone/>
            </a:pPr>
            <a:r>
              <a:rPr lang="en-US" sz="1400" dirty="0">
                <a:solidFill>
                  <a:schemeClr val="tx1"/>
                </a:solidFill>
              </a:rPr>
              <a:t>Scope 1+2 vs 2020, against a −40% goal for 2030</a:t>
            </a:r>
            <a:endParaRPr lang="en-US" sz="1400" dirty="0"/>
          </a:p>
        </p:txBody>
      </p:sp>
      <p:sp>
        <p:nvSpPr>
          <p:cNvPr id="18" name="Shape 16"/>
          <p:cNvSpPr/>
          <p:nvPr/>
        </p:nvSpPr>
        <p:spPr>
          <a:xfrm>
            <a:off x="8366760" y="3639312"/>
            <a:ext cx="3017520" cy="91440"/>
          </a:xfrm>
          <a:prstGeom prst="rect">
            <a:avLst/>
          </a:prstGeom>
          <a:solidFill>
            <a:schemeClr val="accent6"/>
          </a:solidFill>
          <a:ln/>
        </p:spPr>
      </p:sp>
      <p:sp>
        <p:nvSpPr>
          <p:cNvPr id="19" name="Shape 17"/>
          <p:cNvSpPr/>
          <p:nvPr/>
        </p:nvSpPr>
        <p:spPr>
          <a:xfrm>
            <a:off x="8366760" y="3639312"/>
            <a:ext cx="150876" cy="91440"/>
          </a:xfrm>
          <a:prstGeom prst="rect">
            <a:avLst/>
          </a:prstGeom>
          <a:solidFill>
            <a:schemeClr val="accent1"/>
          </a:solidFill>
          <a:ln/>
        </p:spPr>
      </p:sp>
      <p:sp>
        <p:nvSpPr>
          <p:cNvPr id="20" name="Text 18"/>
          <p:cNvSpPr txBox="1"/>
          <p:nvPr/>
        </p:nvSpPr>
        <p:spPr>
          <a:xfrm>
            <a:off x="6537960" y="3749040"/>
            <a:ext cx="1737360" cy="68580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0</a:t>
            </a:r>
            <a:endParaRPr lang="en-US" sz="3000" dirty="0"/>
          </a:p>
        </p:txBody>
      </p:sp>
      <p:sp>
        <p:nvSpPr>
          <p:cNvPr id="21" name="Text 19"/>
          <p:cNvSpPr txBox="1"/>
          <p:nvPr/>
        </p:nvSpPr>
        <p:spPr>
          <a:xfrm>
            <a:off x="8366760" y="3749040"/>
            <a:ext cx="3063240" cy="685800"/>
          </a:xfrm>
          <a:prstGeom prst="rect">
            <a:avLst/>
          </a:prstGeom>
          <a:noFill/>
          <a:ln/>
        </p:spPr>
        <p:txBody>
          <a:bodyPr wrap="square" lIns="0" tIns="0" rIns="0" bIns="0" rtlCol="0" anchor="ctr"/>
          <a:lstStyle/>
          <a:p>
            <a:pPr indent="0" marL="0">
              <a:buNone/>
            </a:pPr>
            <a:r>
              <a:rPr lang="en-US" sz="1400" dirty="0">
                <a:solidFill>
                  <a:schemeClr val="tx1"/>
                </a:solidFill>
              </a:rPr>
              <a:t>EcoVadis coverage numbers published</a:t>
            </a:r>
            <a:endParaRPr lang="en-US" sz="1400" dirty="0"/>
          </a:p>
        </p:txBody>
      </p:sp>
      <p:sp>
        <p:nvSpPr>
          <p:cNvPr id="22" name="Text 20"/>
          <p:cNvSpPr txBox="1"/>
          <p:nvPr/>
        </p:nvSpPr>
        <p:spPr>
          <a:xfrm>
            <a:off x="6537960" y="4617720"/>
            <a:ext cx="4937760" cy="411480"/>
          </a:xfrm>
          <a:prstGeom prst="rect">
            <a:avLst/>
          </a:prstGeom>
          <a:noFill/>
          <a:ln/>
        </p:spPr>
        <p:txBody>
          <a:bodyPr wrap="square" lIns="0" tIns="0" rIns="0" bIns="0" rtlCol="0" anchor="ctr"/>
          <a:lstStyle/>
          <a:p>
            <a:pPr indent="0" marL="0">
              <a:buNone/>
            </a:pPr>
            <a:r>
              <a:rPr lang="en-US" sz="1400" b="1" dirty="0">
                <a:solidFill>
                  <a:schemeClr val="accent2"/>
                </a:solidFill>
              </a:rPr>
              <a:t>Merit's own 2025 report: Scope 3 from China and Mexico is a top risk</a:t>
            </a:r>
            <a:endParaRPr lang="en-US" sz="1400" dirty="0"/>
          </a:p>
        </p:txBody>
      </p:sp>
      <p:sp>
        <p:nvSpPr>
          <p:cNvPr id="23" name="Text 21"/>
          <p:cNvSpPr txBox="1"/>
          <p:nvPr/>
        </p:nvSpPr>
        <p:spPr>
          <a:xfrm>
            <a:off x="548640" y="5486400"/>
            <a:ext cx="1097280" cy="548640"/>
          </a:xfrm>
          <a:prstGeom prst="rect">
            <a:avLst/>
          </a:prstGeom>
          <a:noFill/>
          <a:ln/>
        </p:spPr>
        <p:txBody>
          <a:bodyPr wrap="square" lIns="0" tIns="0" rIns="0" bIns="0" rtlCol="0" anchor="ctr"/>
          <a:lstStyle/>
          <a:p>
            <a:pPr indent="0" marL="0">
              <a:buNone/>
            </a:pPr>
            <a:r>
              <a:rPr lang="en-US" sz="1600" b="1" dirty="0">
                <a:solidFill>
                  <a:schemeClr val="accent1"/>
                </a:solidFill>
              </a:rPr>
              <a:t>Why now</a:t>
            </a:r>
            <a:endParaRPr lang="en-US" sz="1600" dirty="0"/>
          </a:p>
        </p:txBody>
      </p:sp>
      <p:sp>
        <p:nvSpPr>
          <p:cNvPr id="24" name="Shape 22"/>
          <p:cNvSpPr/>
          <p:nvPr/>
        </p:nvSpPr>
        <p:spPr>
          <a:xfrm>
            <a:off x="1691640" y="5486400"/>
            <a:ext cx="2359152" cy="548640"/>
          </a:xfrm>
          <a:prstGeom prst="roundRect">
            <a:avLst>
              <a:gd name="adj" fmla="val 13333"/>
            </a:avLst>
          </a:prstGeom>
          <a:solidFill>
            <a:schemeClr val="bg1"/>
          </a:solidFill>
          <a:ln w="12700">
            <a:solidFill>
              <a:schemeClr val="accent6"/>
            </a:solidFill>
            <a:prstDash val="solid"/>
          </a:ln>
        </p:spPr>
      </p:sp>
      <p:sp>
        <p:nvSpPr>
          <p:cNvPr id="25" name="Text 23"/>
          <p:cNvSpPr txBox="1"/>
          <p:nvPr/>
        </p:nvSpPr>
        <p:spPr>
          <a:xfrm>
            <a:off x="1783080" y="5486400"/>
            <a:ext cx="2176272" cy="548640"/>
          </a:xfrm>
          <a:prstGeom prst="rect">
            <a:avLst/>
          </a:prstGeom>
          <a:noFill/>
          <a:ln/>
        </p:spPr>
        <p:txBody>
          <a:bodyPr wrap="square" lIns="0" tIns="0" rIns="0" bIns="0" rtlCol="0" anchor="ctr"/>
          <a:lstStyle/>
          <a:p>
            <a:pPr algn="ctr" indent="0" marL="0">
              <a:buNone/>
            </a:pPr>
            <a:r>
              <a:rPr lang="en-US" sz="1200" dirty="0">
                <a:solidFill>
                  <a:schemeClr val="tx1"/>
                </a:solidFill>
              </a:rPr>
              <a:t>New CEO: "responsible supply-chain practices"</a:t>
            </a:r>
            <a:endParaRPr lang="en-US" sz="1200" dirty="0"/>
          </a:p>
        </p:txBody>
      </p:sp>
      <p:sp>
        <p:nvSpPr>
          <p:cNvPr id="26" name="Shape 24"/>
          <p:cNvSpPr/>
          <p:nvPr/>
        </p:nvSpPr>
        <p:spPr>
          <a:xfrm>
            <a:off x="4178808" y="5486400"/>
            <a:ext cx="2359152" cy="548640"/>
          </a:xfrm>
          <a:prstGeom prst="roundRect">
            <a:avLst>
              <a:gd name="adj" fmla="val 13333"/>
            </a:avLst>
          </a:prstGeom>
          <a:solidFill>
            <a:schemeClr val="bg1"/>
          </a:solidFill>
          <a:ln w="12700">
            <a:solidFill>
              <a:schemeClr val="accent6"/>
            </a:solidFill>
            <a:prstDash val="solid"/>
          </a:ln>
        </p:spPr>
      </p:sp>
      <p:sp>
        <p:nvSpPr>
          <p:cNvPr id="27" name="Text 25"/>
          <p:cNvSpPr txBox="1"/>
          <p:nvPr/>
        </p:nvSpPr>
        <p:spPr>
          <a:xfrm>
            <a:off x="4270248" y="5486400"/>
            <a:ext cx="2176272" cy="548640"/>
          </a:xfrm>
          <a:prstGeom prst="rect">
            <a:avLst/>
          </a:prstGeom>
          <a:noFill/>
          <a:ln/>
        </p:spPr>
        <p:txBody>
          <a:bodyPr wrap="square" lIns="0" tIns="0" rIns="0" bIns="0" rtlCol="0" anchor="ctr"/>
          <a:lstStyle/>
          <a:p>
            <a:pPr algn="ctr" indent="0" marL="0">
              <a:buNone/>
            </a:pPr>
            <a:r>
              <a:rPr lang="en-US" sz="1200" dirty="0">
                <a:solidFill>
                  <a:schemeClr val="tx1"/>
                </a:solidFill>
              </a:rPr>
              <a:t>EcoVadis rollout is only a year old</a:t>
            </a:r>
            <a:endParaRPr lang="en-US" sz="1200" dirty="0"/>
          </a:p>
        </p:txBody>
      </p:sp>
      <p:sp>
        <p:nvSpPr>
          <p:cNvPr id="28" name="Shape 26"/>
          <p:cNvSpPr/>
          <p:nvPr/>
        </p:nvSpPr>
        <p:spPr>
          <a:xfrm>
            <a:off x="6665976" y="5486400"/>
            <a:ext cx="2359152" cy="548640"/>
          </a:xfrm>
          <a:prstGeom prst="roundRect">
            <a:avLst>
              <a:gd name="adj" fmla="val 13333"/>
            </a:avLst>
          </a:prstGeom>
          <a:solidFill>
            <a:schemeClr val="bg1"/>
          </a:solidFill>
          <a:ln w="12700">
            <a:solidFill>
              <a:schemeClr val="accent6"/>
            </a:solidFill>
            <a:prstDash val="solid"/>
          </a:ln>
        </p:spPr>
      </p:sp>
      <p:sp>
        <p:nvSpPr>
          <p:cNvPr id="29" name="Text 27"/>
          <p:cNvSpPr txBox="1"/>
          <p:nvPr/>
        </p:nvSpPr>
        <p:spPr>
          <a:xfrm>
            <a:off x="6757416" y="5486400"/>
            <a:ext cx="2176272" cy="548640"/>
          </a:xfrm>
          <a:prstGeom prst="rect">
            <a:avLst/>
          </a:prstGeom>
          <a:noFill/>
          <a:ln/>
        </p:spPr>
        <p:txBody>
          <a:bodyPr wrap="square" lIns="0" tIns="0" rIns="0" bIns="0" rtlCol="0" anchor="ctr"/>
          <a:lstStyle/>
          <a:p>
            <a:pPr algn="ctr" indent="0" marL="0">
              <a:buNone/>
            </a:pPr>
            <a:r>
              <a:rPr lang="en-US" sz="1200" dirty="0">
                <a:solidFill>
                  <a:schemeClr val="tx1"/>
                </a:solidFill>
              </a:rPr>
              <a:t>EU vague-claims ban: Sept 2026</a:t>
            </a:r>
            <a:endParaRPr lang="en-US" sz="1200" dirty="0"/>
          </a:p>
        </p:txBody>
      </p:sp>
      <p:sp>
        <p:nvSpPr>
          <p:cNvPr id="30" name="Shape 28"/>
          <p:cNvSpPr/>
          <p:nvPr/>
        </p:nvSpPr>
        <p:spPr>
          <a:xfrm>
            <a:off x="9153144" y="5486400"/>
            <a:ext cx="2359152" cy="548640"/>
          </a:xfrm>
          <a:prstGeom prst="roundRect">
            <a:avLst>
              <a:gd name="adj" fmla="val 13333"/>
            </a:avLst>
          </a:prstGeom>
          <a:solidFill>
            <a:schemeClr val="bg1"/>
          </a:solidFill>
          <a:ln w="12700">
            <a:solidFill>
              <a:schemeClr val="accent6"/>
            </a:solidFill>
            <a:prstDash val="solid"/>
          </a:ln>
        </p:spPr>
      </p:sp>
      <p:sp>
        <p:nvSpPr>
          <p:cNvPr id="31" name="Text 29"/>
          <p:cNvSpPr txBox="1"/>
          <p:nvPr/>
        </p:nvSpPr>
        <p:spPr>
          <a:xfrm>
            <a:off x="9244584" y="5486400"/>
            <a:ext cx="2176272" cy="548640"/>
          </a:xfrm>
          <a:prstGeom prst="rect">
            <a:avLst/>
          </a:prstGeom>
          <a:noFill/>
          <a:ln/>
        </p:spPr>
        <p:txBody>
          <a:bodyPr wrap="square" lIns="0" tIns="0" rIns="0" bIns="0" rtlCol="0" anchor="ctr"/>
          <a:lstStyle/>
          <a:p>
            <a:pPr algn="ctr" indent="0" marL="0">
              <a:buNone/>
            </a:pPr>
            <a:r>
              <a:rPr lang="en-US" sz="1200" dirty="0">
                <a:solidFill>
                  <a:schemeClr val="tx1"/>
                </a:solidFill>
              </a:rPr>
              <a:t>NHS Scope 1–3 plan: Apr 2027</a:t>
            </a:r>
            <a:endParaRPr lang="en-US" sz="1200" dirty="0"/>
          </a:p>
        </p:txBody>
      </p:sp>
      <p:sp>
        <p:nvSpPr>
          <p:cNvPr id="32" name="Text 30"/>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Case Exh. 2; Merit 2025 Sustainability Report; EU Dir. 2024/825; NHS Net Zero Supplier Roadmap</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Neither default fixes the blind spot without breaking something</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286000"/>
                <a:gridCol w="2926080"/>
                <a:gridCol w="2926080"/>
                <a:gridCol w="2926080"/>
              </a:tblGrid>
              <a:tr h="548640">
                <a:tc>
                  <a:txBody>
                    <a:bodyPr/>
                    <a:lstStyle/>
                    <a:p>
                      <a:pPr indent="0" marL="0">
                        <a:buNone/>
                      </a:pPr>
                      <a:endParaRPr lang="en-US" sz="1200" dirty="0">
                        <a:latin typeface="Calibri" charset="0"/>
                        <a:ea typeface="Calibri" charset="0"/>
                        <a:cs typeface="Calibri" charset="0"/>
                      </a:endParaRPr>
                    </a:p>
                  </a:txBody>
                  <a:tcPr marL="91440" marR="91440" marT="54864" marB="54864">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A · Mandate everyone</a:t>
                      </a:r>
                      <a:endParaRPr lang="en-US" sz="16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3"/>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B · Top 78 first</a:t>
                      </a:r>
                      <a:endParaRPr lang="en-US" sz="16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3"/>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Ladder (ours)</a:t>
                      </a:r>
                      <a:endParaRPr lang="en-US" sz="16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Spend coverage</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Fast on paper</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65% fast</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65% in month 1</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Risk coverage</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500" b="1" dirty="0">
                          <a:solidFill>
                            <a:schemeClr val="accent5"/>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Shallow, unverified answers</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5"/>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Mexico/China dark for years</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Critical suppliers in year 1</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Supplier strain</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500" b="1" dirty="0">
                          <a:solidFill>
                            <a:schemeClr val="accent5"/>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High, so suppliers exit</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Matched to need</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r>
              <a:tr h="777240">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HEART fit</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Excellence only</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2"/>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Weak on Health and Responsibility</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  </a:t>
                      </a:r>
                      <a:pPr indent="0" marL="0">
                        <a:buNone/>
                      </a:pPr>
                      <a:r>
                        <a:rPr lang="en-US" sz="1500" dirty="0">
                          <a:solidFill>
                            <a:schemeClr val="tx1"/>
                          </a:solidFill>
                          <a:latin typeface="Calibri" pitchFamily="34" charset="0"/>
                          <a:ea typeface="Calibri" pitchFamily="34" charset="-122"/>
                          <a:cs typeface="Calibri" pitchFamily="34" charset="-120"/>
                        </a:rPr>
                        <a:t>All five values</a:t>
                      </a:r>
                      <a:endParaRPr lang="en-US" sz="15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5440680"/>
            <a:ext cx="5440680" cy="731520"/>
          </a:xfrm>
          <a:prstGeom prst="roundRect">
            <a:avLst>
              <a:gd name="adj" fmla="val 10000"/>
            </a:avLst>
          </a:prstGeom>
          <a:solidFill>
            <a:schemeClr val="bg2"/>
          </a:solidFill>
          <a:ln/>
        </p:spPr>
      </p:sp>
      <p:sp>
        <p:nvSpPr>
          <p:cNvPr id="5" name="Text 2"/>
          <p:cNvSpPr txBox="1"/>
          <p:nvPr/>
        </p:nvSpPr>
        <p:spPr>
          <a:xfrm>
            <a:off x="777240" y="5440680"/>
            <a:ext cx="1005840" cy="731520"/>
          </a:xfrm>
          <a:prstGeom prst="rect">
            <a:avLst/>
          </a:prstGeom>
          <a:noFill/>
          <a:ln/>
        </p:spPr>
        <p:txBody>
          <a:bodyPr wrap="square" lIns="0" tIns="0" rIns="0" bIns="0" rtlCol="0" anchor="ctr"/>
          <a:lstStyle/>
          <a:p>
            <a:pPr indent="0" marL="0">
              <a:buNone/>
            </a:pPr>
            <a:r>
              <a:rPr lang="en-US" sz="2400" b="1" dirty="0">
                <a:solidFill>
                  <a:schemeClr val="accent2"/>
                </a:solidFill>
                <a:latin typeface="+mj-lt" pitchFamily="34" charset="0"/>
                <a:ea typeface="+mj-lt" pitchFamily="34" charset="-122"/>
                <a:cs typeface="+mj-lt" pitchFamily="34" charset="-120"/>
              </a:rPr>
              <a:t>89%</a:t>
            </a:r>
            <a:endParaRPr lang="en-US" sz="2400" dirty="0"/>
          </a:p>
        </p:txBody>
      </p:sp>
      <p:sp>
        <p:nvSpPr>
          <p:cNvPr id="6" name="Text 3"/>
          <p:cNvSpPr txBox="1"/>
          <p:nvPr/>
        </p:nvSpPr>
        <p:spPr>
          <a:xfrm>
            <a:off x="1828800" y="5440680"/>
            <a:ext cx="4023360" cy="731520"/>
          </a:xfrm>
          <a:prstGeom prst="rect">
            <a:avLst/>
          </a:prstGeom>
          <a:noFill/>
          <a:ln/>
        </p:spPr>
        <p:txBody>
          <a:bodyPr wrap="square" lIns="0" tIns="0" rIns="0" bIns="0" rtlCol="0" anchor="ctr"/>
          <a:lstStyle/>
          <a:p>
            <a:pPr indent="0" marL="0">
              <a:buNone/>
            </a:pPr>
            <a:r>
              <a:rPr lang="en-US" sz="1400" dirty="0">
                <a:solidFill>
                  <a:schemeClr val="tx1"/>
                </a:solidFill>
              </a:rPr>
              <a:t>average on unverified yes/no supplier surveys, with 40% perfect scores</a:t>
            </a:r>
            <a:endParaRPr lang="en-US" sz="1400" dirty="0"/>
          </a:p>
        </p:txBody>
      </p:sp>
      <p:sp>
        <p:nvSpPr>
          <p:cNvPr id="7" name="Shape 4"/>
          <p:cNvSpPr/>
          <p:nvPr/>
        </p:nvSpPr>
        <p:spPr>
          <a:xfrm>
            <a:off x="6172200" y="5440680"/>
            <a:ext cx="5440680" cy="731520"/>
          </a:xfrm>
          <a:prstGeom prst="roundRect">
            <a:avLst>
              <a:gd name="adj" fmla="val 10000"/>
            </a:avLst>
          </a:prstGeom>
          <a:solidFill>
            <a:schemeClr val="bg2"/>
          </a:solidFill>
          <a:ln/>
        </p:spPr>
      </p:sp>
      <p:sp>
        <p:nvSpPr>
          <p:cNvPr id="8" name="Text 5"/>
          <p:cNvSpPr txBox="1"/>
          <p:nvPr/>
        </p:nvSpPr>
        <p:spPr>
          <a:xfrm>
            <a:off x="6400800" y="5440680"/>
            <a:ext cx="1005840" cy="731520"/>
          </a:xfrm>
          <a:prstGeom prst="rect">
            <a:avLst/>
          </a:prstGeom>
          <a:noFill/>
          <a:ln/>
        </p:spPr>
        <p:txBody>
          <a:bodyPr wrap="square" lIns="0" tIns="0" rIns="0" bIns="0" rtlCol="0" anchor="ctr"/>
          <a:lstStyle/>
          <a:p>
            <a:pPr indent="0" marL="0">
              <a:buNone/>
            </a:pPr>
            <a:r>
              <a:rPr lang="en-US" sz="2400" b="1" dirty="0">
                <a:solidFill>
                  <a:schemeClr val="accent2"/>
                </a:solidFill>
                <a:latin typeface="+mj-lt" pitchFamily="34" charset="0"/>
                <a:ea typeface="+mj-lt" pitchFamily="34" charset="-122"/>
                <a:cs typeface="+mj-lt" pitchFamily="34" charset="-120"/>
              </a:rPr>
              <a:t>56%</a:t>
            </a:r>
            <a:endParaRPr lang="en-US" sz="2400" dirty="0"/>
          </a:p>
        </p:txBody>
      </p:sp>
      <p:sp>
        <p:nvSpPr>
          <p:cNvPr id="9" name="Text 6"/>
          <p:cNvSpPr txBox="1"/>
          <p:nvPr/>
        </p:nvSpPr>
        <p:spPr>
          <a:xfrm>
            <a:off x="7452360" y="5440680"/>
            <a:ext cx="4023360" cy="731520"/>
          </a:xfrm>
          <a:prstGeom prst="rect">
            <a:avLst/>
          </a:prstGeom>
          <a:noFill/>
          <a:ln/>
        </p:spPr>
        <p:txBody>
          <a:bodyPr wrap="square" lIns="0" tIns="0" rIns="0" bIns="0" rtlCol="0" anchor="ctr"/>
          <a:lstStyle/>
          <a:p>
            <a:pPr indent="0" marL="0">
              <a:buNone/>
            </a:pPr>
            <a:r>
              <a:rPr lang="en-US" sz="1400" dirty="0">
                <a:solidFill>
                  <a:schemeClr val="tx1"/>
                </a:solidFill>
              </a:rPr>
              <a:t>of large Finnish firms dropped suppliers over ESG demands</a:t>
            </a:r>
            <a:endParaRPr lang="en-US" sz="1400" dirty="0"/>
          </a:p>
        </p:txBody>
      </p:sp>
      <p:sp>
        <p:nvSpPr>
          <p:cNvPr id="10" name="Text 7"/>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Case Exh. 5; research/analogues-buyer-programs.md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We sort every supplier with one rule, and each tier gets a different ask</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6"/>
          </a:solidFill>
          <a:ln/>
        </p:spPr>
      </p:sp>
      <p:sp>
        <p:nvSpPr>
          <p:cNvPr id="7" name="Shape 5"/>
          <p:cNvSpPr/>
          <p:nvPr/>
        </p:nvSpPr>
        <p:spPr>
          <a:xfrm>
            <a:off x="11256264" y="682371"/>
            <a:ext cx="301752" cy="54864"/>
          </a:xfrm>
          <a:prstGeom prst="rect">
            <a:avLst/>
          </a:prstGeom>
          <a:solidFill>
            <a:schemeClr val="accent6"/>
          </a:solidFill>
          <a:ln/>
        </p:spPr>
      </p:sp>
      <p:sp>
        <p:nvSpPr>
          <p:cNvPr id="8" name="Shape 6"/>
          <p:cNvSpPr/>
          <p:nvPr/>
        </p:nvSpPr>
        <p:spPr>
          <a:xfrm>
            <a:off x="11256264" y="465201"/>
            <a:ext cx="301752" cy="54864"/>
          </a:xfrm>
          <a:prstGeom prst="rect">
            <a:avLst/>
          </a:prstGeom>
          <a:solidFill>
            <a:schemeClr val="accent6"/>
          </a:solidFill>
          <a:ln/>
        </p:spPr>
      </p:sp>
      <p:sp>
        <p:nvSpPr>
          <p:cNvPr id="9" name="Text 7"/>
          <p:cNvSpPr txBox="1"/>
          <p:nvPr/>
        </p:nvSpPr>
        <p:spPr>
          <a:xfrm>
            <a:off x="548640" y="1463040"/>
            <a:ext cx="5760720" cy="411480"/>
          </a:xfrm>
          <a:prstGeom prst="rect">
            <a:avLst/>
          </a:prstGeom>
          <a:noFill/>
          <a:ln/>
        </p:spPr>
        <p:txBody>
          <a:bodyPr wrap="square" lIns="0" tIns="0" rIns="0" bIns="0" rtlCol="0" anchor="ctr"/>
          <a:lstStyle/>
          <a:p>
            <a:pPr indent="0" marL="0">
              <a:buNone/>
            </a:pPr>
            <a:r>
              <a:rPr lang="en-US" sz="1600" b="1" dirty="0">
                <a:solidFill>
                  <a:schemeClr val="accent1"/>
                </a:solidFill>
              </a:rPr>
              <a:t>Sort:  </a:t>
            </a:r>
            <a:pPr indent="0" marL="0">
              <a:buNone/>
            </a:pPr>
            <a:r>
              <a:rPr lang="en-US" sz="1600" dirty="0">
                <a:solidFill>
                  <a:schemeClr val="tx1"/>
                </a:solidFill>
              </a:rPr>
              <a:t>Switching difficulty × Spend × Country risk × Readiness</a:t>
            </a:r>
            <a:endParaRPr lang="en-US" sz="1600" dirty="0"/>
          </a:p>
        </p:txBody>
      </p:sp>
      <p:sp>
        <p:nvSpPr>
          <p:cNvPr id="10" name="Text 8"/>
          <p:cNvSpPr/>
          <p:nvPr/>
        </p:nvSpPr>
        <p:spPr>
          <a:xfrm>
            <a:off x="1325880" y="2011680"/>
            <a:ext cx="1545336" cy="1271016"/>
          </a:xfrm>
          <a:prstGeom prst="rect">
            <a:avLst/>
          </a:prstGeom>
          <a:solidFill>
            <a:schemeClr val="accent2"/>
          </a:solidFill>
          <a:ln/>
        </p:spPr>
        <p:txBody>
          <a:bodyPr wrap="square" lIns="76200" tIns="76200" rIns="76200" bIns="76200" rtlCol="0" anchor="ctr"/>
          <a:lstStyle/>
          <a:p>
            <a:pPr algn="ctr" indent="0" marL="0">
              <a:buNone/>
            </a:pPr>
            <a:r>
              <a:rPr lang="en-US" sz="1300" b="1" dirty="0">
                <a:solidFill>
                  <a:schemeClr val="bg1"/>
                </a:solidFill>
              </a:rPr>
              <a:t>Critical single-plant makers (MX/CN)</a:t>
            </a:r>
            <a:endParaRPr lang="en-US" sz="1300" dirty="0"/>
          </a:p>
        </p:txBody>
      </p:sp>
      <p:sp>
        <p:nvSpPr>
          <p:cNvPr id="11" name="Text 9"/>
          <p:cNvSpPr/>
          <p:nvPr/>
        </p:nvSpPr>
        <p:spPr>
          <a:xfrm>
            <a:off x="2926080" y="2011680"/>
            <a:ext cx="1545336" cy="1271016"/>
          </a:xfrm>
          <a:prstGeom prst="rect">
            <a:avLst/>
          </a:prstGeom>
          <a:solidFill>
            <a:schemeClr val="accent2"/>
          </a:solidFill>
          <a:ln/>
        </p:spPr>
        <p:txBody>
          <a:bodyPr wrap="square" lIns="76200" tIns="76200" rIns="76200" bIns="76200" rtlCol="0" anchor="ctr"/>
          <a:lstStyle/>
          <a:p>
            <a:pPr algn="ctr" indent="0" marL="0">
              <a:buNone/>
            </a:pPr>
            <a:r>
              <a:rPr lang="en-US" sz="1300" b="1" dirty="0">
                <a:solidFill>
                  <a:schemeClr val="bg1"/>
                </a:solidFill>
              </a:rPr>
              <a:t>Mid-size specialty, partial reporting</a:t>
            </a:r>
            <a:endParaRPr lang="en-US" sz="1300" dirty="0"/>
          </a:p>
        </p:txBody>
      </p:sp>
      <p:sp>
        <p:nvSpPr>
          <p:cNvPr id="12" name="Text 10"/>
          <p:cNvSpPr/>
          <p:nvPr/>
        </p:nvSpPr>
        <p:spPr>
          <a:xfrm>
            <a:off x="4526280" y="2011680"/>
            <a:ext cx="1545336" cy="1271016"/>
          </a:xfrm>
          <a:prstGeom prst="rect">
            <a:avLst/>
          </a:prstGeom>
          <a:solidFill>
            <a:schemeClr val="accent1"/>
          </a:solidFill>
          <a:ln/>
        </p:spPr>
        <p:txBody>
          <a:bodyPr wrap="square" lIns="76200" tIns="76200" rIns="76200" bIns="76200" rtlCol="0" anchor="ctr"/>
          <a:lstStyle/>
          <a:p>
            <a:pPr algn="ctr" indent="0" marL="0">
              <a:buNone/>
            </a:pPr>
            <a:r>
              <a:rPr lang="en-US" sz="1300" b="1" dirty="0">
                <a:solidFill>
                  <a:schemeClr val="bg1"/>
                </a:solidFill>
              </a:rPr>
              <a:t>Anchor partners, already reporting</a:t>
            </a:r>
            <a:endParaRPr lang="en-US" sz="1300" dirty="0"/>
          </a:p>
        </p:txBody>
      </p:sp>
      <p:sp>
        <p:nvSpPr>
          <p:cNvPr id="13" name="Text 11"/>
          <p:cNvSpPr/>
          <p:nvPr/>
        </p:nvSpPr>
        <p:spPr>
          <a:xfrm>
            <a:off x="1325880" y="3337560"/>
            <a:ext cx="1545336" cy="1271016"/>
          </a:xfrm>
          <a:prstGeom prst="rect">
            <a:avLst/>
          </a:prstGeom>
          <a:solidFill>
            <a:schemeClr val="accent3"/>
          </a:solidFill>
          <a:ln/>
        </p:spPr>
        <p:txBody>
          <a:bodyPr wrap="square" lIns="76200" tIns="76200" rIns="76200" bIns="76200" rtlCol="0" anchor="ctr"/>
          <a:lstStyle/>
          <a:p>
            <a:pPr algn="ctr" indent="0" marL="0">
              <a:buNone/>
            </a:pPr>
            <a:r>
              <a:rPr lang="en-US" sz="1300" b="1" dirty="0">
                <a:solidFill>
                  <a:schemeClr val="bg1"/>
                </a:solidFill>
              </a:rPr>
              <a:t>Small commodity inputs</a:t>
            </a:r>
            <a:endParaRPr lang="en-US" sz="1300" dirty="0"/>
          </a:p>
        </p:txBody>
      </p:sp>
      <p:sp>
        <p:nvSpPr>
          <p:cNvPr id="14" name="Text 12"/>
          <p:cNvSpPr/>
          <p:nvPr/>
        </p:nvSpPr>
        <p:spPr>
          <a:xfrm>
            <a:off x="2926080" y="3337560"/>
            <a:ext cx="1545336" cy="1271016"/>
          </a:xfrm>
          <a:prstGeom prst="rect">
            <a:avLst/>
          </a:prstGeom>
          <a:solidFill>
            <a:schemeClr val="accent3"/>
          </a:solidFill>
          <a:ln/>
        </p:spPr>
        <p:txBody>
          <a:bodyPr wrap="square" lIns="76200" tIns="76200" rIns="76200" bIns="76200" rtlCol="0" anchor="ctr"/>
          <a:lstStyle/>
          <a:p>
            <a:pPr algn="ctr" indent="0" marL="0">
              <a:buNone/>
            </a:pPr>
            <a:r>
              <a:rPr lang="en-US" sz="1300" b="1" dirty="0">
                <a:solidFill>
                  <a:schemeClr val="bg1"/>
                </a:solidFill>
              </a:rPr>
              <a:t>Regional distributors, packaging</a:t>
            </a:r>
            <a:endParaRPr lang="en-US" sz="1300" dirty="0"/>
          </a:p>
        </p:txBody>
      </p:sp>
      <p:sp>
        <p:nvSpPr>
          <p:cNvPr id="15" name="Text 13"/>
          <p:cNvSpPr/>
          <p:nvPr/>
        </p:nvSpPr>
        <p:spPr>
          <a:xfrm>
            <a:off x="4526280" y="3337560"/>
            <a:ext cx="1545336" cy="1271016"/>
          </a:xfrm>
          <a:prstGeom prst="rect">
            <a:avLst/>
          </a:prstGeom>
          <a:solidFill>
            <a:schemeClr val="accent3"/>
          </a:solidFill>
          <a:ln/>
        </p:spPr>
        <p:txBody>
          <a:bodyPr wrap="square" lIns="76200" tIns="76200" rIns="76200" bIns="76200" rtlCol="0" anchor="ctr"/>
          <a:lstStyle/>
          <a:p>
            <a:pPr algn="ctr" indent="0" marL="0">
              <a:buNone/>
            </a:pPr>
            <a:r>
              <a:rPr lang="en-US" sz="1300" b="1" dirty="0">
                <a:solidFill>
                  <a:schemeClr val="bg1"/>
                </a:solidFill>
              </a:rPr>
              <a:t>Small, certified via other buyers</a:t>
            </a:r>
            <a:endParaRPr lang="en-US" sz="1300" dirty="0"/>
          </a:p>
        </p:txBody>
      </p:sp>
      <p:sp>
        <p:nvSpPr>
          <p:cNvPr id="16" name="Text 14"/>
          <p:cNvSpPr txBox="1"/>
          <p:nvPr/>
        </p:nvSpPr>
        <p:spPr>
          <a:xfrm>
            <a:off x="548640" y="2011680"/>
            <a:ext cx="731520" cy="1325880"/>
          </a:xfrm>
          <a:prstGeom prst="rect">
            <a:avLst/>
          </a:prstGeom>
          <a:noFill/>
          <a:ln/>
        </p:spPr>
        <p:txBody>
          <a:bodyPr wrap="square" lIns="0" tIns="0" rIns="0" bIns="0" rtlCol="0" anchor="ctr"/>
          <a:lstStyle/>
          <a:p>
            <a:pPr indent="0" marL="0">
              <a:buNone/>
            </a:pPr>
            <a:r>
              <a:rPr lang="en-US" sz="1200" b="1" dirty="0">
                <a:solidFill>
                  <a:schemeClr val="tx2"/>
                </a:solidFill>
              </a:rPr>
              <a:t>High power</a:t>
            </a:r>
            <a:endParaRPr lang="en-US" sz="1200" dirty="0"/>
          </a:p>
        </p:txBody>
      </p:sp>
      <p:sp>
        <p:nvSpPr>
          <p:cNvPr id="17" name="Text 15"/>
          <p:cNvSpPr txBox="1"/>
          <p:nvPr/>
        </p:nvSpPr>
        <p:spPr>
          <a:xfrm>
            <a:off x="548640" y="3337560"/>
            <a:ext cx="731520" cy="1325880"/>
          </a:xfrm>
          <a:prstGeom prst="rect">
            <a:avLst/>
          </a:prstGeom>
          <a:noFill/>
          <a:ln/>
        </p:spPr>
        <p:txBody>
          <a:bodyPr wrap="square" lIns="0" tIns="0" rIns="0" bIns="0" rtlCol="0" anchor="ctr"/>
          <a:lstStyle/>
          <a:p>
            <a:pPr indent="0" marL="0">
              <a:buNone/>
            </a:pPr>
            <a:r>
              <a:rPr lang="en-US" sz="1200" b="1" dirty="0">
                <a:solidFill>
                  <a:schemeClr val="tx2"/>
                </a:solidFill>
              </a:rPr>
              <a:t>Low power</a:t>
            </a:r>
            <a:endParaRPr lang="en-US" sz="1200" dirty="0"/>
          </a:p>
        </p:txBody>
      </p:sp>
      <p:sp>
        <p:nvSpPr>
          <p:cNvPr id="18" name="Text 16"/>
          <p:cNvSpPr txBox="1"/>
          <p:nvPr/>
        </p:nvSpPr>
        <p:spPr>
          <a:xfrm>
            <a:off x="1325880" y="4681728"/>
            <a:ext cx="1545336" cy="320040"/>
          </a:xfrm>
          <a:prstGeom prst="rect">
            <a:avLst/>
          </a:prstGeom>
          <a:noFill/>
          <a:ln/>
        </p:spPr>
        <p:txBody>
          <a:bodyPr wrap="square" lIns="0" tIns="0" rIns="0" bIns="0" rtlCol="0" anchor="t"/>
          <a:lstStyle/>
          <a:p>
            <a:pPr algn="ctr" indent="0" marL="0">
              <a:buNone/>
            </a:pPr>
            <a:r>
              <a:rPr lang="en-US" sz="1200" b="1" dirty="0">
                <a:solidFill>
                  <a:schemeClr val="tx2"/>
                </a:solidFill>
              </a:rPr>
              <a:t>Low readiness</a:t>
            </a:r>
            <a:endParaRPr lang="en-US" sz="1200" dirty="0"/>
          </a:p>
        </p:txBody>
      </p:sp>
      <p:sp>
        <p:nvSpPr>
          <p:cNvPr id="19" name="Text 17"/>
          <p:cNvSpPr txBox="1"/>
          <p:nvPr/>
        </p:nvSpPr>
        <p:spPr>
          <a:xfrm>
            <a:off x="2926080" y="4681728"/>
            <a:ext cx="1545336" cy="320040"/>
          </a:xfrm>
          <a:prstGeom prst="rect">
            <a:avLst/>
          </a:prstGeom>
          <a:noFill/>
          <a:ln/>
        </p:spPr>
        <p:txBody>
          <a:bodyPr wrap="square" lIns="0" tIns="0" rIns="0" bIns="0" rtlCol="0" anchor="t"/>
          <a:lstStyle/>
          <a:p>
            <a:pPr algn="ctr" indent="0" marL="0">
              <a:buNone/>
            </a:pPr>
            <a:r>
              <a:rPr lang="en-US" sz="1200" b="1" dirty="0">
                <a:solidFill>
                  <a:schemeClr val="tx2"/>
                </a:solidFill>
              </a:rPr>
              <a:t>Moderate</a:t>
            </a:r>
            <a:endParaRPr lang="en-US" sz="1200" dirty="0"/>
          </a:p>
        </p:txBody>
      </p:sp>
      <p:sp>
        <p:nvSpPr>
          <p:cNvPr id="20" name="Text 18"/>
          <p:cNvSpPr txBox="1"/>
          <p:nvPr/>
        </p:nvSpPr>
        <p:spPr>
          <a:xfrm>
            <a:off x="4526280" y="4681728"/>
            <a:ext cx="1545336" cy="320040"/>
          </a:xfrm>
          <a:prstGeom prst="rect">
            <a:avLst/>
          </a:prstGeom>
          <a:noFill/>
          <a:ln/>
        </p:spPr>
        <p:txBody>
          <a:bodyPr wrap="square" lIns="0" tIns="0" rIns="0" bIns="0" rtlCol="0" anchor="t"/>
          <a:lstStyle/>
          <a:p>
            <a:pPr algn="ctr" indent="0" marL="0">
              <a:buNone/>
            </a:pPr>
            <a:r>
              <a:rPr lang="en-US" sz="1200" b="1" dirty="0">
                <a:solidFill>
                  <a:schemeClr val="tx2"/>
                </a:solidFill>
              </a:rPr>
              <a:t>High readiness</a:t>
            </a:r>
            <a:endParaRPr lang="en-US" sz="1200" dirty="0"/>
          </a:p>
        </p:txBody>
      </p:sp>
      <p:sp>
        <p:nvSpPr>
          <p:cNvPr id="21" name="Text 19"/>
          <p:cNvSpPr txBox="1"/>
          <p:nvPr/>
        </p:nvSpPr>
        <p:spPr>
          <a:xfrm>
            <a:off x="548640" y="5257800"/>
            <a:ext cx="5760720" cy="731520"/>
          </a:xfrm>
          <a:prstGeom prst="rect">
            <a:avLst/>
          </a:prstGeom>
          <a:noFill/>
          <a:ln/>
        </p:spPr>
        <p:txBody>
          <a:bodyPr wrap="square" lIns="0" tIns="0" rIns="0" bIns="0" rtlCol="0" anchor="t"/>
          <a:lstStyle/>
          <a:p>
            <a:pPr indent="0" marL="0">
              <a:buNone/>
            </a:pPr>
            <a:r>
              <a:rPr lang="en-US" sz="1300" i="1" dirty="0">
                <a:solidFill>
                  <a:schemeClr val="accent3"/>
                </a:solidFill>
              </a:rPr>
              <a:t>Merit's vendor master scores all 1,030 in weeks. The rule is the template: it works for every new supplier too. Tier counts are estimates.</a:t>
            </a:r>
            <a:endParaRPr lang="en-US" sz="1300" dirty="0"/>
          </a:p>
        </p:txBody>
      </p:sp>
      <p:sp>
        <p:nvSpPr>
          <p:cNvPr id="22" name="Shape 20"/>
          <p:cNvSpPr/>
          <p:nvPr/>
        </p:nvSpPr>
        <p:spPr>
          <a:xfrm>
            <a:off x="6583680" y="1508760"/>
            <a:ext cx="5029200" cy="1463040"/>
          </a:xfrm>
          <a:prstGeom prst="roundRect">
            <a:avLst>
              <a:gd name="adj" fmla="val 5000"/>
            </a:avLst>
          </a:prstGeom>
          <a:solidFill>
            <a:schemeClr val="bg2"/>
          </a:solidFill>
          <a:ln/>
        </p:spPr>
      </p:sp>
      <p:sp>
        <p:nvSpPr>
          <p:cNvPr id="23" name="Shape 21"/>
          <p:cNvSpPr/>
          <p:nvPr/>
        </p:nvSpPr>
        <p:spPr>
          <a:xfrm>
            <a:off x="6784848" y="1691640"/>
            <a:ext cx="237744" cy="237744"/>
          </a:xfrm>
          <a:prstGeom prst="ellipse">
            <a:avLst/>
          </a:prstGeom>
          <a:solidFill>
            <a:schemeClr val="accent1"/>
          </a:solidFill>
          <a:ln/>
        </p:spPr>
      </p:sp>
      <p:sp>
        <p:nvSpPr>
          <p:cNvPr id="24" name="Text 22"/>
          <p:cNvSpPr txBox="1"/>
          <p:nvPr/>
        </p:nvSpPr>
        <p:spPr>
          <a:xfrm>
            <a:off x="7132320" y="1627632"/>
            <a:ext cx="4389120" cy="365760"/>
          </a:xfrm>
          <a:prstGeom prst="rect">
            <a:avLst/>
          </a:prstGeom>
          <a:noFill/>
          <a:ln/>
        </p:spPr>
        <p:txBody>
          <a:bodyPr wrap="square" lIns="0" tIns="0" rIns="0" bIns="0" rtlCol="0" anchor="ctr"/>
          <a:lstStyle/>
          <a:p>
            <a:pPr indent="0" marL="0">
              <a:buNone/>
            </a:pPr>
            <a:r>
              <a:rPr lang="en-US" sz="1600" b="1" dirty="0">
                <a:solidFill>
                  <a:schemeClr val="tx2"/>
                </a:solidFill>
              </a:rPr>
              <a:t>Tier 1 · Anchors</a:t>
            </a:r>
            <a:pPr indent="0" marL="0">
              <a:buNone/>
            </a:pPr>
            <a:r>
              <a:rPr lang="en-US" sz="1200" dirty="0">
                <a:solidFill>
                  <a:schemeClr val="accent3"/>
                </a:solidFill>
              </a:rPr>
              <a:t>   ~65 suppliers · ~65% of spend</a:t>
            </a:r>
            <a:endParaRPr lang="en-US" sz="1600" dirty="0"/>
          </a:p>
        </p:txBody>
      </p:sp>
      <p:sp>
        <p:nvSpPr>
          <p:cNvPr id="25" name="Text 23"/>
          <p:cNvSpPr txBox="1"/>
          <p:nvPr/>
        </p:nvSpPr>
        <p:spPr>
          <a:xfrm>
            <a:off x="7132320" y="2039112"/>
            <a:ext cx="4343400" cy="868680"/>
          </a:xfrm>
          <a:prstGeom prst="rect">
            <a:avLst/>
          </a:prstGeom>
          <a:noFill/>
          <a:ln/>
        </p:spPr>
        <p:txBody>
          <a:bodyPr wrap="square" lIns="0" tIns="0" rIns="0" bIns="0" rtlCol="0" anchor="t"/>
          <a:lstStyle/>
          <a:p>
            <a:pPr indent="0" marL="0">
              <a:spcAft>
                <a:spcPts val="300"/>
              </a:spcAft>
              <a:buNone/>
            </a:pPr>
            <a:r>
              <a:rPr lang="en-US" sz="1300" b="1" dirty="0">
                <a:solidFill>
                  <a:schemeClr val="accent1"/>
                </a:solidFill>
              </a:rPr>
              <a:t>We ask: </a:t>
            </a:r>
            <a:pPr indent="0" marL="0">
              <a:spcAft>
                <a:spcPts val="300"/>
              </a:spcAft>
              <a:buNone/>
            </a:pPr>
            <a:r>
              <a:rPr lang="en-US" sz="1300" dirty="0">
                <a:solidFill>
                  <a:schemeClr val="tx1"/>
                </a:solidFill>
              </a:rPr>
              <a:t>Share an existing EcoVadis score (minimum 45)</a:t>
            </a:r>
            <a:endParaRPr lang="en-US" sz="1300" dirty="0"/>
          </a:p>
          <a:p>
            <a:pPr indent="0" marL="0">
              <a:spcAft>
                <a:spcPts val="300"/>
              </a:spcAft>
              <a:buNone/>
            </a:pPr>
            <a:r>
              <a:rPr lang="en-US" sz="1300" b="1" dirty="0">
                <a:solidFill>
                  <a:schemeClr val="accent1"/>
                </a:solidFill>
              </a:rPr>
              <a:t>We do: </a:t>
            </a:r>
            <a:pPr indent="0" marL="0">
              <a:spcAft>
                <a:spcPts val="300"/>
              </a:spcAft>
              <a:buNone/>
            </a:pPr>
            <a:r>
              <a:rPr lang="en-US" sz="1300" dirty="0">
                <a:solidFill>
                  <a:schemeClr val="tx1"/>
                </a:solidFill>
              </a:rPr>
              <a:t>Accept it; no new forms. Done in month 1</a:t>
            </a:r>
            <a:endParaRPr lang="en-US" sz="1300" dirty="0"/>
          </a:p>
        </p:txBody>
      </p:sp>
      <p:sp>
        <p:nvSpPr>
          <p:cNvPr id="26" name="Shape 24"/>
          <p:cNvSpPr/>
          <p:nvPr/>
        </p:nvSpPr>
        <p:spPr>
          <a:xfrm>
            <a:off x="6583680" y="3081528"/>
            <a:ext cx="5029200" cy="1463040"/>
          </a:xfrm>
          <a:prstGeom prst="roundRect">
            <a:avLst>
              <a:gd name="adj" fmla="val 5000"/>
            </a:avLst>
          </a:prstGeom>
          <a:solidFill>
            <a:schemeClr val="bg2"/>
          </a:solidFill>
          <a:ln/>
        </p:spPr>
      </p:sp>
      <p:sp>
        <p:nvSpPr>
          <p:cNvPr id="27" name="Shape 25"/>
          <p:cNvSpPr/>
          <p:nvPr/>
        </p:nvSpPr>
        <p:spPr>
          <a:xfrm>
            <a:off x="6784848" y="3264408"/>
            <a:ext cx="237744" cy="237744"/>
          </a:xfrm>
          <a:prstGeom prst="ellipse">
            <a:avLst/>
          </a:prstGeom>
          <a:solidFill>
            <a:schemeClr val="accent2"/>
          </a:solidFill>
          <a:ln/>
        </p:spPr>
      </p:sp>
      <p:sp>
        <p:nvSpPr>
          <p:cNvPr id="28" name="Text 26"/>
          <p:cNvSpPr txBox="1"/>
          <p:nvPr/>
        </p:nvSpPr>
        <p:spPr>
          <a:xfrm>
            <a:off x="7132320" y="3200400"/>
            <a:ext cx="4389120" cy="365760"/>
          </a:xfrm>
          <a:prstGeom prst="rect">
            <a:avLst/>
          </a:prstGeom>
          <a:noFill/>
          <a:ln/>
        </p:spPr>
        <p:txBody>
          <a:bodyPr wrap="square" lIns="0" tIns="0" rIns="0" bIns="0" rtlCol="0" anchor="ctr"/>
          <a:lstStyle/>
          <a:p>
            <a:pPr indent="0" marL="0">
              <a:buNone/>
            </a:pPr>
            <a:r>
              <a:rPr lang="en-US" sz="1600" b="1" dirty="0">
                <a:solidFill>
                  <a:schemeClr val="tx2"/>
                </a:solidFill>
              </a:rPr>
              <a:t>Tier 2 · Critical &amp; stuck</a:t>
            </a:r>
            <a:pPr indent="0" marL="0">
              <a:buNone/>
            </a:pPr>
            <a:r>
              <a:rPr lang="en-US" sz="1200" dirty="0">
                <a:solidFill>
                  <a:schemeClr val="accent3"/>
                </a:solidFill>
              </a:rPr>
              <a:t>   ~30–50 · Mexico first</a:t>
            </a:r>
            <a:endParaRPr lang="en-US" sz="1600" dirty="0"/>
          </a:p>
        </p:txBody>
      </p:sp>
      <p:sp>
        <p:nvSpPr>
          <p:cNvPr id="29" name="Text 27"/>
          <p:cNvSpPr txBox="1"/>
          <p:nvPr/>
        </p:nvSpPr>
        <p:spPr>
          <a:xfrm>
            <a:off x="7132320" y="3611880"/>
            <a:ext cx="4343400" cy="868680"/>
          </a:xfrm>
          <a:prstGeom prst="rect">
            <a:avLst/>
          </a:prstGeom>
          <a:noFill/>
          <a:ln/>
        </p:spPr>
        <p:txBody>
          <a:bodyPr wrap="square" lIns="0" tIns="0" rIns="0" bIns="0" rtlCol="0" anchor="t"/>
          <a:lstStyle/>
          <a:p>
            <a:pPr indent="0" marL="0">
              <a:spcAft>
                <a:spcPts val="300"/>
              </a:spcAft>
              <a:buNone/>
            </a:pPr>
            <a:r>
              <a:rPr lang="en-US" sz="1300" b="1" dirty="0">
                <a:solidFill>
                  <a:schemeClr val="accent2"/>
                </a:solidFill>
              </a:rPr>
              <a:t>We ask: </a:t>
            </a:r>
            <a:pPr indent="0" marL="0">
              <a:spcAft>
                <a:spcPts val="300"/>
              </a:spcAft>
              <a:buNone/>
            </a:pPr>
            <a:r>
              <a:rPr lang="en-US" sz="1300" dirty="0">
                <a:solidFill>
                  <a:schemeClr val="tx1"/>
                </a:solidFill>
              </a:rPr>
              <a:t>Readiness request → evidence pack → full EcoVadis by year 2</a:t>
            </a:r>
            <a:endParaRPr lang="en-US" sz="1300" dirty="0"/>
          </a:p>
          <a:p>
            <a:pPr indent="0" marL="0">
              <a:spcAft>
                <a:spcPts val="300"/>
              </a:spcAft>
              <a:buNone/>
            </a:pPr>
            <a:r>
              <a:rPr lang="en-US" sz="1300" b="1" dirty="0">
                <a:solidFill>
                  <a:schemeClr val="accent2"/>
                </a:solidFill>
              </a:rPr>
              <a:t>We do: </a:t>
            </a:r>
            <a:pPr indent="0" marL="0">
              <a:spcAft>
                <a:spcPts val="300"/>
              </a:spcAft>
              <a:buNone/>
            </a:pPr>
            <a:r>
              <a:rPr lang="en-US" sz="1300" dirty="0">
                <a:solidFill>
                  <a:schemeClr val="tx1"/>
                </a:solidFill>
              </a:rPr>
              <a:t>Hands-on help: AI assistant + local consultant</a:t>
            </a:r>
            <a:endParaRPr lang="en-US" sz="1300" dirty="0"/>
          </a:p>
        </p:txBody>
      </p:sp>
      <p:sp>
        <p:nvSpPr>
          <p:cNvPr id="30" name="Shape 28"/>
          <p:cNvSpPr/>
          <p:nvPr/>
        </p:nvSpPr>
        <p:spPr>
          <a:xfrm>
            <a:off x="6583680" y="4654296"/>
            <a:ext cx="5029200" cy="1463040"/>
          </a:xfrm>
          <a:prstGeom prst="roundRect">
            <a:avLst>
              <a:gd name="adj" fmla="val 5000"/>
            </a:avLst>
          </a:prstGeom>
          <a:solidFill>
            <a:schemeClr val="bg2"/>
          </a:solidFill>
          <a:ln/>
        </p:spPr>
      </p:sp>
      <p:sp>
        <p:nvSpPr>
          <p:cNvPr id="31" name="Shape 29"/>
          <p:cNvSpPr/>
          <p:nvPr/>
        </p:nvSpPr>
        <p:spPr>
          <a:xfrm>
            <a:off x="6784848" y="4837176"/>
            <a:ext cx="237744" cy="237744"/>
          </a:xfrm>
          <a:prstGeom prst="ellipse">
            <a:avLst/>
          </a:prstGeom>
          <a:solidFill>
            <a:schemeClr val="accent3"/>
          </a:solidFill>
          <a:ln/>
        </p:spPr>
      </p:sp>
      <p:sp>
        <p:nvSpPr>
          <p:cNvPr id="32" name="Text 30"/>
          <p:cNvSpPr txBox="1"/>
          <p:nvPr/>
        </p:nvSpPr>
        <p:spPr>
          <a:xfrm>
            <a:off x="7132320" y="4773168"/>
            <a:ext cx="4389120" cy="365760"/>
          </a:xfrm>
          <a:prstGeom prst="rect">
            <a:avLst/>
          </a:prstGeom>
          <a:noFill/>
          <a:ln/>
        </p:spPr>
        <p:txBody>
          <a:bodyPr wrap="square" lIns="0" tIns="0" rIns="0" bIns="0" rtlCol="0" anchor="ctr"/>
          <a:lstStyle/>
          <a:p>
            <a:pPr indent="0" marL="0">
              <a:buNone/>
            </a:pPr>
            <a:r>
              <a:rPr lang="en-US" sz="1600" b="1" dirty="0">
                <a:solidFill>
                  <a:schemeClr val="tx2"/>
                </a:solidFill>
              </a:rPr>
              <a:t>Tier 3 · Long tail</a:t>
            </a:r>
            <a:pPr indent="0" marL="0">
              <a:buNone/>
            </a:pPr>
            <a:r>
              <a:rPr lang="en-US" sz="1200" dirty="0">
                <a:solidFill>
                  <a:schemeClr val="accent3"/>
                </a:solidFill>
              </a:rPr>
              <a:t>   ~900 · easy to replace</a:t>
            </a:r>
            <a:endParaRPr lang="en-US" sz="1600" dirty="0"/>
          </a:p>
        </p:txBody>
      </p:sp>
      <p:sp>
        <p:nvSpPr>
          <p:cNvPr id="33" name="Text 31"/>
          <p:cNvSpPr txBox="1"/>
          <p:nvPr/>
        </p:nvSpPr>
        <p:spPr>
          <a:xfrm>
            <a:off x="7132320" y="5184648"/>
            <a:ext cx="4343400" cy="868680"/>
          </a:xfrm>
          <a:prstGeom prst="rect">
            <a:avLst/>
          </a:prstGeom>
          <a:noFill/>
          <a:ln/>
        </p:spPr>
        <p:txBody>
          <a:bodyPr wrap="square" lIns="0" tIns="0" rIns="0" bIns="0" rtlCol="0" anchor="t"/>
          <a:lstStyle/>
          <a:p>
            <a:pPr indent="0" marL="0">
              <a:spcAft>
                <a:spcPts val="300"/>
              </a:spcAft>
              <a:buNone/>
            </a:pPr>
            <a:r>
              <a:rPr lang="en-US" sz="1300" b="1" dirty="0">
                <a:solidFill>
                  <a:schemeClr val="accent3"/>
                </a:solidFill>
              </a:rPr>
              <a:t>We ask: </a:t>
            </a:r>
            <a:pPr indent="0" marL="0">
              <a:spcAft>
                <a:spcPts val="300"/>
              </a:spcAft>
              <a:buNone/>
            </a:pPr>
            <a:r>
              <a:rPr lang="en-US" sz="1300" dirty="0">
                <a:solidFill>
                  <a:schemeClr val="tx1"/>
                </a:solidFill>
              </a:rPr>
              <a:t>30-minute EcoVadis Vitals questionnaire only</a:t>
            </a:r>
            <a:endParaRPr lang="en-US" sz="1300" dirty="0"/>
          </a:p>
          <a:p>
            <a:pPr indent="0" marL="0">
              <a:spcAft>
                <a:spcPts val="300"/>
              </a:spcAft>
              <a:buNone/>
            </a:pPr>
            <a:r>
              <a:rPr lang="en-US" sz="1300" b="1" dirty="0">
                <a:solidFill>
                  <a:schemeClr val="accent3"/>
                </a:solidFill>
              </a:rPr>
              <a:t>We do: </a:t>
            </a:r>
            <a:pPr indent="0" marL="0">
              <a:spcAft>
                <a:spcPts val="300"/>
              </a:spcAft>
              <a:buNone/>
            </a:pPr>
            <a:r>
              <a:rPr lang="en-US" sz="1300" dirty="0">
                <a:solidFill>
                  <a:schemeClr val="tx1"/>
                </a:solidFill>
              </a:rPr>
              <a:t>Merit estimates the rest from its own spend data</a:t>
            </a:r>
            <a:endParaRPr lang="en-US" sz="1300" dirty="0"/>
          </a:p>
        </p:txBody>
      </p:sp>
      <p:sp>
        <p:nvSpPr>
          <p:cNvPr id="34" name="Text 32"/>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Case Exh. 2–3; team method (backup B1)</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Our AI assistant gathers the evidence, and the supplier's data never leaves the building</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1"/>
          </a:solidFill>
          <a:ln/>
        </p:spPr>
      </p:sp>
      <p:sp>
        <p:nvSpPr>
          <p:cNvPr id="8" name="Shape 6"/>
          <p:cNvSpPr/>
          <p:nvPr/>
        </p:nvSpPr>
        <p:spPr>
          <a:xfrm>
            <a:off x="11256264" y="465201"/>
            <a:ext cx="301752" cy="54864"/>
          </a:xfrm>
          <a:prstGeom prst="rect">
            <a:avLst/>
          </a:prstGeom>
          <a:solidFill>
            <a:schemeClr val="accent6"/>
          </a:solidFill>
          <a:ln/>
        </p:spPr>
      </p:sp>
      <p:sp>
        <p:nvSpPr>
          <p:cNvPr id="9" name="Shape 7"/>
          <p:cNvSpPr/>
          <p:nvPr/>
        </p:nvSpPr>
        <p:spPr>
          <a:xfrm>
            <a:off x="548640" y="1554480"/>
            <a:ext cx="7452360" cy="3154680"/>
          </a:xfrm>
          <a:prstGeom prst="roundRect">
            <a:avLst>
              <a:gd name="adj" fmla="val 3478"/>
            </a:avLst>
          </a:prstGeom>
          <a:solidFill>
            <a:schemeClr val="bg2"/>
          </a:solidFill>
          <a:ln w="19050">
            <a:solidFill>
              <a:schemeClr val="accent2"/>
            </a:solidFill>
            <a:prstDash val="dash"/>
          </a:ln>
        </p:spPr>
      </p:sp>
      <p:sp>
        <p:nvSpPr>
          <p:cNvPr id="10" name="Text 8"/>
          <p:cNvSpPr txBox="1"/>
          <p:nvPr/>
        </p:nvSpPr>
        <p:spPr>
          <a:xfrm>
            <a:off x="777240" y="1645920"/>
            <a:ext cx="4572000" cy="320040"/>
          </a:xfrm>
          <a:prstGeom prst="rect">
            <a:avLst/>
          </a:prstGeom>
          <a:noFill/>
          <a:ln/>
        </p:spPr>
        <p:txBody>
          <a:bodyPr wrap="square" lIns="0" tIns="0" rIns="0" bIns="0" rtlCol="0" anchor="t"/>
          <a:lstStyle/>
          <a:p>
            <a:pPr indent="0" marL="0">
              <a:buNone/>
            </a:pPr>
            <a:r>
              <a:rPr lang="en-US" sz="1300" b="1" dirty="0">
                <a:solidFill>
                  <a:schemeClr val="accent2"/>
                </a:solidFill>
              </a:rPr>
              <a:t>Stays inside the supplier's plant</a:t>
            </a:r>
            <a:endParaRPr lang="en-US" sz="1300" dirty="0"/>
          </a:p>
        </p:txBody>
      </p:sp>
      <p:sp>
        <p:nvSpPr>
          <p:cNvPr id="11" name="Shape 9"/>
          <p:cNvSpPr/>
          <p:nvPr/>
        </p:nvSpPr>
        <p:spPr>
          <a:xfrm>
            <a:off x="731520" y="2057400"/>
            <a:ext cx="2148840" cy="2468880"/>
          </a:xfrm>
          <a:prstGeom prst="roundRect">
            <a:avLst>
              <a:gd name="adj" fmla="val 3404"/>
            </a:avLst>
          </a:prstGeom>
          <a:solidFill>
            <a:schemeClr val="bg1"/>
          </a:solidFill>
          <a:ln w="12700">
            <a:solidFill>
              <a:schemeClr val="accent6"/>
            </a:solidFill>
            <a:prstDash val="solid"/>
          </a:ln>
        </p:spPr>
      </p:sp>
      <p:sp>
        <p:nvSpPr>
          <p:cNvPr id="12" name="Shape 10"/>
          <p:cNvSpPr/>
          <p:nvPr/>
        </p:nvSpPr>
        <p:spPr>
          <a:xfrm>
            <a:off x="914400" y="2212848"/>
            <a:ext cx="548640" cy="548640"/>
          </a:xfrm>
          <a:prstGeom prst="ellipse">
            <a:avLst/>
          </a:prstGeom>
          <a:solidFill>
            <a:schemeClr val="accent3"/>
          </a:solidFill>
          <a:ln/>
        </p:spPr>
      </p:sp>
      <p:pic>
        <p:nvPicPr>
          <p:cNvPr id="13" name="Image 0" descr="preencoded.png">    </p:cNvPr>
          <p:cNvPicPr>
            <a:picLocks noChangeAspect="1"/>
          </p:cNvPicPr>
          <p:nvPr/>
        </p:nvPicPr>
        <p:blipFill>
          <a:blip r:embed="rId1"/>
          <a:stretch>
            <a:fillRect/>
          </a:stretch>
        </p:blipFill>
        <p:spPr>
          <a:xfrm>
            <a:off x="1035101" y="2333549"/>
            <a:ext cx="307238" cy="307238"/>
          </a:xfrm>
          <a:prstGeom prst="rect">
            <a:avLst/>
          </a:prstGeom>
        </p:spPr>
      </p:pic>
      <p:sp>
        <p:nvSpPr>
          <p:cNvPr id="14" name="Text 11"/>
          <p:cNvSpPr txBox="1"/>
          <p:nvPr/>
        </p:nvSpPr>
        <p:spPr>
          <a:xfrm>
            <a:off x="914400" y="2834640"/>
            <a:ext cx="1828800" cy="411480"/>
          </a:xfrm>
          <a:prstGeom prst="rect">
            <a:avLst/>
          </a:prstGeom>
          <a:noFill/>
          <a:ln/>
        </p:spPr>
        <p:txBody>
          <a:bodyPr wrap="square" lIns="0" tIns="0" rIns="0" bIns="0" rtlCol="0" anchor="t"/>
          <a:lstStyle/>
          <a:p>
            <a:pPr indent="0" marL="0">
              <a:buNone/>
            </a:pPr>
            <a:r>
              <a:rPr lang="en-US" sz="1500" b="1" dirty="0">
                <a:solidFill>
                  <a:schemeClr val="tx2"/>
                </a:solidFill>
              </a:rPr>
              <a:t>Their own records</a:t>
            </a:r>
            <a:endParaRPr lang="en-US" sz="1500" dirty="0"/>
          </a:p>
        </p:txBody>
      </p:sp>
      <p:sp>
        <p:nvSpPr>
          <p:cNvPr id="15" name="Text 12"/>
          <p:cNvSpPr txBox="1"/>
          <p:nvPr/>
        </p:nvSpPr>
        <p:spPr>
          <a:xfrm>
            <a:off x="914400" y="3246120"/>
            <a:ext cx="1828800" cy="1234440"/>
          </a:xfrm>
          <a:prstGeom prst="rect">
            <a:avLst/>
          </a:prstGeom>
          <a:noFill/>
          <a:ln/>
        </p:spPr>
        <p:txBody>
          <a:bodyPr wrap="square" lIns="0" tIns="0" rIns="0" bIns="0" rtlCol="0" anchor="t"/>
          <a:lstStyle/>
          <a:p>
            <a:pPr marL="342900" indent="-342900">
              <a:buSzPct val="100000"/>
              <a:buChar char="•"/>
            </a:pPr>
            <a:r>
              <a:rPr lang="en-US" sz="1200" dirty="0">
                <a:solidFill>
                  <a:schemeClr val="tx1"/>
                </a:solidFill>
              </a:rPr>
              <a:t>E-invoices (CFDI, e-fapiao)</a:t>
            </a:r>
            <a:endParaRPr lang="en-US" sz="1200" dirty="0"/>
          </a:p>
          <a:p>
            <a:pPr marL="342900" indent="-342900">
              <a:buSzPct val="100000"/>
              <a:buChar char="•"/>
            </a:pPr>
            <a:r>
              <a:rPr lang="en-US" sz="1200" dirty="0">
                <a:solidFill>
                  <a:schemeClr val="tx1"/>
                </a:solidFill>
              </a:rPr>
              <a:t>CONTPAQi or Kingdee books</a:t>
            </a:r>
            <a:endParaRPr lang="en-US" sz="1200" dirty="0"/>
          </a:p>
          <a:p>
            <a:pPr marL="342900" indent="-342900">
              <a:buSzPct val="100000"/>
              <a:buChar char="•"/>
            </a:pPr>
            <a:r>
              <a:rPr lang="en-US" sz="1200" dirty="0">
                <a:solidFill>
                  <a:schemeClr val="tx1"/>
                </a:solidFill>
              </a:rPr>
              <a:t>Utility bills, logs</a:t>
            </a:r>
            <a:endParaRPr lang="en-US" sz="1200" dirty="0"/>
          </a:p>
        </p:txBody>
      </p:sp>
      <p:sp>
        <p:nvSpPr>
          <p:cNvPr id="16" name="Shape 13"/>
          <p:cNvSpPr/>
          <p:nvPr/>
        </p:nvSpPr>
        <p:spPr>
          <a:xfrm>
            <a:off x="2926080" y="3108960"/>
            <a:ext cx="292608" cy="365760"/>
          </a:xfrm>
          <a:prstGeom prst="rightArrow">
            <a:avLst/>
          </a:prstGeom>
          <a:solidFill>
            <a:schemeClr val="accent3"/>
          </a:solidFill>
          <a:ln/>
        </p:spPr>
      </p:sp>
      <p:sp>
        <p:nvSpPr>
          <p:cNvPr id="17" name="Shape 14"/>
          <p:cNvSpPr/>
          <p:nvPr/>
        </p:nvSpPr>
        <p:spPr>
          <a:xfrm>
            <a:off x="3264408" y="2057400"/>
            <a:ext cx="2148840" cy="2468880"/>
          </a:xfrm>
          <a:prstGeom prst="roundRect">
            <a:avLst>
              <a:gd name="adj" fmla="val 3404"/>
            </a:avLst>
          </a:prstGeom>
          <a:solidFill>
            <a:schemeClr val="bg1"/>
          </a:solidFill>
          <a:ln w="12700">
            <a:solidFill>
              <a:schemeClr val="accent6"/>
            </a:solidFill>
            <a:prstDash val="solid"/>
          </a:ln>
        </p:spPr>
      </p:sp>
      <p:sp>
        <p:nvSpPr>
          <p:cNvPr id="18" name="Shape 15"/>
          <p:cNvSpPr/>
          <p:nvPr/>
        </p:nvSpPr>
        <p:spPr>
          <a:xfrm>
            <a:off x="3447288" y="2212848"/>
            <a:ext cx="548640" cy="548640"/>
          </a:xfrm>
          <a:prstGeom prst="ellipse">
            <a:avLst/>
          </a:prstGeom>
          <a:solidFill>
            <a:schemeClr val="accent1"/>
          </a:solidFill>
          <a:ln/>
        </p:spPr>
      </p:sp>
      <p:pic>
        <p:nvPicPr>
          <p:cNvPr id="19" name="Image 1" descr="preencoded.png">    </p:cNvPr>
          <p:cNvPicPr>
            <a:picLocks noChangeAspect="1"/>
          </p:cNvPicPr>
          <p:nvPr/>
        </p:nvPicPr>
        <p:blipFill>
          <a:blip r:embed="rId2"/>
          <a:stretch>
            <a:fillRect/>
          </a:stretch>
        </p:blipFill>
        <p:spPr>
          <a:xfrm>
            <a:off x="3567989" y="2333549"/>
            <a:ext cx="307238" cy="307238"/>
          </a:xfrm>
          <a:prstGeom prst="rect">
            <a:avLst/>
          </a:prstGeom>
        </p:spPr>
      </p:pic>
      <p:sp>
        <p:nvSpPr>
          <p:cNvPr id="20" name="Text 16"/>
          <p:cNvSpPr txBox="1"/>
          <p:nvPr/>
        </p:nvSpPr>
        <p:spPr>
          <a:xfrm>
            <a:off x="3447288" y="2834640"/>
            <a:ext cx="1828800" cy="411480"/>
          </a:xfrm>
          <a:prstGeom prst="rect">
            <a:avLst/>
          </a:prstGeom>
          <a:noFill/>
          <a:ln/>
        </p:spPr>
        <p:txBody>
          <a:bodyPr wrap="square" lIns="0" tIns="0" rIns="0" bIns="0" rtlCol="0" anchor="t"/>
          <a:lstStyle/>
          <a:p>
            <a:pPr indent="0" marL="0">
              <a:buNone/>
            </a:pPr>
            <a:r>
              <a:rPr lang="en-US" sz="1500" b="1" dirty="0">
                <a:solidFill>
                  <a:schemeClr val="tx2"/>
                </a:solidFill>
              </a:rPr>
              <a:t>Local consultant</a:t>
            </a:r>
            <a:endParaRPr lang="en-US" sz="1500" dirty="0"/>
          </a:p>
        </p:txBody>
      </p:sp>
      <p:sp>
        <p:nvSpPr>
          <p:cNvPr id="21" name="Text 17"/>
          <p:cNvSpPr txBox="1"/>
          <p:nvPr/>
        </p:nvSpPr>
        <p:spPr>
          <a:xfrm>
            <a:off x="3447288" y="3246120"/>
            <a:ext cx="1828800" cy="1234440"/>
          </a:xfrm>
          <a:prstGeom prst="rect">
            <a:avLst/>
          </a:prstGeom>
          <a:noFill/>
          <a:ln/>
        </p:spPr>
        <p:txBody>
          <a:bodyPr wrap="square" lIns="0" tIns="0" rIns="0" bIns="0" rtlCol="0" anchor="t"/>
          <a:lstStyle/>
          <a:p>
            <a:pPr indent="0" marL="0">
              <a:buNone/>
            </a:pPr>
            <a:r>
              <a:rPr lang="en-US" sz="1200" dirty="0">
                <a:solidFill>
                  <a:schemeClr val="tx1"/>
                </a:solidFill>
              </a:rPr>
              <a:t>Knows the supplier's software. Runs Merit's AI assistant on-site, on the supplier's machines.</a:t>
            </a:r>
            <a:endParaRPr lang="en-US" sz="1200" dirty="0"/>
          </a:p>
        </p:txBody>
      </p:sp>
      <p:sp>
        <p:nvSpPr>
          <p:cNvPr id="22" name="Shape 18"/>
          <p:cNvSpPr/>
          <p:nvPr/>
        </p:nvSpPr>
        <p:spPr>
          <a:xfrm>
            <a:off x="5458968" y="3108960"/>
            <a:ext cx="292608" cy="365760"/>
          </a:xfrm>
          <a:prstGeom prst="rightArrow">
            <a:avLst/>
          </a:prstGeom>
          <a:solidFill>
            <a:schemeClr val="accent3"/>
          </a:solidFill>
          <a:ln/>
        </p:spPr>
      </p:sp>
      <p:sp>
        <p:nvSpPr>
          <p:cNvPr id="23" name="Shape 19"/>
          <p:cNvSpPr/>
          <p:nvPr/>
        </p:nvSpPr>
        <p:spPr>
          <a:xfrm>
            <a:off x="5797296" y="2057400"/>
            <a:ext cx="2057400" cy="2468880"/>
          </a:xfrm>
          <a:prstGeom prst="roundRect">
            <a:avLst>
              <a:gd name="adj" fmla="val 3556"/>
            </a:avLst>
          </a:prstGeom>
          <a:solidFill>
            <a:schemeClr val="bg1"/>
          </a:solidFill>
          <a:ln w="12700">
            <a:solidFill>
              <a:schemeClr val="accent6"/>
            </a:solidFill>
            <a:prstDash val="solid"/>
          </a:ln>
        </p:spPr>
      </p:sp>
      <p:sp>
        <p:nvSpPr>
          <p:cNvPr id="24" name="Shape 20"/>
          <p:cNvSpPr/>
          <p:nvPr/>
        </p:nvSpPr>
        <p:spPr>
          <a:xfrm>
            <a:off x="5980176" y="2212848"/>
            <a:ext cx="548640" cy="548640"/>
          </a:xfrm>
          <a:prstGeom prst="ellipse">
            <a:avLst/>
          </a:prstGeom>
          <a:solidFill>
            <a:schemeClr val="accent1"/>
          </a:solidFill>
          <a:ln/>
        </p:spPr>
      </p:sp>
      <p:pic>
        <p:nvPicPr>
          <p:cNvPr id="25" name="Image 2" descr="preencoded.png">    </p:cNvPr>
          <p:cNvPicPr>
            <a:picLocks noChangeAspect="1"/>
          </p:cNvPicPr>
          <p:nvPr/>
        </p:nvPicPr>
        <p:blipFill>
          <a:blip r:embed="rId3"/>
          <a:stretch>
            <a:fillRect/>
          </a:stretch>
        </p:blipFill>
        <p:spPr>
          <a:xfrm>
            <a:off x="6100877" y="2333549"/>
            <a:ext cx="307238" cy="307238"/>
          </a:xfrm>
          <a:prstGeom prst="rect">
            <a:avLst/>
          </a:prstGeom>
        </p:spPr>
      </p:pic>
      <p:sp>
        <p:nvSpPr>
          <p:cNvPr id="26" name="Text 21"/>
          <p:cNvSpPr txBox="1"/>
          <p:nvPr/>
        </p:nvSpPr>
        <p:spPr>
          <a:xfrm>
            <a:off x="5980176" y="2834640"/>
            <a:ext cx="1737360" cy="411480"/>
          </a:xfrm>
          <a:prstGeom prst="rect">
            <a:avLst/>
          </a:prstGeom>
          <a:noFill/>
          <a:ln/>
        </p:spPr>
        <p:txBody>
          <a:bodyPr wrap="square" lIns="0" tIns="0" rIns="0" bIns="0" rtlCol="0" anchor="t"/>
          <a:lstStyle/>
          <a:p>
            <a:pPr indent="0" marL="0">
              <a:buNone/>
            </a:pPr>
            <a:r>
              <a:rPr lang="en-US" sz="1500" b="1" dirty="0">
                <a:solidFill>
                  <a:schemeClr val="tx2"/>
                </a:solidFill>
              </a:rPr>
              <a:t>Evidence pack</a:t>
            </a:r>
            <a:endParaRPr lang="en-US" sz="1500" dirty="0"/>
          </a:p>
        </p:txBody>
      </p:sp>
      <p:sp>
        <p:nvSpPr>
          <p:cNvPr id="27" name="Text 22"/>
          <p:cNvSpPr txBox="1"/>
          <p:nvPr/>
        </p:nvSpPr>
        <p:spPr>
          <a:xfrm>
            <a:off x="5980176" y="3246120"/>
            <a:ext cx="1737360" cy="1234440"/>
          </a:xfrm>
          <a:prstGeom prst="rect">
            <a:avLst/>
          </a:prstGeom>
          <a:noFill/>
          <a:ln/>
        </p:spPr>
        <p:txBody>
          <a:bodyPr wrap="square" lIns="0" tIns="0" rIns="0" bIns="0" rtlCol="0" anchor="t"/>
          <a:lstStyle/>
          <a:p>
            <a:pPr indent="0" marL="0">
              <a:buNone/>
            </a:pPr>
            <a:r>
              <a:rPr lang="en-US" sz="1200" dirty="0">
                <a:solidFill>
                  <a:schemeClr val="tx1"/>
                </a:solidFill>
              </a:rPr>
              <a:t>kWh, fuel, policies, gaps, and a source for every figure.</a:t>
            </a:r>
            <a:endParaRPr lang="en-US" sz="1200" dirty="0"/>
          </a:p>
        </p:txBody>
      </p:sp>
      <p:sp>
        <p:nvSpPr>
          <p:cNvPr id="28" name="Shape 23"/>
          <p:cNvSpPr/>
          <p:nvPr/>
        </p:nvSpPr>
        <p:spPr>
          <a:xfrm>
            <a:off x="8065008" y="2926080"/>
            <a:ext cx="365760" cy="411480"/>
          </a:xfrm>
          <a:prstGeom prst="rightArrow">
            <a:avLst/>
          </a:prstGeom>
          <a:solidFill>
            <a:schemeClr val="accent3"/>
          </a:solidFill>
          <a:ln/>
        </p:spPr>
      </p:sp>
      <p:sp>
        <p:nvSpPr>
          <p:cNvPr id="29" name="Shape 24"/>
          <p:cNvSpPr/>
          <p:nvPr/>
        </p:nvSpPr>
        <p:spPr>
          <a:xfrm>
            <a:off x="8503920" y="1554480"/>
            <a:ext cx="3108960" cy="3154680"/>
          </a:xfrm>
          <a:prstGeom prst="roundRect">
            <a:avLst>
              <a:gd name="adj" fmla="val 2353"/>
            </a:avLst>
          </a:prstGeom>
          <a:solidFill>
            <a:schemeClr val="tx2"/>
          </a:solidFill>
          <a:ln/>
        </p:spPr>
      </p:sp>
      <p:sp>
        <p:nvSpPr>
          <p:cNvPr id="30" name="Shape 25"/>
          <p:cNvSpPr/>
          <p:nvPr/>
        </p:nvSpPr>
        <p:spPr>
          <a:xfrm>
            <a:off x="8732520" y="1783080"/>
            <a:ext cx="548640" cy="548640"/>
          </a:xfrm>
          <a:prstGeom prst="ellipse">
            <a:avLst/>
          </a:prstGeom>
          <a:solidFill>
            <a:schemeClr val="accent2"/>
          </a:solidFill>
          <a:ln/>
        </p:spPr>
      </p:sp>
      <p:pic>
        <p:nvPicPr>
          <p:cNvPr id="31" name="Image 3" descr="preencoded.png">    </p:cNvPr>
          <p:cNvPicPr>
            <a:picLocks noChangeAspect="1"/>
          </p:cNvPicPr>
          <p:nvPr/>
        </p:nvPicPr>
        <p:blipFill>
          <a:blip r:embed="rId4"/>
          <a:stretch>
            <a:fillRect/>
          </a:stretch>
        </p:blipFill>
        <p:spPr>
          <a:xfrm>
            <a:off x="8853221" y="1903781"/>
            <a:ext cx="307238" cy="307238"/>
          </a:xfrm>
          <a:prstGeom prst="rect">
            <a:avLst/>
          </a:prstGeom>
        </p:spPr>
      </p:pic>
      <p:sp>
        <p:nvSpPr>
          <p:cNvPr id="32" name="Text 26"/>
          <p:cNvSpPr txBox="1"/>
          <p:nvPr/>
        </p:nvSpPr>
        <p:spPr>
          <a:xfrm>
            <a:off x="8732520" y="2468880"/>
            <a:ext cx="2697480" cy="685800"/>
          </a:xfrm>
          <a:prstGeom prst="rect">
            <a:avLst/>
          </a:prstGeom>
          <a:noFill/>
          <a:ln/>
        </p:spPr>
        <p:txBody>
          <a:bodyPr wrap="square" lIns="0" tIns="0" rIns="0" bIns="0" rtlCol="0" anchor="t"/>
          <a:lstStyle/>
          <a:p>
            <a:pPr indent="0" marL="0">
              <a:buNone/>
            </a:pPr>
            <a:r>
              <a:rPr lang="en-US" sz="1600" b="1" dirty="0">
                <a:solidFill>
                  <a:schemeClr val="bg1"/>
                </a:solidFill>
              </a:rPr>
              <a:t>Supplier approves, then it's shared</a:t>
            </a:r>
            <a:endParaRPr lang="en-US" sz="1600" dirty="0"/>
          </a:p>
        </p:txBody>
      </p:sp>
      <p:sp>
        <p:nvSpPr>
          <p:cNvPr id="33" name="Text 27"/>
          <p:cNvSpPr txBox="1"/>
          <p:nvPr/>
        </p:nvSpPr>
        <p:spPr>
          <a:xfrm>
            <a:off x="8732520" y="3200400"/>
            <a:ext cx="2697480" cy="1280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1"/>
                </a:solidFill>
              </a:rPr>
              <a:t>To EcoVadis for the rating</a:t>
            </a:r>
            <a:endParaRPr lang="en-US" sz="1300" dirty="0"/>
          </a:p>
          <a:p>
            <a:pPr marL="342900" indent="-342900">
              <a:spcAft>
                <a:spcPts val="400"/>
              </a:spcAft>
              <a:buSzPct val="100000"/>
              <a:buChar char="•"/>
            </a:pPr>
            <a:r>
              <a:rPr lang="en-US" sz="1300" dirty="0">
                <a:solidFill>
                  <a:schemeClr val="bg1"/>
                </a:solidFill>
              </a:rPr>
              <a:t>To Merit for Scope 3</a:t>
            </a:r>
            <a:endParaRPr lang="en-US" sz="1300" dirty="0"/>
          </a:p>
          <a:p>
            <a:pPr marL="342900" indent="-342900">
              <a:spcAft>
                <a:spcPts val="400"/>
              </a:spcAft>
              <a:buSzPct val="100000"/>
              <a:buChar char="•"/>
            </a:pPr>
            <a:r>
              <a:rPr lang="en-US" sz="1300" dirty="0">
                <a:solidFill>
                  <a:schemeClr val="bg1"/>
                </a:solidFill>
              </a:rPr>
              <a:t>Raw data stays with the supplier</a:t>
            </a:r>
            <a:endParaRPr lang="en-US" sz="1300" dirty="0"/>
          </a:p>
        </p:txBody>
      </p:sp>
      <p:sp>
        <p:nvSpPr>
          <p:cNvPr id="34" name="Text 28"/>
          <p:cNvSpPr txBox="1"/>
          <p:nvPr/>
        </p:nvSpPr>
        <p:spPr>
          <a:xfrm>
            <a:off x="548640" y="4892040"/>
            <a:ext cx="4114800" cy="365760"/>
          </a:xfrm>
          <a:prstGeom prst="rect">
            <a:avLst/>
          </a:prstGeom>
          <a:noFill/>
          <a:ln/>
        </p:spPr>
        <p:txBody>
          <a:bodyPr wrap="square" lIns="0" tIns="0" rIns="0" bIns="0" rtlCol="0" anchor="ctr"/>
          <a:lstStyle/>
          <a:p>
            <a:pPr indent="0" marL="0">
              <a:buNone/>
            </a:pPr>
            <a:r>
              <a:rPr lang="en-US" sz="1400" b="1" dirty="0">
                <a:solidFill>
                  <a:schemeClr val="accent1"/>
                </a:solidFill>
              </a:rPr>
              <a:t>Each pack moves the supplier up a rung</a:t>
            </a:r>
            <a:endParaRPr lang="en-US" sz="1400" dirty="0"/>
          </a:p>
        </p:txBody>
      </p:sp>
      <p:sp>
        <p:nvSpPr>
          <p:cNvPr id="35" name="Shape 29"/>
          <p:cNvSpPr/>
          <p:nvPr/>
        </p:nvSpPr>
        <p:spPr>
          <a:xfrm>
            <a:off x="548640" y="5303520"/>
            <a:ext cx="2606040" cy="594360"/>
          </a:xfrm>
          <a:prstGeom prst="roundRect">
            <a:avLst>
              <a:gd name="adj" fmla="val 12308"/>
            </a:avLst>
          </a:prstGeom>
          <a:solidFill>
            <a:schemeClr val="bg2"/>
          </a:solidFill>
          <a:ln/>
        </p:spPr>
      </p:sp>
      <p:sp>
        <p:nvSpPr>
          <p:cNvPr id="36" name="Text 30"/>
          <p:cNvSpPr txBox="1"/>
          <p:nvPr/>
        </p:nvSpPr>
        <p:spPr>
          <a:xfrm>
            <a:off x="685800" y="5303520"/>
            <a:ext cx="2377440" cy="594360"/>
          </a:xfrm>
          <a:prstGeom prst="rect">
            <a:avLst/>
          </a:prstGeom>
          <a:noFill/>
          <a:ln/>
        </p:spPr>
        <p:txBody>
          <a:bodyPr wrap="square" lIns="0" tIns="0" rIns="0" bIns="0" rtlCol="0" anchor="ctr"/>
          <a:lstStyle/>
          <a:p>
            <a:pPr indent="0" marL="0">
              <a:buNone/>
            </a:pPr>
            <a:r>
              <a:rPr lang="en-US" sz="1400" b="1" dirty="0">
                <a:solidFill>
                  <a:schemeClr val="tx1"/>
                </a:solidFill>
              </a:rPr>
              <a:t>0 · Estimate</a:t>
            </a:r>
            <a:pPr indent="0" marL="0">
              <a:buNone/>
            </a:pPr>
            <a:r>
              <a:rPr lang="en-US" sz="1200" dirty="0">
                <a:solidFill>
                  <a:schemeClr val="tx1"/>
                </a:solidFill>
              </a:rPr>
              <a:t>  spend-based</a:t>
            </a:r>
            <a:endParaRPr lang="en-US" sz="1400" dirty="0"/>
          </a:p>
        </p:txBody>
      </p:sp>
      <p:sp>
        <p:nvSpPr>
          <p:cNvPr id="37" name="Text 31"/>
          <p:cNvSpPr txBox="1"/>
          <p:nvPr/>
        </p:nvSpPr>
        <p:spPr>
          <a:xfrm>
            <a:off x="3163824" y="5303520"/>
            <a:ext cx="201168" cy="594360"/>
          </a:xfrm>
          <a:prstGeom prst="rect">
            <a:avLst/>
          </a:prstGeom>
          <a:noFill/>
          <a:ln/>
        </p:spPr>
        <p:txBody>
          <a:bodyPr wrap="square" lIns="0" tIns="0" rIns="0" bIns="0" rtlCol="0" anchor="ctr"/>
          <a:lstStyle/>
          <a:p>
            <a:pPr algn="ctr" indent="0" marL="0">
              <a:buNone/>
            </a:pPr>
            <a:r>
              <a:rPr lang="en-US" sz="1400" dirty="0">
                <a:solidFill>
                  <a:schemeClr val="accent3"/>
                </a:solidFill>
              </a:rPr>
              <a:t>→</a:t>
            </a:r>
            <a:endParaRPr lang="en-US" sz="1400" dirty="0"/>
          </a:p>
        </p:txBody>
      </p:sp>
      <p:sp>
        <p:nvSpPr>
          <p:cNvPr id="38" name="Shape 32"/>
          <p:cNvSpPr/>
          <p:nvPr/>
        </p:nvSpPr>
        <p:spPr>
          <a:xfrm>
            <a:off x="3364992" y="5303520"/>
            <a:ext cx="2606040" cy="594360"/>
          </a:xfrm>
          <a:prstGeom prst="roundRect">
            <a:avLst>
              <a:gd name="adj" fmla="val 12308"/>
            </a:avLst>
          </a:prstGeom>
          <a:solidFill>
            <a:schemeClr val="bg2"/>
          </a:solidFill>
          <a:ln/>
        </p:spPr>
      </p:sp>
      <p:sp>
        <p:nvSpPr>
          <p:cNvPr id="39" name="Text 33"/>
          <p:cNvSpPr txBox="1"/>
          <p:nvPr/>
        </p:nvSpPr>
        <p:spPr>
          <a:xfrm>
            <a:off x="3502152" y="5303520"/>
            <a:ext cx="2377440" cy="594360"/>
          </a:xfrm>
          <a:prstGeom prst="rect">
            <a:avLst/>
          </a:prstGeom>
          <a:noFill/>
          <a:ln/>
        </p:spPr>
        <p:txBody>
          <a:bodyPr wrap="square" lIns="0" tIns="0" rIns="0" bIns="0" rtlCol="0" anchor="ctr"/>
          <a:lstStyle/>
          <a:p>
            <a:pPr indent="0" marL="0">
              <a:buNone/>
            </a:pPr>
            <a:r>
              <a:rPr lang="en-US" sz="1400" b="1" dirty="0">
                <a:solidFill>
                  <a:schemeClr val="tx1"/>
                </a:solidFill>
              </a:rPr>
              <a:t>1 · Reported</a:t>
            </a:r>
            <a:pPr indent="0" marL="0">
              <a:buNone/>
            </a:pPr>
            <a:r>
              <a:rPr lang="en-US" sz="1200" dirty="0">
                <a:solidFill>
                  <a:schemeClr val="tx1"/>
                </a:solidFill>
              </a:rPr>
              <a:t>  Vitals + first numbers</a:t>
            </a:r>
            <a:endParaRPr lang="en-US" sz="1400" dirty="0"/>
          </a:p>
        </p:txBody>
      </p:sp>
      <p:sp>
        <p:nvSpPr>
          <p:cNvPr id="40" name="Text 34"/>
          <p:cNvSpPr txBox="1"/>
          <p:nvPr/>
        </p:nvSpPr>
        <p:spPr>
          <a:xfrm>
            <a:off x="5980176" y="5303520"/>
            <a:ext cx="201168" cy="594360"/>
          </a:xfrm>
          <a:prstGeom prst="rect">
            <a:avLst/>
          </a:prstGeom>
          <a:noFill/>
          <a:ln/>
        </p:spPr>
        <p:txBody>
          <a:bodyPr wrap="square" lIns="0" tIns="0" rIns="0" bIns="0" rtlCol="0" anchor="ctr"/>
          <a:lstStyle/>
          <a:p>
            <a:pPr algn="ctr" indent="0" marL="0">
              <a:buNone/>
            </a:pPr>
            <a:r>
              <a:rPr lang="en-US" sz="1400" dirty="0">
                <a:solidFill>
                  <a:schemeClr val="accent3"/>
                </a:solidFill>
              </a:rPr>
              <a:t>→</a:t>
            </a:r>
            <a:endParaRPr lang="en-US" sz="1400" dirty="0"/>
          </a:p>
        </p:txBody>
      </p:sp>
      <p:sp>
        <p:nvSpPr>
          <p:cNvPr id="41" name="Shape 35"/>
          <p:cNvSpPr/>
          <p:nvPr/>
        </p:nvSpPr>
        <p:spPr>
          <a:xfrm>
            <a:off x="6181344" y="5303520"/>
            <a:ext cx="2606040" cy="594360"/>
          </a:xfrm>
          <a:prstGeom prst="roundRect">
            <a:avLst>
              <a:gd name="adj" fmla="val 12308"/>
            </a:avLst>
          </a:prstGeom>
          <a:solidFill>
            <a:schemeClr val="accent1"/>
          </a:solidFill>
          <a:ln/>
        </p:spPr>
      </p:sp>
      <p:sp>
        <p:nvSpPr>
          <p:cNvPr id="42" name="Text 36"/>
          <p:cNvSpPr txBox="1"/>
          <p:nvPr/>
        </p:nvSpPr>
        <p:spPr>
          <a:xfrm>
            <a:off x="6318504" y="5303520"/>
            <a:ext cx="2377440" cy="594360"/>
          </a:xfrm>
          <a:prstGeom prst="rect">
            <a:avLst/>
          </a:prstGeom>
          <a:noFill/>
          <a:ln/>
        </p:spPr>
        <p:txBody>
          <a:bodyPr wrap="square" lIns="0" tIns="0" rIns="0" bIns="0" rtlCol="0" anchor="ctr"/>
          <a:lstStyle/>
          <a:p>
            <a:pPr indent="0" marL="0">
              <a:buNone/>
            </a:pPr>
            <a:r>
              <a:rPr lang="en-US" sz="1400" b="1" dirty="0">
                <a:solidFill>
                  <a:schemeClr val="bg1"/>
                </a:solidFill>
              </a:rPr>
              <a:t>2 · Traceable</a:t>
            </a:r>
            <a:pPr indent="0" marL="0">
              <a:buNone/>
            </a:pPr>
            <a:r>
              <a:rPr lang="en-US" sz="1200" dirty="0">
                <a:solidFill>
                  <a:schemeClr val="bg1"/>
                </a:solidFill>
              </a:rPr>
              <a:t>  Evidence pack approved</a:t>
            </a:r>
            <a:endParaRPr lang="en-US" sz="1400" dirty="0"/>
          </a:p>
        </p:txBody>
      </p:sp>
      <p:sp>
        <p:nvSpPr>
          <p:cNvPr id="43" name="Text 37"/>
          <p:cNvSpPr txBox="1"/>
          <p:nvPr/>
        </p:nvSpPr>
        <p:spPr>
          <a:xfrm>
            <a:off x="8796528" y="5303520"/>
            <a:ext cx="201168" cy="594360"/>
          </a:xfrm>
          <a:prstGeom prst="rect">
            <a:avLst/>
          </a:prstGeom>
          <a:noFill/>
          <a:ln/>
        </p:spPr>
        <p:txBody>
          <a:bodyPr wrap="square" lIns="0" tIns="0" rIns="0" bIns="0" rtlCol="0" anchor="ctr"/>
          <a:lstStyle/>
          <a:p>
            <a:pPr algn="ctr" indent="0" marL="0">
              <a:buNone/>
            </a:pPr>
            <a:r>
              <a:rPr lang="en-US" sz="1400" dirty="0">
                <a:solidFill>
                  <a:schemeClr val="accent3"/>
                </a:solidFill>
              </a:rPr>
              <a:t>→</a:t>
            </a:r>
            <a:endParaRPr lang="en-US" sz="1400" dirty="0"/>
          </a:p>
        </p:txBody>
      </p:sp>
      <p:sp>
        <p:nvSpPr>
          <p:cNvPr id="44" name="Shape 38"/>
          <p:cNvSpPr/>
          <p:nvPr/>
        </p:nvSpPr>
        <p:spPr>
          <a:xfrm>
            <a:off x="8997696" y="5303520"/>
            <a:ext cx="2606040" cy="594360"/>
          </a:xfrm>
          <a:prstGeom prst="roundRect">
            <a:avLst>
              <a:gd name="adj" fmla="val 12308"/>
            </a:avLst>
          </a:prstGeom>
          <a:solidFill>
            <a:schemeClr val="bg2"/>
          </a:solidFill>
          <a:ln/>
        </p:spPr>
      </p:sp>
      <p:sp>
        <p:nvSpPr>
          <p:cNvPr id="45" name="Text 39"/>
          <p:cNvSpPr txBox="1"/>
          <p:nvPr/>
        </p:nvSpPr>
        <p:spPr>
          <a:xfrm>
            <a:off x="9134856" y="5303520"/>
            <a:ext cx="2377440" cy="594360"/>
          </a:xfrm>
          <a:prstGeom prst="rect">
            <a:avLst/>
          </a:prstGeom>
          <a:noFill/>
          <a:ln/>
        </p:spPr>
        <p:txBody>
          <a:bodyPr wrap="square" lIns="0" tIns="0" rIns="0" bIns="0" rtlCol="0" anchor="ctr"/>
          <a:lstStyle/>
          <a:p>
            <a:pPr indent="0" marL="0">
              <a:buNone/>
            </a:pPr>
            <a:r>
              <a:rPr lang="en-US" sz="1400" b="1" dirty="0">
                <a:solidFill>
                  <a:schemeClr val="tx1"/>
                </a:solidFill>
              </a:rPr>
              <a:t>3 · Rated</a:t>
            </a:r>
            <a:pPr indent="0" marL="0">
              <a:buNone/>
            </a:pPr>
            <a:r>
              <a:rPr lang="en-US" sz="1200" dirty="0">
                <a:solidFill>
                  <a:schemeClr val="tx1"/>
                </a:solidFill>
              </a:rPr>
              <a:t>  Full EcoVadis score</a:t>
            </a:r>
            <a:endParaRPr lang="en-US" sz="1400" dirty="0"/>
          </a:p>
        </p:txBody>
      </p:sp>
      <p:sp>
        <p:nvSpPr>
          <p:cNvPr id="46" name="Text 40"/>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00" i="1" dirty="0">
                <a:solidFill>
                  <a:schemeClr val="accent3"/>
                </a:solidFill>
              </a:rPr>
              <a:t>The assistant only finds records that exist. If something was never measured, the gap becomes a plan to start measuring it.</a:t>
            </a:r>
            <a:endParaRPr lang="en-US" sz="1200" dirty="0"/>
          </a:p>
        </p:txBody>
      </p:sp>
      <p:sp>
        <p:nvSpPr>
          <p:cNvPr id="47" name="Text 4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SAT CFDI e-invoicing; EcoVadis evidence rules; design detail in backup B9</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We pilot with 12 Tijuana suppliers in December 2026 and scale only when results hold</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1"/>
          </a:solidFill>
          <a:ln/>
        </p:spPr>
      </p:sp>
      <p:sp>
        <p:nvSpPr>
          <p:cNvPr id="8" name="Shape 6"/>
          <p:cNvSpPr/>
          <p:nvPr/>
        </p:nvSpPr>
        <p:spPr>
          <a:xfrm>
            <a:off x="11256264" y="465201"/>
            <a:ext cx="301752" cy="54864"/>
          </a:xfrm>
          <a:prstGeom prst="rect">
            <a:avLst/>
          </a:prstGeom>
          <a:solidFill>
            <a:schemeClr val="accent6"/>
          </a:solidFill>
          <a:ln/>
        </p:spPr>
      </p:sp>
      <p:sp>
        <p:nvSpPr>
          <p:cNvPr id="9" name="Shape 7"/>
          <p:cNvSpPr/>
          <p:nvPr/>
        </p:nvSpPr>
        <p:spPr>
          <a:xfrm>
            <a:off x="548640" y="1463040"/>
            <a:ext cx="3584448" cy="457200"/>
          </a:xfrm>
          <a:prstGeom prst="roundRect">
            <a:avLst>
              <a:gd name="adj" fmla="val 16000"/>
            </a:avLst>
          </a:prstGeom>
          <a:solidFill>
            <a:schemeClr val="bg2"/>
          </a:solidFill>
          <a:ln/>
        </p:spPr>
      </p:sp>
      <p:sp>
        <p:nvSpPr>
          <p:cNvPr id="10" name="Text 8"/>
          <p:cNvSpPr txBox="1"/>
          <p:nvPr/>
        </p:nvSpPr>
        <p:spPr>
          <a:xfrm>
            <a:off x="685800" y="1463040"/>
            <a:ext cx="3383280" cy="457200"/>
          </a:xfrm>
          <a:prstGeom prst="rect">
            <a:avLst/>
          </a:prstGeom>
          <a:noFill/>
          <a:ln/>
        </p:spPr>
        <p:txBody>
          <a:bodyPr wrap="square" lIns="0" tIns="0" rIns="0" bIns="0" rtlCol="0" anchor="ctr"/>
          <a:lstStyle/>
          <a:p>
            <a:pPr algn="ctr" indent="0" marL="0">
              <a:buNone/>
            </a:pPr>
            <a:r>
              <a:rPr lang="en-US" sz="1400" b="1" dirty="0">
                <a:solidFill>
                  <a:schemeClr val="tx2"/>
                </a:solidFill>
              </a:rPr>
              <a:t>12 sole-source suppliers, picked by the rule</a:t>
            </a:r>
            <a:endParaRPr lang="en-US" sz="1400" dirty="0"/>
          </a:p>
        </p:txBody>
      </p:sp>
      <p:sp>
        <p:nvSpPr>
          <p:cNvPr id="11" name="Shape 9"/>
          <p:cNvSpPr/>
          <p:nvPr/>
        </p:nvSpPr>
        <p:spPr>
          <a:xfrm>
            <a:off x="4279392" y="1463040"/>
            <a:ext cx="3584448" cy="457200"/>
          </a:xfrm>
          <a:prstGeom prst="roundRect">
            <a:avLst>
              <a:gd name="adj" fmla="val 16000"/>
            </a:avLst>
          </a:prstGeom>
          <a:solidFill>
            <a:schemeClr val="bg2"/>
          </a:solidFill>
          <a:ln/>
        </p:spPr>
      </p:sp>
      <p:sp>
        <p:nvSpPr>
          <p:cNvPr id="12" name="Text 10"/>
          <p:cNvSpPr txBox="1"/>
          <p:nvPr/>
        </p:nvSpPr>
        <p:spPr>
          <a:xfrm>
            <a:off x="4416552" y="1463040"/>
            <a:ext cx="3383280" cy="457200"/>
          </a:xfrm>
          <a:prstGeom prst="rect">
            <a:avLst/>
          </a:prstGeom>
          <a:noFill/>
          <a:ln/>
        </p:spPr>
        <p:txBody>
          <a:bodyPr wrap="square" lIns="0" tIns="0" rIns="0" bIns="0" rtlCol="0" anchor="ctr"/>
          <a:lstStyle/>
          <a:p>
            <a:pPr algn="ctr" indent="0" marL="0">
              <a:buNone/>
            </a:pPr>
            <a:r>
              <a:rPr lang="en-US" sz="1400" b="1" dirty="0">
                <a:solidFill>
                  <a:schemeClr val="tx2"/>
                </a:solidFill>
              </a:rPr>
              <a:t>Beside Merit's largest plant (2,000+ staff)</a:t>
            </a:r>
            <a:endParaRPr lang="en-US" sz="1400" dirty="0"/>
          </a:p>
        </p:txBody>
      </p:sp>
      <p:sp>
        <p:nvSpPr>
          <p:cNvPr id="13" name="Shape 11"/>
          <p:cNvSpPr/>
          <p:nvPr/>
        </p:nvSpPr>
        <p:spPr>
          <a:xfrm>
            <a:off x="8010144" y="1463040"/>
            <a:ext cx="3584448" cy="457200"/>
          </a:xfrm>
          <a:prstGeom prst="roundRect">
            <a:avLst>
              <a:gd name="adj" fmla="val 16000"/>
            </a:avLst>
          </a:prstGeom>
          <a:solidFill>
            <a:schemeClr val="bg2"/>
          </a:solidFill>
          <a:ln/>
        </p:spPr>
      </p:sp>
      <p:sp>
        <p:nvSpPr>
          <p:cNvPr id="14" name="Text 12"/>
          <p:cNvSpPr txBox="1"/>
          <p:nvPr/>
        </p:nvSpPr>
        <p:spPr>
          <a:xfrm>
            <a:off x="8147304" y="1463040"/>
            <a:ext cx="3383280" cy="457200"/>
          </a:xfrm>
          <a:prstGeom prst="rect">
            <a:avLst/>
          </a:prstGeom>
          <a:noFill/>
          <a:ln/>
        </p:spPr>
        <p:txBody>
          <a:bodyPr wrap="square" lIns="0" tIns="0" rIns="0" bIns="0" rtlCol="0" anchor="ctr"/>
          <a:lstStyle/>
          <a:p>
            <a:pPr algn="ctr" indent="0" marL="0">
              <a:buNone/>
            </a:pPr>
            <a:r>
              <a:rPr lang="en-US" sz="1400" b="1" dirty="0">
                <a:solidFill>
                  <a:schemeClr val="tx2"/>
                </a:solidFill>
              </a:rPr>
              <a:t>China follows in late 2027</a:t>
            </a:r>
            <a:endParaRPr lang="en-US" sz="1400" dirty="0"/>
          </a:p>
        </p:txBody>
      </p:sp>
      <p:sp>
        <p:nvSpPr>
          <p:cNvPr id="15" name="Shape 13"/>
          <p:cNvSpPr/>
          <p:nvPr/>
        </p:nvSpPr>
        <p:spPr>
          <a:xfrm>
            <a:off x="2514600" y="2103120"/>
            <a:ext cx="2203704" cy="384048"/>
          </a:xfrm>
          <a:prstGeom prst="roundRect">
            <a:avLst>
              <a:gd name="adj" fmla="val 19048"/>
            </a:avLst>
          </a:prstGeom>
          <a:solidFill>
            <a:schemeClr val="tx2"/>
          </a:solidFill>
          <a:ln/>
        </p:spPr>
      </p:sp>
      <p:sp>
        <p:nvSpPr>
          <p:cNvPr id="16" name="Text 14"/>
          <p:cNvSpPr txBox="1"/>
          <p:nvPr/>
        </p:nvSpPr>
        <p:spPr>
          <a:xfrm>
            <a:off x="2514600" y="2103120"/>
            <a:ext cx="2203704" cy="384048"/>
          </a:xfrm>
          <a:prstGeom prst="rect">
            <a:avLst/>
          </a:prstGeom>
          <a:noFill/>
          <a:ln/>
        </p:spPr>
        <p:txBody>
          <a:bodyPr wrap="square" lIns="0" tIns="0" rIns="0" bIns="0" rtlCol="0" anchor="ctr"/>
          <a:lstStyle/>
          <a:p>
            <a:pPr algn="ctr" indent="0" marL="0">
              <a:buNone/>
            </a:pPr>
            <a:r>
              <a:rPr lang="en-US" sz="1400" b="1" dirty="0">
                <a:solidFill>
                  <a:schemeClr val="bg1"/>
                </a:solidFill>
              </a:rPr>
              <a:t>Nov–Dec 2026</a:t>
            </a:r>
            <a:endParaRPr lang="en-US" sz="1400" dirty="0"/>
          </a:p>
        </p:txBody>
      </p:sp>
      <p:sp>
        <p:nvSpPr>
          <p:cNvPr id="17" name="Shape 15"/>
          <p:cNvSpPr/>
          <p:nvPr/>
        </p:nvSpPr>
        <p:spPr>
          <a:xfrm>
            <a:off x="4791456" y="2103120"/>
            <a:ext cx="2203704" cy="384048"/>
          </a:xfrm>
          <a:prstGeom prst="roundRect">
            <a:avLst>
              <a:gd name="adj" fmla="val 19048"/>
            </a:avLst>
          </a:prstGeom>
          <a:solidFill>
            <a:schemeClr val="tx2"/>
          </a:solidFill>
          <a:ln/>
        </p:spPr>
      </p:sp>
      <p:sp>
        <p:nvSpPr>
          <p:cNvPr id="18" name="Text 16"/>
          <p:cNvSpPr txBox="1"/>
          <p:nvPr/>
        </p:nvSpPr>
        <p:spPr>
          <a:xfrm>
            <a:off x="4791456" y="2103120"/>
            <a:ext cx="2203704" cy="384048"/>
          </a:xfrm>
          <a:prstGeom prst="rect">
            <a:avLst/>
          </a:prstGeom>
          <a:noFill/>
          <a:ln/>
        </p:spPr>
        <p:txBody>
          <a:bodyPr wrap="square" lIns="0" tIns="0" rIns="0" bIns="0" rtlCol="0" anchor="ctr"/>
          <a:lstStyle/>
          <a:p>
            <a:pPr algn="ctr" indent="0" marL="0">
              <a:buNone/>
            </a:pPr>
            <a:r>
              <a:rPr lang="en-US" sz="1400" b="1" dirty="0">
                <a:solidFill>
                  <a:schemeClr val="bg1"/>
                </a:solidFill>
              </a:rPr>
              <a:t>H1 2027</a:t>
            </a:r>
            <a:endParaRPr lang="en-US" sz="1400" dirty="0"/>
          </a:p>
        </p:txBody>
      </p:sp>
      <p:sp>
        <p:nvSpPr>
          <p:cNvPr id="19" name="Shape 17"/>
          <p:cNvSpPr/>
          <p:nvPr/>
        </p:nvSpPr>
        <p:spPr>
          <a:xfrm>
            <a:off x="7068312" y="2103120"/>
            <a:ext cx="2203704" cy="384048"/>
          </a:xfrm>
          <a:prstGeom prst="roundRect">
            <a:avLst>
              <a:gd name="adj" fmla="val 19048"/>
            </a:avLst>
          </a:prstGeom>
          <a:solidFill>
            <a:schemeClr val="tx2"/>
          </a:solidFill>
          <a:ln/>
        </p:spPr>
      </p:sp>
      <p:sp>
        <p:nvSpPr>
          <p:cNvPr id="20" name="Text 18"/>
          <p:cNvSpPr txBox="1"/>
          <p:nvPr/>
        </p:nvSpPr>
        <p:spPr>
          <a:xfrm>
            <a:off x="7068312" y="2103120"/>
            <a:ext cx="2203704" cy="384048"/>
          </a:xfrm>
          <a:prstGeom prst="rect">
            <a:avLst/>
          </a:prstGeom>
          <a:noFill/>
          <a:ln/>
        </p:spPr>
        <p:txBody>
          <a:bodyPr wrap="square" lIns="0" tIns="0" rIns="0" bIns="0" rtlCol="0" anchor="ctr"/>
          <a:lstStyle/>
          <a:p>
            <a:pPr algn="ctr" indent="0" marL="0">
              <a:buNone/>
            </a:pPr>
            <a:r>
              <a:rPr lang="en-US" sz="1400" b="1" dirty="0">
                <a:solidFill>
                  <a:schemeClr val="bg1"/>
                </a:solidFill>
              </a:rPr>
              <a:t>H2 2027</a:t>
            </a:r>
            <a:endParaRPr lang="en-US" sz="1400" dirty="0"/>
          </a:p>
        </p:txBody>
      </p:sp>
      <p:sp>
        <p:nvSpPr>
          <p:cNvPr id="21" name="Shape 19"/>
          <p:cNvSpPr/>
          <p:nvPr/>
        </p:nvSpPr>
        <p:spPr>
          <a:xfrm>
            <a:off x="9345168" y="2103120"/>
            <a:ext cx="2203704" cy="384048"/>
          </a:xfrm>
          <a:prstGeom prst="roundRect">
            <a:avLst>
              <a:gd name="adj" fmla="val 19048"/>
            </a:avLst>
          </a:prstGeom>
          <a:solidFill>
            <a:schemeClr val="tx2"/>
          </a:solidFill>
          <a:ln/>
        </p:spPr>
      </p:sp>
      <p:sp>
        <p:nvSpPr>
          <p:cNvPr id="22" name="Text 20"/>
          <p:cNvSpPr txBox="1"/>
          <p:nvPr/>
        </p:nvSpPr>
        <p:spPr>
          <a:xfrm>
            <a:off x="9345168" y="2103120"/>
            <a:ext cx="2203704" cy="384048"/>
          </a:xfrm>
          <a:prstGeom prst="rect">
            <a:avLst/>
          </a:prstGeom>
          <a:noFill/>
          <a:ln/>
        </p:spPr>
        <p:txBody>
          <a:bodyPr wrap="square" lIns="0" tIns="0" rIns="0" bIns="0" rtlCol="0" anchor="ctr"/>
          <a:lstStyle/>
          <a:p>
            <a:pPr algn="ctr" indent="0" marL="0">
              <a:buNone/>
            </a:pPr>
            <a:r>
              <a:rPr lang="en-US" sz="1400" b="1" dirty="0">
                <a:solidFill>
                  <a:schemeClr val="bg1"/>
                </a:solidFill>
              </a:rPr>
              <a:t>2028</a:t>
            </a:r>
            <a:endParaRPr lang="en-US" sz="1400" dirty="0"/>
          </a:p>
        </p:txBody>
      </p:sp>
      <p:sp>
        <p:nvSpPr>
          <p:cNvPr id="23" name="Shape 21"/>
          <p:cNvSpPr/>
          <p:nvPr/>
        </p:nvSpPr>
        <p:spPr>
          <a:xfrm>
            <a:off x="7031736" y="2560320"/>
            <a:ext cx="0" cy="2971800"/>
          </a:xfrm>
          <a:prstGeom prst="line">
            <a:avLst/>
          </a:prstGeom>
          <a:noFill/>
          <a:ln w="25400">
            <a:solidFill>
              <a:schemeClr val="accent2"/>
            </a:solidFill>
            <a:prstDash val="dash"/>
          </a:ln>
        </p:spPr>
      </p:sp>
      <p:sp>
        <p:nvSpPr>
          <p:cNvPr id="24" name="Text 22"/>
          <p:cNvSpPr txBox="1"/>
          <p:nvPr/>
        </p:nvSpPr>
        <p:spPr>
          <a:xfrm>
            <a:off x="548640" y="2606040"/>
            <a:ext cx="1874520" cy="402336"/>
          </a:xfrm>
          <a:prstGeom prst="rect">
            <a:avLst/>
          </a:prstGeom>
          <a:noFill/>
          <a:ln/>
        </p:spPr>
        <p:txBody>
          <a:bodyPr wrap="square" lIns="0" tIns="0" rIns="0" bIns="0" rtlCol="0" anchor="ctr"/>
          <a:lstStyle/>
          <a:p>
            <a:pPr indent="0" marL="0">
              <a:buNone/>
            </a:pPr>
            <a:r>
              <a:rPr lang="en-US" sz="1400" b="1" dirty="0">
                <a:solidFill>
                  <a:schemeClr val="tx2"/>
                </a:solidFill>
              </a:rPr>
              <a:t>Setup</a:t>
            </a:r>
            <a:endParaRPr lang="en-US" sz="1400" dirty="0"/>
          </a:p>
        </p:txBody>
      </p:sp>
      <p:sp>
        <p:nvSpPr>
          <p:cNvPr id="25" name="Shape 23"/>
          <p:cNvSpPr/>
          <p:nvPr/>
        </p:nvSpPr>
        <p:spPr>
          <a:xfrm>
            <a:off x="2514600" y="3054096"/>
            <a:ext cx="9034272" cy="0"/>
          </a:xfrm>
          <a:prstGeom prst="line">
            <a:avLst/>
          </a:prstGeom>
          <a:noFill/>
          <a:ln w="9525">
            <a:solidFill>
              <a:schemeClr val="accent6"/>
            </a:solidFill>
            <a:prstDash val="solid"/>
          </a:ln>
        </p:spPr>
      </p:sp>
      <p:sp>
        <p:nvSpPr>
          <p:cNvPr id="26" name="Text 24"/>
          <p:cNvSpPr/>
          <p:nvPr/>
        </p:nvSpPr>
        <p:spPr>
          <a:xfrm>
            <a:off x="2551176" y="2633472"/>
            <a:ext cx="2130552" cy="365760"/>
          </a:xfrm>
          <a:prstGeom prst="roundRect">
            <a:avLst>
              <a:gd name="adj" fmla="val 15000"/>
            </a:avLst>
          </a:prstGeom>
          <a:solidFill>
            <a:schemeClr val="tx2"/>
          </a:solidFill>
          <a:ln/>
        </p:spPr>
        <p:txBody>
          <a:bodyPr wrap="square" lIns="25400" tIns="25400" rIns="25400" bIns="25400" rtlCol="0" anchor="ctr"/>
          <a:lstStyle/>
          <a:p>
            <a:pPr algn="ctr" indent="0" marL="0">
              <a:buNone/>
            </a:pPr>
            <a:r>
              <a:rPr lang="en-US" sz="1200" b="1" dirty="0">
                <a:solidFill>
                  <a:schemeClr val="bg1"/>
                </a:solidFill>
              </a:rPr>
              <a:t>Approve · sort all 1,030 · hire</a:t>
            </a:r>
            <a:endParaRPr lang="en-US" sz="1200" dirty="0"/>
          </a:p>
        </p:txBody>
      </p:sp>
      <p:sp>
        <p:nvSpPr>
          <p:cNvPr id="27" name="Text 25"/>
          <p:cNvSpPr txBox="1"/>
          <p:nvPr/>
        </p:nvSpPr>
        <p:spPr>
          <a:xfrm>
            <a:off x="548640" y="3090672"/>
            <a:ext cx="1874520" cy="402336"/>
          </a:xfrm>
          <a:prstGeom prst="rect">
            <a:avLst/>
          </a:prstGeom>
          <a:noFill/>
          <a:ln/>
        </p:spPr>
        <p:txBody>
          <a:bodyPr wrap="square" lIns="0" tIns="0" rIns="0" bIns="0" rtlCol="0" anchor="ctr"/>
          <a:lstStyle/>
          <a:p>
            <a:pPr indent="0" marL="0">
              <a:buNone/>
            </a:pPr>
            <a:r>
              <a:rPr lang="en-US" sz="1400" b="1" dirty="0">
                <a:solidFill>
                  <a:schemeClr val="tx2"/>
                </a:solidFill>
              </a:rPr>
              <a:t>AI assistant</a:t>
            </a:r>
            <a:endParaRPr lang="en-US" sz="1400" dirty="0"/>
          </a:p>
        </p:txBody>
      </p:sp>
      <p:sp>
        <p:nvSpPr>
          <p:cNvPr id="28" name="Shape 26"/>
          <p:cNvSpPr/>
          <p:nvPr/>
        </p:nvSpPr>
        <p:spPr>
          <a:xfrm>
            <a:off x="2514600" y="3538728"/>
            <a:ext cx="9034272" cy="0"/>
          </a:xfrm>
          <a:prstGeom prst="line">
            <a:avLst/>
          </a:prstGeom>
          <a:noFill/>
          <a:ln w="9525">
            <a:solidFill>
              <a:schemeClr val="accent6"/>
            </a:solidFill>
            <a:prstDash val="solid"/>
          </a:ln>
        </p:spPr>
      </p:sp>
      <p:sp>
        <p:nvSpPr>
          <p:cNvPr id="29" name="Text 27"/>
          <p:cNvSpPr/>
          <p:nvPr/>
        </p:nvSpPr>
        <p:spPr>
          <a:xfrm>
            <a:off x="2551176" y="3118104"/>
            <a:ext cx="2130552" cy="365760"/>
          </a:xfrm>
          <a:prstGeom prst="roundRect">
            <a:avLst>
              <a:gd name="adj" fmla="val 15000"/>
            </a:avLst>
          </a:prstGeom>
          <a:solidFill>
            <a:schemeClr val="accent4"/>
          </a:solidFill>
          <a:ln/>
        </p:spPr>
        <p:txBody>
          <a:bodyPr wrap="square" lIns="25400" tIns="25400" rIns="25400" bIns="25400" rtlCol="0" anchor="ctr"/>
          <a:lstStyle/>
          <a:p>
            <a:pPr algn="ctr" indent="0" marL="0">
              <a:buNone/>
            </a:pPr>
            <a:r>
              <a:rPr lang="en-US" sz="1200" b="1" dirty="0">
                <a:solidFill>
                  <a:schemeClr val="bg1"/>
                </a:solidFill>
              </a:rPr>
              <a:t>Build + test (2 suppliers)</a:t>
            </a:r>
            <a:endParaRPr lang="en-US" sz="1200" dirty="0"/>
          </a:p>
        </p:txBody>
      </p:sp>
      <p:sp>
        <p:nvSpPr>
          <p:cNvPr id="30" name="Text 28"/>
          <p:cNvSpPr/>
          <p:nvPr/>
        </p:nvSpPr>
        <p:spPr>
          <a:xfrm>
            <a:off x="4828032" y="3118104"/>
            <a:ext cx="6684264" cy="365760"/>
          </a:xfrm>
          <a:prstGeom prst="roundRect">
            <a:avLst>
              <a:gd name="adj" fmla="val 15000"/>
            </a:avLst>
          </a:prstGeom>
          <a:solidFill>
            <a:schemeClr val="accent4"/>
          </a:solidFill>
          <a:ln/>
        </p:spPr>
        <p:txBody>
          <a:bodyPr wrap="square" lIns="25400" tIns="25400" rIns="25400" bIns="25400" rtlCol="0" anchor="ctr"/>
          <a:lstStyle/>
          <a:p>
            <a:pPr algn="ctr" indent="0" marL="0">
              <a:buNone/>
            </a:pPr>
            <a:r>
              <a:rPr lang="en-US" sz="1200" b="1" dirty="0">
                <a:solidFill>
                  <a:schemeClr val="bg1"/>
                </a:solidFill>
              </a:rPr>
              <a:t>Live: Tijuana → China → every new supplier</a:t>
            </a:r>
            <a:endParaRPr lang="en-US" sz="1200" dirty="0"/>
          </a:p>
        </p:txBody>
      </p:sp>
      <p:sp>
        <p:nvSpPr>
          <p:cNvPr id="31" name="Text 29"/>
          <p:cNvSpPr txBox="1"/>
          <p:nvPr/>
        </p:nvSpPr>
        <p:spPr>
          <a:xfrm>
            <a:off x="548640" y="3575304"/>
            <a:ext cx="1874520" cy="402336"/>
          </a:xfrm>
          <a:prstGeom prst="rect">
            <a:avLst/>
          </a:prstGeom>
          <a:noFill/>
          <a:ln/>
        </p:spPr>
        <p:txBody>
          <a:bodyPr wrap="square" lIns="0" tIns="0" rIns="0" bIns="0" rtlCol="0" anchor="ctr"/>
          <a:lstStyle/>
          <a:p>
            <a:pPr indent="0" marL="0">
              <a:buNone/>
            </a:pPr>
            <a:r>
              <a:rPr lang="en-US" sz="1400" b="1" dirty="0">
                <a:solidFill>
                  <a:schemeClr val="tx2"/>
                </a:solidFill>
              </a:rPr>
              <a:t>Tiers 1 &amp; 3</a:t>
            </a:r>
            <a:endParaRPr lang="en-US" sz="1400" dirty="0"/>
          </a:p>
        </p:txBody>
      </p:sp>
      <p:sp>
        <p:nvSpPr>
          <p:cNvPr id="32" name="Shape 30"/>
          <p:cNvSpPr/>
          <p:nvPr/>
        </p:nvSpPr>
        <p:spPr>
          <a:xfrm>
            <a:off x="2514600" y="4023360"/>
            <a:ext cx="9034272" cy="0"/>
          </a:xfrm>
          <a:prstGeom prst="line">
            <a:avLst/>
          </a:prstGeom>
          <a:noFill/>
          <a:ln w="9525">
            <a:solidFill>
              <a:schemeClr val="accent6"/>
            </a:solidFill>
            <a:prstDash val="solid"/>
          </a:ln>
        </p:spPr>
      </p:sp>
      <p:sp>
        <p:nvSpPr>
          <p:cNvPr id="33" name="Text 31"/>
          <p:cNvSpPr/>
          <p:nvPr/>
        </p:nvSpPr>
        <p:spPr>
          <a:xfrm>
            <a:off x="2551176" y="3602736"/>
            <a:ext cx="4407408" cy="365760"/>
          </a:xfrm>
          <a:prstGeom prst="roundRect">
            <a:avLst>
              <a:gd name="adj" fmla="val 15000"/>
            </a:avLst>
          </a:prstGeom>
          <a:solidFill>
            <a:schemeClr val="accent1"/>
          </a:solidFill>
          <a:ln/>
        </p:spPr>
        <p:txBody>
          <a:bodyPr wrap="square" lIns="25400" tIns="25400" rIns="25400" bIns="25400" rtlCol="0" anchor="ctr"/>
          <a:lstStyle/>
          <a:p>
            <a:pPr algn="ctr" indent="0" marL="0">
              <a:buNone/>
            </a:pPr>
            <a:r>
              <a:rPr lang="en-US" sz="1200" b="1" dirty="0">
                <a:solidFill>
                  <a:schemeClr val="bg1"/>
                </a:solidFill>
              </a:rPr>
              <a:t>Anchors share EcoVadis scores (min 45)</a:t>
            </a:r>
            <a:endParaRPr lang="en-US" sz="1200" dirty="0"/>
          </a:p>
        </p:txBody>
      </p:sp>
      <p:sp>
        <p:nvSpPr>
          <p:cNvPr id="34" name="Text 32"/>
          <p:cNvSpPr/>
          <p:nvPr/>
        </p:nvSpPr>
        <p:spPr>
          <a:xfrm>
            <a:off x="9381744" y="3602736"/>
            <a:ext cx="2130552" cy="365760"/>
          </a:xfrm>
          <a:prstGeom prst="roundRect">
            <a:avLst>
              <a:gd name="adj" fmla="val 15000"/>
            </a:avLst>
          </a:prstGeom>
          <a:solidFill>
            <a:schemeClr val="accent3"/>
          </a:solidFill>
          <a:ln/>
        </p:spPr>
        <p:txBody>
          <a:bodyPr wrap="square" lIns="25400" tIns="25400" rIns="25400" bIns="25400" rtlCol="0" anchor="ctr"/>
          <a:lstStyle/>
          <a:p>
            <a:pPr algn="ctr" indent="0" marL="0">
              <a:buNone/>
            </a:pPr>
            <a:r>
              <a:rPr lang="en-US" sz="1200" b="1" dirty="0">
                <a:solidFill>
                  <a:schemeClr val="bg1"/>
                </a:solidFill>
              </a:rPr>
              <a:t>Tier 3 Vitals, all 42 countries</a:t>
            </a:r>
            <a:endParaRPr lang="en-US" sz="1200" dirty="0"/>
          </a:p>
        </p:txBody>
      </p:sp>
      <p:sp>
        <p:nvSpPr>
          <p:cNvPr id="35" name="Text 33"/>
          <p:cNvSpPr txBox="1"/>
          <p:nvPr/>
        </p:nvSpPr>
        <p:spPr>
          <a:xfrm>
            <a:off x="548640" y="4059936"/>
            <a:ext cx="1874520" cy="402336"/>
          </a:xfrm>
          <a:prstGeom prst="rect">
            <a:avLst/>
          </a:prstGeom>
          <a:noFill/>
          <a:ln/>
        </p:spPr>
        <p:txBody>
          <a:bodyPr wrap="square" lIns="0" tIns="0" rIns="0" bIns="0" rtlCol="0" anchor="ctr"/>
          <a:lstStyle/>
          <a:p>
            <a:pPr indent="0" marL="0">
              <a:buNone/>
            </a:pPr>
            <a:r>
              <a:rPr lang="en-US" sz="1400" b="1" dirty="0">
                <a:solidFill>
                  <a:schemeClr val="tx2"/>
                </a:solidFill>
              </a:rPr>
              <a:t>Tier 2 · Tijuana</a:t>
            </a:r>
            <a:endParaRPr lang="en-US" sz="1400" dirty="0"/>
          </a:p>
        </p:txBody>
      </p:sp>
      <p:sp>
        <p:nvSpPr>
          <p:cNvPr id="36" name="Shape 34"/>
          <p:cNvSpPr/>
          <p:nvPr/>
        </p:nvSpPr>
        <p:spPr>
          <a:xfrm>
            <a:off x="2514600" y="4507992"/>
            <a:ext cx="9034272" cy="0"/>
          </a:xfrm>
          <a:prstGeom prst="line">
            <a:avLst/>
          </a:prstGeom>
          <a:noFill/>
          <a:ln w="9525">
            <a:solidFill>
              <a:schemeClr val="accent6"/>
            </a:solidFill>
            <a:prstDash val="solid"/>
          </a:ln>
        </p:spPr>
      </p:sp>
      <p:sp>
        <p:nvSpPr>
          <p:cNvPr id="37" name="Text 35"/>
          <p:cNvSpPr/>
          <p:nvPr/>
        </p:nvSpPr>
        <p:spPr>
          <a:xfrm>
            <a:off x="2551176" y="4087368"/>
            <a:ext cx="2130552" cy="365760"/>
          </a:xfrm>
          <a:prstGeom prst="roundRect">
            <a:avLst>
              <a:gd name="adj" fmla="val 15000"/>
            </a:avLst>
          </a:prstGeom>
          <a:solidFill>
            <a:schemeClr val="accent2"/>
          </a:solidFill>
          <a:ln/>
        </p:spPr>
        <p:txBody>
          <a:bodyPr wrap="square" lIns="25400" tIns="25400" rIns="25400" bIns="25400" rtlCol="0" anchor="ctr"/>
          <a:lstStyle/>
          <a:p>
            <a:pPr algn="ctr" indent="0" marL="0">
              <a:buNone/>
            </a:pPr>
            <a:r>
              <a:rPr lang="en-US" sz="1200" b="1" dirty="0">
                <a:solidFill>
                  <a:schemeClr val="bg1"/>
                </a:solidFill>
              </a:rPr>
              <a:t>Listen + readiness requests</a:t>
            </a:r>
            <a:endParaRPr lang="en-US" sz="1200" dirty="0"/>
          </a:p>
        </p:txBody>
      </p:sp>
      <p:sp>
        <p:nvSpPr>
          <p:cNvPr id="38" name="Text 36"/>
          <p:cNvSpPr/>
          <p:nvPr/>
        </p:nvSpPr>
        <p:spPr>
          <a:xfrm>
            <a:off x="4828032" y="4087368"/>
            <a:ext cx="2130552" cy="365760"/>
          </a:xfrm>
          <a:prstGeom prst="roundRect">
            <a:avLst>
              <a:gd name="adj" fmla="val 15000"/>
            </a:avLst>
          </a:prstGeom>
          <a:solidFill>
            <a:schemeClr val="accent2"/>
          </a:solidFill>
          <a:ln/>
        </p:spPr>
        <p:txBody>
          <a:bodyPr wrap="square" lIns="25400" tIns="25400" rIns="25400" bIns="25400" rtlCol="0" anchor="ctr"/>
          <a:lstStyle/>
          <a:p>
            <a:pPr algn="ctr" indent="0" marL="0">
              <a:buNone/>
            </a:pPr>
            <a:r>
              <a:rPr lang="en-US" sz="1200" b="1" dirty="0">
                <a:solidFill>
                  <a:schemeClr val="bg1"/>
                </a:solidFill>
              </a:rPr>
              <a:t>First evidence packs</a:t>
            </a:r>
            <a:endParaRPr lang="en-US" sz="1200" dirty="0"/>
          </a:p>
        </p:txBody>
      </p:sp>
      <p:sp>
        <p:nvSpPr>
          <p:cNvPr id="39" name="Text 37"/>
          <p:cNvSpPr/>
          <p:nvPr/>
        </p:nvSpPr>
        <p:spPr>
          <a:xfrm>
            <a:off x="7104888" y="4087368"/>
            <a:ext cx="2130552" cy="365760"/>
          </a:xfrm>
          <a:prstGeom prst="roundRect">
            <a:avLst>
              <a:gd name="adj" fmla="val 15000"/>
            </a:avLst>
          </a:prstGeom>
          <a:solidFill>
            <a:schemeClr val="accent2"/>
          </a:solidFill>
          <a:ln/>
        </p:spPr>
        <p:txBody>
          <a:bodyPr wrap="square" lIns="25400" tIns="25400" rIns="25400" bIns="25400" rtlCol="0" anchor="ctr"/>
          <a:lstStyle/>
          <a:p>
            <a:pPr algn="ctr" indent="0" marL="0">
              <a:buNone/>
            </a:pPr>
            <a:r>
              <a:rPr lang="en-US" sz="1200" b="1" dirty="0">
                <a:solidFill>
                  <a:schemeClr val="bg1"/>
                </a:solidFill>
              </a:rPr>
              <a:t>Expand if gate passes</a:t>
            </a:r>
            <a:endParaRPr lang="en-US" sz="1200" dirty="0"/>
          </a:p>
        </p:txBody>
      </p:sp>
      <p:sp>
        <p:nvSpPr>
          <p:cNvPr id="40" name="Text 38"/>
          <p:cNvSpPr/>
          <p:nvPr/>
        </p:nvSpPr>
        <p:spPr>
          <a:xfrm>
            <a:off x="9381744" y="4087368"/>
            <a:ext cx="2130552" cy="365760"/>
          </a:xfrm>
          <a:prstGeom prst="roundRect">
            <a:avLst>
              <a:gd name="adj" fmla="val 15000"/>
            </a:avLst>
          </a:prstGeom>
          <a:solidFill>
            <a:schemeClr val="accent2"/>
          </a:solidFill>
          <a:ln/>
        </p:spPr>
        <p:txBody>
          <a:bodyPr wrap="square" lIns="25400" tIns="25400" rIns="25400" bIns="25400" rtlCol="0" anchor="ctr"/>
          <a:lstStyle/>
          <a:p>
            <a:pPr algn="ctr" indent="0" marL="0">
              <a:buNone/>
            </a:pPr>
            <a:r>
              <a:rPr lang="en-US" sz="1200" b="1" dirty="0">
                <a:solidFill>
                  <a:schemeClr val="bg1"/>
                </a:solidFill>
              </a:rPr>
              <a:t>Full EcoVadis</a:t>
            </a:r>
            <a:endParaRPr lang="en-US" sz="1200" dirty="0"/>
          </a:p>
        </p:txBody>
      </p:sp>
      <p:sp>
        <p:nvSpPr>
          <p:cNvPr id="41" name="Text 39"/>
          <p:cNvSpPr txBox="1"/>
          <p:nvPr/>
        </p:nvSpPr>
        <p:spPr>
          <a:xfrm>
            <a:off x="548640" y="4544568"/>
            <a:ext cx="1874520" cy="402336"/>
          </a:xfrm>
          <a:prstGeom prst="rect">
            <a:avLst/>
          </a:prstGeom>
          <a:noFill/>
          <a:ln/>
        </p:spPr>
        <p:txBody>
          <a:bodyPr wrap="square" lIns="0" tIns="0" rIns="0" bIns="0" rtlCol="0" anchor="ctr"/>
          <a:lstStyle/>
          <a:p>
            <a:pPr indent="0" marL="0">
              <a:buNone/>
            </a:pPr>
            <a:r>
              <a:rPr lang="en-US" sz="1400" b="1" dirty="0">
                <a:solidFill>
                  <a:schemeClr val="tx2"/>
                </a:solidFill>
              </a:rPr>
              <a:t>China</a:t>
            </a:r>
            <a:endParaRPr lang="en-US" sz="1400" dirty="0"/>
          </a:p>
        </p:txBody>
      </p:sp>
      <p:sp>
        <p:nvSpPr>
          <p:cNvPr id="42" name="Shape 40"/>
          <p:cNvSpPr/>
          <p:nvPr/>
        </p:nvSpPr>
        <p:spPr>
          <a:xfrm>
            <a:off x="2514600" y="4992624"/>
            <a:ext cx="9034272" cy="0"/>
          </a:xfrm>
          <a:prstGeom prst="line">
            <a:avLst/>
          </a:prstGeom>
          <a:noFill/>
          <a:ln w="9525">
            <a:solidFill>
              <a:schemeClr val="accent6"/>
            </a:solidFill>
            <a:prstDash val="solid"/>
          </a:ln>
        </p:spPr>
      </p:sp>
      <p:sp>
        <p:nvSpPr>
          <p:cNvPr id="43" name="Text 41"/>
          <p:cNvSpPr/>
          <p:nvPr/>
        </p:nvSpPr>
        <p:spPr>
          <a:xfrm>
            <a:off x="7104888" y="4572000"/>
            <a:ext cx="4407408" cy="365760"/>
          </a:xfrm>
          <a:prstGeom prst="roundRect">
            <a:avLst>
              <a:gd name="adj" fmla="val 15000"/>
            </a:avLst>
          </a:prstGeom>
          <a:solidFill>
            <a:schemeClr val="accent3"/>
          </a:solidFill>
          <a:ln/>
        </p:spPr>
        <p:txBody>
          <a:bodyPr wrap="square" lIns="25400" tIns="25400" rIns="25400" bIns="25400" rtlCol="0" anchor="ctr"/>
          <a:lstStyle/>
          <a:p>
            <a:pPr algn="ctr" indent="0" marL="0">
              <a:buNone/>
            </a:pPr>
            <a:r>
              <a:rPr lang="en-US" sz="1200" b="1" dirty="0">
                <a:solidFill>
                  <a:schemeClr val="bg1"/>
                </a:solidFill>
              </a:rPr>
              <a:t>IPE screen → assistant + EcoVadis</a:t>
            </a:r>
            <a:endParaRPr lang="en-US" sz="1200" dirty="0"/>
          </a:p>
        </p:txBody>
      </p:sp>
      <p:sp>
        <p:nvSpPr>
          <p:cNvPr id="44" name="Text 42"/>
          <p:cNvSpPr txBox="1"/>
          <p:nvPr/>
        </p:nvSpPr>
        <p:spPr>
          <a:xfrm>
            <a:off x="548640" y="5029200"/>
            <a:ext cx="1874520" cy="402336"/>
          </a:xfrm>
          <a:prstGeom prst="rect">
            <a:avLst/>
          </a:prstGeom>
          <a:noFill/>
          <a:ln/>
        </p:spPr>
        <p:txBody>
          <a:bodyPr wrap="square" lIns="0" tIns="0" rIns="0" bIns="0" rtlCol="0" anchor="ctr"/>
          <a:lstStyle/>
          <a:p>
            <a:pPr indent="0" marL="0">
              <a:buNone/>
            </a:pPr>
            <a:r>
              <a:rPr lang="en-US" sz="1400" b="1" dirty="0">
                <a:solidFill>
                  <a:schemeClr val="tx2"/>
                </a:solidFill>
              </a:rPr>
              <a:t>Public reporting</a:t>
            </a:r>
            <a:endParaRPr lang="en-US" sz="1400" dirty="0"/>
          </a:p>
        </p:txBody>
      </p:sp>
      <p:sp>
        <p:nvSpPr>
          <p:cNvPr id="45" name="Shape 43"/>
          <p:cNvSpPr/>
          <p:nvPr/>
        </p:nvSpPr>
        <p:spPr>
          <a:xfrm>
            <a:off x="2514600" y="5477256"/>
            <a:ext cx="9034272" cy="0"/>
          </a:xfrm>
          <a:prstGeom prst="line">
            <a:avLst/>
          </a:prstGeom>
          <a:noFill/>
          <a:ln w="9525">
            <a:solidFill>
              <a:schemeClr val="accent6"/>
            </a:solidFill>
            <a:prstDash val="solid"/>
          </a:ln>
        </p:spPr>
      </p:sp>
      <p:sp>
        <p:nvSpPr>
          <p:cNvPr id="46" name="Text 44"/>
          <p:cNvSpPr/>
          <p:nvPr/>
        </p:nvSpPr>
        <p:spPr>
          <a:xfrm>
            <a:off x="7104888" y="5056632"/>
            <a:ext cx="2130552" cy="365760"/>
          </a:xfrm>
          <a:prstGeom prst="roundRect">
            <a:avLst>
              <a:gd name="adj" fmla="val 15000"/>
            </a:avLst>
          </a:prstGeom>
          <a:solidFill>
            <a:schemeClr val="tx2"/>
          </a:solidFill>
          <a:ln/>
        </p:spPr>
        <p:txBody>
          <a:bodyPr wrap="square" lIns="25400" tIns="25400" rIns="25400" bIns="25400" rtlCol="0" anchor="ctr"/>
          <a:lstStyle/>
          <a:p>
            <a:pPr algn="ctr" indent="0" marL="0">
              <a:buNone/>
            </a:pPr>
            <a:r>
              <a:rPr lang="en-US" sz="1200" b="1" dirty="0">
                <a:solidFill>
                  <a:schemeClr val="bg1"/>
                </a:solidFill>
              </a:rPr>
              <a:t>First coverage numbers</a:t>
            </a:r>
            <a:endParaRPr lang="en-US" sz="1200" dirty="0"/>
          </a:p>
        </p:txBody>
      </p:sp>
      <p:sp>
        <p:nvSpPr>
          <p:cNvPr id="47" name="Text 45"/>
          <p:cNvSpPr/>
          <p:nvPr/>
        </p:nvSpPr>
        <p:spPr>
          <a:xfrm>
            <a:off x="9381744" y="5056632"/>
            <a:ext cx="2130552" cy="365760"/>
          </a:xfrm>
          <a:prstGeom prst="roundRect">
            <a:avLst>
              <a:gd name="adj" fmla="val 15000"/>
            </a:avLst>
          </a:prstGeom>
          <a:solidFill>
            <a:schemeClr val="tx2"/>
          </a:solidFill>
          <a:ln/>
        </p:spPr>
        <p:txBody>
          <a:bodyPr wrap="square" lIns="25400" tIns="25400" rIns="25400" bIns="25400" rtlCol="0" anchor="ctr"/>
          <a:lstStyle/>
          <a:p>
            <a:pPr algn="ctr" indent="0" marL="0">
              <a:buNone/>
            </a:pPr>
            <a:r>
              <a:rPr lang="en-US" sz="1200" b="1" dirty="0">
                <a:solidFill>
                  <a:schemeClr val="bg1"/>
                </a:solidFill>
              </a:rPr>
              <a:t>Annual update</a:t>
            </a:r>
            <a:endParaRPr lang="en-US" sz="1200" dirty="0"/>
          </a:p>
        </p:txBody>
      </p:sp>
      <p:sp>
        <p:nvSpPr>
          <p:cNvPr id="48" name="Shape 46"/>
          <p:cNvSpPr/>
          <p:nvPr/>
        </p:nvSpPr>
        <p:spPr>
          <a:xfrm>
            <a:off x="6876288" y="5532120"/>
            <a:ext cx="310896" cy="310896"/>
          </a:xfrm>
          <a:prstGeom prst="diamond">
            <a:avLst/>
          </a:prstGeom>
          <a:solidFill>
            <a:schemeClr val="accent2"/>
          </a:solidFill>
          <a:ln/>
        </p:spPr>
      </p:sp>
      <p:sp>
        <p:nvSpPr>
          <p:cNvPr id="49" name="Text 47"/>
          <p:cNvSpPr txBox="1"/>
          <p:nvPr/>
        </p:nvSpPr>
        <p:spPr>
          <a:xfrm>
            <a:off x="7306056" y="5504688"/>
            <a:ext cx="4572000" cy="365760"/>
          </a:xfrm>
          <a:prstGeom prst="rect">
            <a:avLst/>
          </a:prstGeom>
          <a:noFill/>
          <a:ln/>
        </p:spPr>
        <p:txBody>
          <a:bodyPr wrap="square" lIns="0" tIns="0" rIns="0" bIns="0" rtlCol="0" anchor="ctr"/>
          <a:lstStyle/>
          <a:p>
            <a:pPr indent="0" marL="0">
              <a:buNone/>
            </a:pPr>
            <a:r>
              <a:rPr lang="en-US" sz="1300" b="1" dirty="0">
                <a:solidFill>
                  <a:schemeClr val="accent2"/>
                </a:solidFill>
              </a:rPr>
              <a:t>Gate: </a:t>
            </a:r>
            <a:pPr indent="0" marL="0">
              <a:buNone/>
            </a:pPr>
            <a:r>
              <a:rPr lang="en-US" sz="1300" dirty="0">
                <a:solidFill>
                  <a:schemeClr val="tx1"/>
                </a:solidFill>
              </a:rPr>
              <a:t>expand only if cost per pack and retention hit target</a:t>
            </a:r>
            <a:endParaRPr lang="en-US" sz="1300" dirty="0"/>
          </a:p>
        </p:txBody>
      </p:sp>
      <p:sp>
        <p:nvSpPr>
          <p:cNvPr id="50" name="Text 48"/>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300" b="1" dirty="0">
                <a:solidFill>
                  <a:schemeClr val="accent1"/>
                </a:solidFill>
              </a:rPr>
              <a:t>Owners  </a:t>
            </a:r>
            <a:pPr indent="0" marL="0">
              <a:buNone/>
            </a:pPr>
            <a:r>
              <a:rPr lang="en-US" sz="1300" dirty="0">
                <a:solidFill>
                  <a:schemeClr val="tx1"/>
                </a:solidFill>
              </a:rPr>
              <a:t>VP ESG (sponsor) · Procurement · Sustainability data · IT (assistant) · Finance · Comms</a:t>
            </a:r>
            <a:endParaRPr lang="en-US" sz="1300" dirty="0"/>
          </a:p>
        </p:txBody>
      </p:sp>
      <p:sp>
        <p:nvSpPr>
          <p:cNvPr id="51" name="Text 49"/>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Merit 2025 Sustainability Report p.23; team plan (pilot detail in backup B4)</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Is it feasible? About $0.8M in year one, and it pays back by catching one failure every four years</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1"/>
          </a:solidFill>
          <a:ln/>
        </p:spPr>
      </p:sp>
      <p:sp>
        <p:nvSpPr>
          <p:cNvPr id="8" name="Shape 6"/>
          <p:cNvSpPr/>
          <p:nvPr/>
        </p:nvSpPr>
        <p:spPr>
          <a:xfrm>
            <a:off x="11256264" y="465201"/>
            <a:ext cx="301752" cy="54864"/>
          </a:xfrm>
          <a:prstGeom prst="rect">
            <a:avLst/>
          </a:prstGeom>
          <a:solidFill>
            <a:schemeClr val="accent6"/>
          </a:solidFill>
          <a:ln/>
        </p:spPr>
      </p:sp>
      <p:sp>
        <p:nvSpPr>
          <p:cNvPr id="9" name="Shape 7"/>
          <p:cNvSpPr/>
          <p:nvPr/>
        </p:nvSpPr>
        <p:spPr>
          <a:xfrm>
            <a:off x="548640" y="1554480"/>
            <a:ext cx="3566160" cy="2240280"/>
          </a:xfrm>
          <a:prstGeom prst="roundRect">
            <a:avLst>
              <a:gd name="adj" fmla="val 3265"/>
            </a:avLst>
          </a:prstGeom>
          <a:solidFill>
            <a:schemeClr val="bg2"/>
          </a:solidFill>
          <a:ln/>
        </p:spPr>
      </p:sp>
      <p:sp>
        <p:nvSpPr>
          <p:cNvPr id="10" name="Text 8"/>
          <p:cNvSpPr txBox="1"/>
          <p:nvPr/>
        </p:nvSpPr>
        <p:spPr>
          <a:xfrm>
            <a:off x="822960" y="1691640"/>
            <a:ext cx="3017520" cy="91440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$0.8M</a:t>
            </a:r>
            <a:endParaRPr lang="en-US" sz="4400" dirty="0"/>
          </a:p>
        </p:txBody>
      </p:sp>
      <p:sp>
        <p:nvSpPr>
          <p:cNvPr id="11" name="Text 9"/>
          <p:cNvSpPr txBox="1"/>
          <p:nvPr/>
        </p:nvSpPr>
        <p:spPr>
          <a:xfrm>
            <a:off x="822960" y="2651760"/>
            <a:ext cx="3017520" cy="1051560"/>
          </a:xfrm>
          <a:prstGeom prst="rect">
            <a:avLst/>
          </a:prstGeom>
          <a:noFill/>
          <a:ln/>
        </p:spPr>
        <p:txBody>
          <a:bodyPr wrap="square" lIns="0" tIns="0" rIns="0" bIns="0" rtlCol="0" anchor="t"/>
          <a:lstStyle/>
          <a:p>
            <a:pPr indent="0" marL="0">
              <a:buNone/>
            </a:pPr>
            <a:r>
              <a:rPr lang="en-US" sz="1400" dirty="0">
                <a:solidFill>
                  <a:schemeClr val="tx1"/>
                </a:solidFill>
              </a:rPr>
              <a:t>in year one, capped, including a ~$150k AI build: ~0.26% of non-GAAP operating income</a:t>
            </a:r>
            <a:endParaRPr lang="en-US" sz="1400" dirty="0"/>
          </a:p>
        </p:txBody>
      </p:sp>
      <p:sp>
        <p:nvSpPr>
          <p:cNvPr id="12" name="Shape 10"/>
          <p:cNvSpPr/>
          <p:nvPr/>
        </p:nvSpPr>
        <p:spPr>
          <a:xfrm>
            <a:off x="4315968" y="1554480"/>
            <a:ext cx="3566160" cy="2240280"/>
          </a:xfrm>
          <a:prstGeom prst="roundRect">
            <a:avLst>
              <a:gd name="adj" fmla="val 3265"/>
            </a:avLst>
          </a:prstGeom>
          <a:solidFill>
            <a:schemeClr val="bg2"/>
          </a:solidFill>
          <a:ln/>
        </p:spPr>
      </p:sp>
      <p:sp>
        <p:nvSpPr>
          <p:cNvPr id="13" name="Text 11"/>
          <p:cNvSpPr txBox="1"/>
          <p:nvPr/>
        </p:nvSpPr>
        <p:spPr>
          <a:xfrm>
            <a:off x="4590288" y="1691640"/>
            <a:ext cx="3017520" cy="91440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1 in 4 yrs</a:t>
            </a:r>
            <a:endParaRPr lang="en-US" sz="4400" dirty="0"/>
          </a:p>
        </p:txBody>
      </p:sp>
      <p:sp>
        <p:nvSpPr>
          <p:cNvPr id="14" name="Text 12"/>
          <p:cNvSpPr txBox="1"/>
          <p:nvPr/>
        </p:nvSpPr>
        <p:spPr>
          <a:xfrm>
            <a:off x="4590288" y="2651760"/>
            <a:ext cx="3017520" cy="1051560"/>
          </a:xfrm>
          <a:prstGeom prst="rect">
            <a:avLst/>
          </a:prstGeom>
          <a:noFill/>
          <a:ln/>
        </p:spPr>
        <p:txBody>
          <a:bodyPr wrap="square" lIns="0" tIns="0" rIns="0" bIns="0" rtlCol="0" anchor="t"/>
          <a:lstStyle/>
          <a:p>
            <a:pPr indent="0" marL="0">
              <a:buNone/>
            </a:pPr>
            <a:r>
              <a:rPr lang="en-US" sz="1400" dirty="0">
                <a:solidFill>
                  <a:schemeClr val="tx1"/>
                </a:solidFill>
              </a:rPr>
              <a:t>Breakeven at ~$0.66M a year after: catch one ~$2.5M supplier failure earlier (est.)</a:t>
            </a:r>
            <a:endParaRPr lang="en-US" sz="1400" dirty="0"/>
          </a:p>
        </p:txBody>
      </p:sp>
      <p:sp>
        <p:nvSpPr>
          <p:cNvPr id="15" name="Shape 13"/>
          <p:cNvSpPr/>
          <p:nvPr/>
        </p:nvSpPr>
        <p:spPr>
          <a:xfrm>
            <a:off x="8083296" y="1554480"/>
            <a:ext cx="3566160" cy="2240280"/>
          </a:xfrm>
          <a:prstGeom prst="roundRect">
            <a:avLst>
              <a:gd name="adj" fmla="val 3265"/>
            </a:avLst>
          </a:prstGeom>
          <a:solidFill>
            <a:schemeClr val="bg1"/>
          </a:solidFill>
          <a:ln w="12700">
            <a:solidFill>
              <a:schemeClr val="accent6"/>
            </a:solidFill>
            <a:prstDash val="solid"/>
          </a:ln>
        </p:spPr>
      </p:sp>
      <p:sp>
        <p:nvSpPr>
          <p:cNvPr id="16" name="Text 14"/>
          <p:cNvSpPr txBox="1"/>
          <p:nvPr/>
        </p:nvSpPr>
        <p:spPr>
          <a:xfrm>
            <a:off x="8357616" y="1691640"/>
            <a:ext cx="3017520" cy="914400"/>
          </a:xfrm>
          <a:prstGeom prst="rect">
            <a:avLst/>
          </a:prstGeom>
          <a:noFill/>
          <a:ln/>
        </p:spPr>
        <p:txBody>
          <a:bodyPr wrap="square" lIns="0" tIns="0" rIns="0" bIns="0" rtlCol="0" anchor="ctr"/>
          <a:lstStyle/>
          <a:p>
            <a:pPr indent="0" marL="0">
              <a:buNone/>
            </a:pPr>
            <a:r>
              <a:rPr lang="en-US" sz="4400" b="1" dirty="0">
                <a:solidFill>
                  <a:schemeClr val="accent2"/>
                </a:solidFill>
                <a:latin typeface="+mj-lt" pitchFamily="34" charset="0"/>
                <a:ea typeface="+mj-lt" pitchFamily="34" charset="-122"/>
                <a:cs typeface="+mj-lt" pitchFamily="34" charset="-120"/>
              </a:rPr>
              <a:t>38%</a:t>
            </a:r>
            <a:endParaRPr lang="en-US" sz="4400" dirty="0"/>
          </a:p>
        </p:txBody>
      </p:sp>
      <p:sp>
        <p:nvSpPr>
          <p:cNvPr id="17" name="Text 15"/>
          <p:cNvSpPr txBox="1"/>
          <p:nvPr/>
        </p:nvSpPr>
        <p:spPr>
          <a:xfrm>
            <a:off x="8357616" y="2651760"/>
            <a:ext cx="3017520" cy="1051560"/>
          </a:xfrm>
          <a:prstGeom prst="rect">
            <a:avLst/>
          </a:prstGeom>
          <a:noFill/>
          <a:ln/>
        </p:spPr>
        <p:txBody>
          <a:bodyPr wrap="square" lIns="0" tIns="0" rIns="0" bIns="0" rtlCol="0" anchor="t"/>
          <a:lstStyle/>
          <a:p>
            <a:pPr indent="0" marL="0">
              <a:buNone/>
            </a:pPr>
            <a:r>
              <a:rPr lang="en-US" sz="1400" dirty="0">
                <a:solidFill>
                  <a:schemeClr val="tx1"/>
                </a:solidFill>
              </a:rPr>
              <a:t>of a year's earnings lost to supply shocks per decade (medtech average)</a:t>
            </a:r>
            <a:endParaRPr lang="en-US" sz="1400" dirty="0"/>
          </a:p>
        </p:txBody>
      </p:sp>
      <p:graphicFrame>
        <p:nvGraphicFramePr>
          <p:cNvPr id="18" name="Chart 0" descr=""/>
          <p:cNvGraphicFramePr/>
          <p:nvPr/>
        </p:nvGraphicFramePr>
        <p:xfrm>
          <a:off x="548640" y="4023360"/>
          <a:ext cx="6949440" cy="224028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7863840" y="4114800"/>
            <a:ext cx="457200" cy="457200"/>
          </a:xfrm>
          <a:prstGeom prst="ellipse">
            <a:avLst/>
          </a:prstGeom>
          <a:solidFill>
            <a:schemeClr val="accent1"/>
          </a:solidFill>
          <a:ln/>
        </p:spPr>
      </p:sp>
      <p:pic>
        <p:nvPicPr>
          <p:cNvPr id="20" name="Image 0" descr="preencoded.png">    </p:cNvPr>
          <p:cNvPicPr>
            <a:picLocks noChangeAspect="1"/>
          </p:cNvPicPr>
          <p:nvPr/>
        </p:nvPicPr>
        <p:blipFill>
          <a:blip r:embed="rId2"/>
          <a:stretch>
            <a:fillRect/>
          </a:stretch>
        </p:blipFill>
        <p:spPr>
          <a:xfrm>
            <a:off x="7964424" y="4215384"/>
            <a:ext cx="256032" cy="256032"/>
          </a:xfrm>
          <a:prstGeom prst="rect">
            <a:avLst/>
          </a:prstGeom>
        </p:spPr>
      </p:pic>
      <p:sp>
        <p:nvSpPr>
          <p:cNvPr id="21" name="Text 17"/>
          <p:cNvSpPr txBox="1"/>
          <p:nvPr/>
        </p:nvSpPr>
        <p:spPr>
          <a:xfrm>
            <a:off x="8458200" y="4069080"/>
            <a:ext cx="3154680" cy="685800"/>
          </a:xfrm>
          <a:prstGeom prst="rect">
            <a:avLst/>
          </a:prstGeom>
          <a:noFill/>
          <a:ln/>
        </p:spPr>
        <p:txBody>
          <a:bodyPr wrap="square" lIns="0" tIns="0" rIns="0" bIns="0" rtlCol="0" anchor="t"/>
          <a:lstStyle/>
          <a:p>
            <a:pPr indent="0" marL="0">
              <a:buNone/>
            </a:pPr>
            <a:r>
              <a:rPr lang="en-US" sz="1500" b="1" dirty="0">
                <a:solidFill>
                  <a:schemeClr val="tx2"/>
                </a:solidFill>
              </a:rPr>
              <a:t>Margin target holds</a:t>
            </a:r>
            <a:endParaRPr lang="en-US" sz="1500" dirty="0"/>
          </a:p>
          <a:p>
            <a:pPr indent="0" marL="0">
              <a:buNone/>
            </a:pPr>
            <a:r>
              <a:rPr lang="en-US" sz="1300" dirty="0">
                <a:solidFill>
                  <a:schemeClr val="tx1"/>
                </a:solidFill>
              </a:rPr>
              <a:t>20–22% target; Q2 2026 was 22.6%</a:t>
            </a:r>
            <a:endParaRPr lang="en-US" sz="1500" dirty="0"/>
          </a:p>
        </p:txBody>
      </p:sp>
      <p:sp>
        <p:nvSpPr>
          <p:cNvPr id="22" name="Shape 18"/>
          <p:cNvSpPr/>
          <p:nvPr/>
        </p:nvSpPr>
        <p:spPr>
          <a:xfrm>
            <a:off x="7863840" y="4864608"/>
            <a:ext cx="457200" cy="457200"/>
          </a:xfrm>
          <a:prstGeom prst="ellipse">
            <a:avLst/>
          </a:prstGeom>
          <a:solidFill>
            <a:schemeClr val="accent1"/>
          </a:solidFill>
          <a:ln/>
        </p:spPr>
      </p:sp>
      <p:pic>
        <p:nvPicPr>
          <p:cNvPr id="23" name="Image 1" descr="preencoded.png">    </p:cNvPr>
          <p:cNvPicPr>
            <a:picLocks noChangeAspect="1"/>
          </p:cNvPicPr>
          <p:nvPr/>
        </p:nvPicPr>
        <p:blipFill>
          <a:blip r:embed="rId3"/>
          <a:stretch>
            <a:fillRect/>
          </a:stretch>
        </p:blipFill>
        <p:spPr>
          <a:xfrm>
            <a:off x="7964424" y="4965192"/>
            <a:ext cx="256032" cy="256032"/>
          </a:xfrm>
          <a:prstGeom prst="rect">
            <a:avLst/>
          </a:prstGeom>
        </p:spPr>
      </p:pic>
      <p:sp>
        <p:nvSpPr>
          <p:cNvPr id="24" name="Text 19"/>
          <p:cNvSpPr txBox="1"/>
          <p:nvPr/>
        </p:nvSpPr>
        <p:spPr>
          <a:xfrm>
            <a:off x="8458200" y="4818888"/>
            <a:ext cx="3154680" cy="685800"/>
          </a:xfrm>
          <a:prstGeom prst="rect">
            <a:avLst/>
          </a:prstGeom>
          <a:noFill/>
          <a:ln/>
        </p:spPr>
        <p:txBody>
          <a:bodyPr wrap="square" lIns="0" tIns="0" rIns="0" bIns="0" rtlCol="0" anchor="t"/>
          <a:lstStyle/>
          <a:p>
            <a:pPr indent="0" marL="0">
              <a:buNone/>
            </a:pPr>
            <a:r>
              <a:rPr lang="en-US" sz="1500" b="1" dirty="0">
                <a:solidFill>
                  <a:schemeClr val="tx2"/>
                </a:solidFill>
              </a:rPr>
              <a:t>Cash target already met</a:t>
            </a:r>
            <a:endParaRPr lang="en-US" sz="1500" dirty="0"/>
          </a:p>
          <a:p>
            <a:pPr indent="0" marL="0">
              <a:buNone/>
            </a:pPr>
            <a:r>
              <a:rPr lang="en-US" sz="1300" dirty="0">
                <a:solidFill>
                  <a:schemeClr val="tx1"/>
                </a:solidFill>
              </a:rPr>
              <a:t>Free cash flow ≈ $401M vs $400M goal</a:t>
            </a:r>
            <a:endParaRPr lang="en-US" sz="1500" dirty="0"/>
          </a:p>
        </p:txBody>
      </p:sp>
      <p:sp>
        <p:nvSpPr>
          <p:cNvPr id="25" name="Shape 20"/>
          <p:cNvSpPr/>
          <p:nvPr/>
        </p:nvSpPr>
        <p:spPr>
          <a:xfrm>
            <a:off x="7863840" y="5614416"/>
            <a:ext cx="457200" cy="457200"/>
          </a:xfrm>
          <a:prstGeom prst="ellipse">
            <a:avLst/>
          </a:prstGeom>
          <a:solidFill>
            <a:schemeClr val="accent2"/>
          </a:solidFill>
          <a:ln/>
        </p:spPr>
      </p:sp>
      <p:pic>
        <p:nvPicPr>
          <p:cNvPr id="26" name="Image 2" descr="preencoded.png">    </p:cNvPr>
          <p:cNvPicPr>
            <a:picLocks noChangeAspect="1"/>
          </p:cNvPicPr>
          <p:nvPr/>
        </p:nvPicPr>
        <p:blipFill>
          <a:blip r:embed="rId4"/>
          <a:stretch>
            <a:fillRect/>
          </a:stretch>
        </p:blipFill>
        <p:spPr>
          <a:xfrm>
            <a:off x="7964424" y="5715000"/>
            <a:ext cx="256032" cy="256032"/>
          </a:xfrm>
          <a:prstGeom prst="rect">
            <a:avLst/>
          </a:prstGeom>
        </p:spPr>
      </p:pic>
      <p:sp>
        <p:nvSpPr>
          <p:cNvPr id="27" name="Text 21"/>
          <p:cNvSpPr txBox="1"/>
          <p:nvPr/>
        </p:nvSpPr>
        <p:spPr>
          <a:xfrm>
            <a:off x="8458200" y="5568696"/>
            <a:ext cx="3154680" cy="685800"/>
          </a:xfrm>
          <a:prstGeom prst="rect">
            <a:avLst/>
          </a:prstGeom>
          <a:noFill/>
          <a:ln/>
        </p:spPr>
        <p:txBody>
          <a:bodyPr wrap="square" lIns="0" tIns="0" rIns="0" bIns="0" rtlCol="0" anchor="t"/>
          <a:lstStyle/>
          <a:p>
            <a:pPr indent="0" marL="0">
              <a:buNone/>
            </a:pPr>
            <a:r>
              <a:rPr lang="en-US" sz="1500" b="1" dirty="0">
                <a:solidFill>
                  <a:schemeClr val="tx2"/>
                </a:solidFill>
              </a:rPr>
              <a:t>Built once, reused</a:t>
            </a:r>
            <a:endParaRPr lang="en-US" sz="1500" dirty="0"/>
          </a:p>
          <a:p>
            <a:pPr indent="0" marL="0">
              <a:buNone/>
            </a:pPr>
            <a:r>
              <a:rPr lang="en-US" sz="1300" dirty="0">
                <a:solidFill>
                  <a:schemeClr val="tx1"/>
                </a:solidFill>
              </a:rPr>
              <a:t>Each new supplier costs consultant hours, not a new build</a:t>
            </a:r>
            <a:endParaRPr lang="en-US" sz="1500" dirty="0"/>
          </a:p>
        </p:txBody>
      </p:sp>
      <p:sp>
        <p:nvSpPr>
          <p:cNvPr id="28" name="Text 22"/>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Merit 2025 10-K, Q2 2026 results; McKinsey medtech resilience; team cost model (backup B3)</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Suppliers get paid faster, audited less, and win other buyers</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1"/>
          </a:solidFill>
          <a:ln/>
        </p:spPr>
      </p:sp>
      <p:sp>
        <p:nvSpPr>
          <p:cNvPr id="8" name="Shape 6"/>
          <p:cNvSpPr/>
          <p:nvPr/>
        </p:nvSpPr>
        <p:spPr>
          <a:xfrm>
            <a:off x="11256264" y="465201"/>
            <a:ext cx="301752" cy="54864"/>
          </a:xfrm>
          <a:prstGeom prst="rect">
            <a:avLst/>
          </a:prstGeom>
          <a:solidFill>
            <a:schemeClr val="accent6"/>
          </a:solidFill>
          <a:ln/>
        </p:spPr>
      </p:sp>
      <p:sp>
        <p:nvSpPr>
          <p:cNvPr id="9" name="Shape 7"/>
          <p:cNvSpPr/>
          <p:nvPr/>
        </p:nvSpPr>
        <p:spPr>
          <a:xfrm>
            <a:off x="548640" y="1554480"/>
            <a:ext cx="3566160" cy="2103120"/>
          </a:xfrm>
          <a:prstGeom prst="roundRect">
            <a:avLst>
              <a:gd name="adj" fmla="val 3478"/>
            </a:avLst>
          </a:prstGeom>
          <a:solidFill>
            <a:schemeClr val="bg2"/>
          </a:solidFill>
          <a:ln/>
        </p:spPr>
      </p:sp>
      <p:sp>
        <p:nvSpPr>
          <p:cNvPr id="10" name="Shape 8"/>
          <p:cNvSpPr/>
          <p:nvPr/>
        </p:nvSpPr>
        <p:spPr>
          <a:xfrm>
            <a:off x="822960" y="1783080"/>
            <a:ext cx="594360" cy="594360"/>
          </a:xfrm>
          <a:prstGeom prst="ellipse">
            <a:avLst/>
          </a:prstGeom>
          <a:solidFill>
            <a:schemeClr val="accent1"/>
          </a:solidFill>
          <a:ln/>
        </p:spPr>
      </p:sp>
      <p:pic>
        <p:nvPicPr>
          <p:cNvPr id="11" name="Image 0" descr="preencoded.png">    </p:cNvPr>
          <p:cNvPicPr>
            <a:picLocks noChangeAspect="1"/>
          </p:cNvPicPr>
          <p:nvPr/>
        </p:nvPicPr>
        <p:blipFill>
          <a:blip r:embed="rId1"/>
          <a:stretch>
            <a:fillRect/>
          </a:stretch>
        </p:blipFill>
        <p:spPr>
          <a:xfrm>
            <a:off x="953719" y="1913839"/>
            <a:ext cx="332842" cy="332842"/>
          </a:xfrm>
          <a:prstGeom prst="rect">
            <a:avLst/>
          </a:prstGeom>
        </p:spPr>
      </p:pic>
      <p:sp>
        <p:nvSpPr>
          <p:cNvPr id="12" name="Text 9"/>
          <p:cNvSpPr txBox="1"/>
          <p:nvPr/>
        </p:nvSpPr>
        <p:spPr>
          <a:xfrm>
            <a:off x="822960" y="2468880"/>
            <a:ext cx="3063240" cy="365760"/>
          </a:xfrm>
          <a:prstGeom prst="rect">
            <a:avLst/>
          </a:prstGeom>
          <a:noFill/>
          <a:ln/>
        </p:spPr>
        <p:txBody>
          <a:bodyPr wrap="square" lIns="0" tIns="0" rIns="0" bIns="0" rtlCol="0" anchor="t"/>
          <a:lstStyle/>
          <a:p>
            <a:pPr indent="0" marL="0">
              <a:buNone/>
            </a:pPr>
            <a:r>
              <a:rPr lang="en-US" sz="1700" b="1" dirty="0">
                <a:solidFill>
                  <a:schemeClr val="tx2"/>
                </a:solidFill>
              </a:rPr>
              <a:t>Merit pays the assessment</a:t>
            </a:r>
            <a:endParaRPr lang="en-US" sz="1700" dirty="0"/>
          </a:p>
        </p:txBody>
      </p:sp>
      <p:sp>
        <p:nvSpPr>
          <p:cNvPr id="13" name="Text 10"/>
          <p:cNvSpPr txBox="1"/>
          <p:nvPr/>
        </p:nvSpPr>
        <p:spPr>
          <a:xfrm>
            <a:off x="822960" y="2852928"/>
            <a:ext cx="3063240" cy="731520"/>
          </a:xfrm>
          <a:prstGeom prst="rect">
            <a:avLst/>
          </a:prstGeom>
          <a:noFill/>
          <a:ln/>
        </p:spPr>
        <p:txBody>
          <a:bodyPr wrap="square" lIns="0" tIns="0" rIns="0" bIns="0" rtlCol="0" anchor="t"/>
          <a:lstStyle/>
          <a:p>
            <a:pPr indent="0" marL="0">
              <a:buNone/>
            </a:pPr>
            <a:r>
              <a:rPr lang="en-US" sz="1300" dirty="0">
                <a:solidFill>
                  <a:schemeClr val="tx1"/>
                </a:solidFill>
              </a:rPr>
              <a:t>Tier 2 EcoVadis invitation and subscription covered</a:t>
            </a:r>
            <a:endParaRPr lang="en-US" sz="1300" dirty="0"/>
          </a:p>
        </p:txBody>
      </p:sp>
      <p:sp>
        <p:nvSpPr>
          <p:cNvPr id="14" name="Shape 11"/>
          <p:cNvSpPr/>
          <p:nvPr/>
        </p:nvSpPr>
        <p:spPr>
          <a:xfrm>
            <a:off x="4315968" y="1554480"/>
            <a:ext cx="3566160" cy="2103120"/>
          </a:xfrm>
          <a:prstGeom prst="roundRect">
            <a:avLst>
              <a:gd name="adj" fmla="val 3478"/>
            </a:avLst>
          </a:prstGeom>
          <a:solidFill>
            <a:schemeClr val="bg1"/>
          </a:solidFill>
          <a:ln w="12700">
            <a:solidFill>
              <a:schemeClr val="accent6"/>
            </a:solidFill>
            <a:prstDash val="solid"/>
          </a:ln>
        </p:spPr>
      </p:sp>
      <p:sp>
        <p:nvSpPr>
          <p:cNvPr id="15" name="Shape 12"/>
          <p:cNvSpPr/>
          <p:nvPr/>
        </p:nvSpPr>
        <p:spPr>
          <a:xfrm>
            <a:off x="4590288" y="1783080"/>
            <a:ext cx="594360" cy="594360"/>
          </a:xfrm>
          <a:prstGeom prst="ellipse">
            <a:avLst/>
          </a:prstGeom>
          <a:solidFill>
            <a:schemeClr val="accent1"/>
          </a:solidFill>
          <a:ln/>
        </p:spPr>
      </p:sp>
      <p:pic>
        <p:nvPicPr>
          <p:cNvPr id="16" name="Image 1" descr="preencoded.png">    </p:cNvPr>
          <p:cNvPicPr>
            <a:picLocks noChangeAspect="1"/>
          </p:cNvPicPr>
          <p:nvPr/>
        </p:nvPicPr>
        <p:blipFill>
          <a:blip r:embed="rId2"/>
          <a:stretch>
            <a:fillRect/>
          </a:stretch>
        </p:blipFill>
        <p:spPr>
          <a:xfrm>
            <a:off x="4721047" y="1913839"/>
            <a:ext cx="332842" cy="332842"/>
          </a:xfrm>
          <a:prstGeom prst="rect">
            <a:avLst/>
          </a:prstGeom>
        </p:spPr>
      </p:pic>
      <p:sp>
        <p:nvSpPr>
          <p:cNvPr id="17" name="Text 13"/>
          <p:cNvSpPr txBox="1"/>
          <p:nvPr/>
        </p:nvSpPr>
        <p:spPr>
          <a:xfrm>
            <a:off x="4590288" y="2468880"/>
            <a:ext cx="3063240" cy="365760"/>
          </a:xfrm>
          <a:prstGeom prst="rect">
            <a:avLst/>
          </a:prstGeom>
          <a:noFill/>
          <a:ln/>
        </p:spPr>
        <p:txBody>
          <a:bodyPr wrap="square" lIns="0" tIns="0" rIns="0" bIns="0" rtlCol="0" anchor="t"/>
          <a:lstStyle/>
          <a:p>
            <a:pPr indent="0" marL="0">
              <a:buNone/>
            </a:pPr>
            <a:r>
              <a:rPr lang="en-US" sz="1700" b="1" dirty="0">
                <a:solidFill>
                  <a:schemeClr val="tx2"/>
                </a:solidFill>
              </a:rPr>
              <a:t>Paid faster</a:t>
            </a:r>
            <a:endParaRPr lang="en-US" sz="1700" dirty="0"/>
          </a:p>
        </p:txBody>
      </p:sp>
      <p:sp>
        <p:nvSpPr>
          <p:cNvPr id="18" name="Text 14"/>
          <p:cNvSpPr txBox="1"/>
          <p:nvPr/>
        </p:nvSpPr>
        <p:spPr>
          <a:xfrm>
            <a:off x="4590288" y="2852928"/>
            <a:ext cx="3063240" cy="731520"/>
          </a:xfrm>
          <a:prstGeom prst="rect">
            <a:avLst/>
          </a:prstGeom>
          <a:noFill/>
          <a:ln/>
        </p:spPr>
        <p:txBody>
          <a:bodyPr wrap="square" lIns="0" tIns="0" rIns="0" bIns="0" rtlCol="0" anchor="t"/>
          <a:lstStyle/>
          <a:p>
            <a:pPr indent="0" marL="0">
              <a:buNone/>
            </a:pPr>
            <a:r>
              <a:rPr lang="en-US" sz="1300" dirty="0">
                <a:solidFill>
                  <a:schemeClr val="tx1"/>
                </a:solidFill>
              </a:rPr>
              <a:t>Early payment through NAFIN's fee-free reverse factoring, for suppliers who finish</a:t>
            </a:r>
            <a:endParaRPr lang="en-US" sz="1300" dirty="0"/>
          </a:p>
        </p:txBody>
      </p:sp>
      <p:sp>
        <p:nvSpPr>
          <p:cNvPr id="19" name="Shape 15"/>
          <p:cNvSpPr/>
          <p:nvPr/>
        </p:nvSpPr>
        <p:spPr>
          <a:xfrm>
            <a:off x="8083296" y="1554480"/>
            <a:ext cx="3566160" cy="2103120"/>
          </a:xfrm>
          <a:prstGeom prst="roundRect">
            <a:avLst>
              <a:gd name="adj" fmla="val 3478"/>
            </a:avLst>
          </a:prstGeom>
          <a:solidFill>
            <a:schemeClr val="bg2"/>
          </a:solidFill>
          <a:ln/>
        </p:spPr>
      </p:sp>
      <p:sp>
        <p:nvSpPr>
          <p:cNvPr id="20" name="Shape 16"/>
          <p:cNvSpPr/>
          <p:nvPr/>
        </p:nvSpPr>
        <p:spPr>
          <a:xfrm>
            <a:off x="8357616" y="1783080"/>
            <a:ext cx="594360" cy="594360"/>
          </a:xfrm>
          <a:prstGeom prst="ellipse">
            <a:avLst/>
          </a:prstGeom>
          <a:solidFill>
            <a:schemeClr val="accent1"/>
          </a:solidFill>
          <a:ln/>
        </p:spPr>
      </p:sp>
      <p:pic>
        <p:nvPicPr>
          <p:cNvPr id="21" name="Image 2" descr="preencoded.png">    </p:cNvPr>
          <p:cNvPicPr>
            <a:picLocks noChangeAspect="1"/>
          </p:cNvPicPr>
          <p:nvPr/>
        </p:nvPicPr>
        <p:blipFill>
          <a:blip r:embed="rId3"/>
          <a:stretch>
            <a:fillRect/>
          </a:stretch>
        </p:blipFill>
        <p:spPr>
          <a:xfrm>
            <a:off x="8488375" y="1913839"/>
            <a:ext cx="332842" cy="332842"/>
          </a:xfrm>
          <a:prstGeom prst="rect">
            <a:avLst/>
          </a:prstGeom>
        </p:spPr>
      </p:pic>
      <p:sp>
        <p:nvSpPr>
          <p:cNvPr id="22" name="Text 17"/>
          <p:cNvSpPr txBox="1"/>
          <p:nvPr/>
        </p:nvSpPr>
        <p:spPr>
          <a:xfrm>
            <a:off x="8357616" y="2468880"/>
            <a:ext cx="3063240" cy="365760"/>
          </a:xfrm>
          <a:prstGeom prst="rect">
            <a:avLst/>
          </a:prstGeom>
          <a:noFill/>
          <a:ln/>
        </p:spPr>
        <p:txBody>
          <a:bodyPr wrap="square" lIns="0" tIns="0" rIns="0" bIns="0" rtlCol="0" anchor="t"/>
          <a:lstStyle/>
          <a:p>
            <a:pPr indent="0" marL="0">
              <a:buNone/>
            </a:pPr>
            <a:r>
              <a:rPr lang="en-US" sz="1700" b="1" dirty="0">
                <a:solidFill>
                  <a:schemeClr val="tx2"/>
                </a:solidFill>
              </a:rPr>
              <a:t>Longer contracts</a:t>
            </a:r>
            <a:endParaRPr lang="en-US" sz="1700" dirty="0"/>
          </a:p>
        </p:txBody>
      </p:sp>
      <p:sp>
        <p:nvSpPr>
          <p:cNvPr id="23" name="Text 18"/>
          <p:cNvSpPr txBox="1"/>
          <p:nvPr/>
        </p:nvSpPr>
        <p:spPr>
          <a:xfrm>
            <a:off x="8357616" y="2852928"/>
            <a:ext cx="3063240" cy="731520"/>
          </a:xfrm>
          <a:prstGeom prst="rect">
            <a:avLst/>
          </a:prstGeom>
          <a:noFill/>
          <a:ln/>
        </p:spPr>
        <p:txBody>
          <a:bodyPr wrap="square" lIns="0" tIns="0" rIns="0" bIns="0" rtlCol="0" anchor="t"/>
          <a:lstStyle/>
          <a:p>
            <a:pPr indent="0" marL="0">
              <a:buNone/>
            </a:pPr>
            <a:r>
              <a:rPr lang="en-US" sz="1300" dirty="0">
                <a:solidFill>
                  <a:schemeClr val="tx1"/>
                </a:solidFill>
              </a:rPr>
              <a:t>Multi-year terms for completers, through normal quality and procurement review</a:t>
            </a:r>
            <a:endParaRPr lang="en-US" sz="1300" dirty="0"/>
          </a:p>
        </p:txBody>
      </p:sp>
      <p:sp>
        <p:nvSpPr>
          <p:cNvPr id="24" name="Shape 19"/>
          <p:cNvSpPr/>
          <p:nvPr/>
        </p:nvSpPr>
        <p:spPr>
          <a:xfrm>
            <a:off x="548640" y="3840480"/>
            <a:ext cx="3566160" cy="2103120"/>
          </a:xfrm>
          <a:prstGeom prst="roundRect">
            <a:avLst>
              <a:gd name="adj" fmla="val 3478"/>
            </a:avLst>
          </a:prstGeom>
          <a:solidFill>
            <a:schemeClr val="bg1"/>
          </a:solidFill>
          <a:ln w="12700">
            <a:solidFill>
              <a:schemeClr val="accent6"/>
            </a:solidFill>
            <a:prstDash val="solid"/>
          </a:ln>
        </p:spPr>
      </p:sp>
      <p:sp>
        <p:nvSpPr>
          <p:cNvPr id="25" name="Shape 20"/>
          <p:cNvSpPr/>
          <p:nvPr/>
        </p:nvSpPr>
        <p:spPr>
          <a:xfrm>
            <a:off x="822960" y="4069080"/>
            <a:ext cx="594360" cy="594360"/>
          </a:xfrm>
          <a:prstGeom prst="ellipse">
            <a:avLst/>
          </a:prstGeom>
          <a:solidFill>
            <a:schemeClr val="accent4"/>
          </a:solidFill>
          <a:ln/>
        </p:spPr>
      </p:sp>
      <p:pic>
        <p:nvPicPr>
          <p:cNvPr id="26" name="Image 3" descr="preencoded.png">    </p:cNvPr>
          <p:cNvPicPr>
            <a:picLocks noChangeAspect="1"/>
          </p:cNvPicPr>
          <p:nvPr/>
        </p:nvPicPr>
        <p:blipFill>
          <a:blip r:embed="rId4"/>
          <a:stretch>
            <a:fillRect/>
          </a:stretch>
        </p:blipFill>
        <p:spPr>
          <a:xfrm>
            <a:off x="953719" y="4199839"/>
            <a:ext cx="332842" cy="332842"/>
          </a:xfrm>
          <a:prstGeom prst="rect">
            <a:avLst/>
          </a:prstGeom>
        </p:spPr>
      </p:pic>
      <p:sp>
        <p:nvSpPr>
          <p:cNvPr id="27" name="Text 21"/>
          <p:cNvSpPr txBox="1"/>
          <p:nvPr/>
        </p:nvSpPr>
        <p:spPr>
          <a:xfrm>
            <a:off x="822960" y="4754880"/>
            <a:ext cx="3063240" cy="365760"/>
          </a:xfrm>
          <a:prstGeom prst="rect">
            <a:avLst/>
          </a:prstGeom>
          <a:noFill/>
          <a:ln/>
        </p:spPr>
        <p:txBody>
          <a:bodyPr wrap="square" lIns="0" tIns="0" rIns="0" bIns="0" rtlCol="0" anchor="t"/>
          <a:lstStyle/>
          <a:p>
            <a:pPr indent="0" marL="0">
              <a:buNone/>
            </a:pPr>
            <a:r>
              <a:rPr lang="en-US" sz="1700" b="1" dirty="0">
                <a:solidFill>
                  <a:schemeClr val="tx2"/>
                </a:solidFill>
              </a:rPr>
              <a:t>Audited less</a:t>
            </a:r>
            <a:endParaRPr lang="en-US" sz="1700" dirty="0"/>
          </a:p>
        </p:txBody>
      </p:sp>
      <p:sp>
        <p:nvSpPr>
          <p:cNvPr id="28" name="Text 22"/>
          <p:cNvSpPr txBox="1"/>
          <p:nvPr/>
        </p:nvSpPr>
        <p:spPr>
          <a:xfrm>
            <a:off x="822960" y="5138928"/>
            <a:ext cx="3063240" cy="731520"/>
          </a:xfrm>
          <a:prstGeom prst="rect">
            <a:avLst/>
          </a:prstGeom>
          <a:noFill/>
          <a:ln/>
        </p:spPr>
        <p:txBody>
          <a:bodyPr wrap="square" lIns="0" tIns="0" rIns="0" bIns="0" rtlCol="0" anchor="t"/>
          <a:lstStyle/>
          <a:p>
            <a:pPr indent="0" marL="0">
              <a:buNone/>
            </a:pPr>
            <a:r>
              <a:rPr lang="en-US" sz="1300" dirty="0">
                <a:solidFill>
                  <a:schemeClr val="tx1"/>
                </a:solidFill>
              </a:rPr>
              <a:t>One EcoVadis score serves all their customers, instead of 3–5 audits a year</a:t>
            </a:r>
            <a:endParaRPr lang="en-US" sz="1300" dirty="0"/>
          </a:p>
        </p:txBody>
      </p:sp>
      <p:sp>
        <p:nvSpPr>
          <p:cNvPr id="29" name="Shape 23"/>
          <p:cNvSpPr/>
          <p:nvPr/>
        </p:nvSpPr>
        <p:spPr>
          <a:xfrm>
            <a:off x="4315968" y="3840480"/>
            <a:ext cx="3566160" cy="2103120"/>
          </a:xfrm>
          <a:prstGeom prst="roundRect">
            <a:avLst>
              <a:gd name="adj" fmla="val 3478"/>
            </a:avLst>
          </a:prstGeom>
          <a:solidFill>
            <a:schemeClr val="bg2"/>
          </a:solidFill>
          <a:ln/>
        </p:spPr>
      </p:sp>
      <p:sp>
        <p:nvSpPr>
          <p:cNvPr id="30" name="Shape 24"/>
          <p:cNvSpPr/>
          <p:nvPr/>
        </p:nvSpPr>
        <p:spPr>
          <a:xfrm>
            <a:off x="4590288" y="4069080"/>
            <a:ext cx="594360" cy="594360"/>
          </a:xfrm>
          <a:prstGeom prst="ellipse">
            <a:avLst/>
          </a:prstGeom>
          <a:solidFill>
            <a:schemeClr val="accent4"/>
          </a:solidFill>
          <a:ln/>
        </p:spPr>
      </p:sp>
      <p:pic>
        <p:nvPicPr>
          <p:cNvPr id="31" name="Image 4" descr="preencoded.png">    </p:cNvPr>
          <p:cNvPicPr>
            <a:picLocks noChangeAspect="1"/>
          </p:cNvPicPr>
          <p:nvPr/>
        </p:nvPicPr>
        <p:blipFill>
          <a:blip r:embed="rId5"/>
          <a:stretch>
            <a:fillRect/>
          </a:stretch>
        </p:blipFill>
        <p:spPr>
          <a:xfrm>
            <a:off x="4721047" y="4199839"/>
            <a:ext cx="332842" cy="332842"/>
          </a:xfrm>
          <a:prstGeom prst="rect">
            <a:avLst/>
          </a:prstGeom>
        </p:spPr>
      </p:pic>
      <p:sp>
        <p:nvSpPr>
          <p:cNvPr id="32" name="Text 25"/>
          <p:cNvSpPr txBox="1"/>
          <p:nvPr/>
        </p:nvSpPr>
        <p:spPr>
          <a:xfrm>
            <a:off x="4590288" y="4754880"/>
            <a:ext cx="3063240" cy="365760"/>
          </a:xfrm>
          <a:prstGeom prst="rect">
            <a:avLst/>
          </a:prstGeom>
          <a:noFill/>
          <a:ln/>
        </p:spPr>
        <p:txBody>
          <a:bodyPr wrap="square" lIns="0" tIns="0" rIns="0" bIns="0" rtlCol="0" anchor="t"/>
          <a:lstStyle/>
          <a:p>
            <a:pPr indent="0" marL="0">
              <a:buNone/>
            </a:pPr>
            <a:r>
              <a:rPr lang="en-US" sz="1700" b="1" dirty="0">
                <a:solidFill>
                  <a:schemeClr val="tx2"/>
                </a:solidFill>
              </a:rPr>
              <a:t>Help with the 40-hour week</a:t>
            </a:r>
            <a:endParaRPr lang="en-US" sz="1700" dirty="0"/>
          </a:p>
        </p:txBody>
      </p:sp>
      <p:sp>
        <p:nvSpPr>
          <p:cNvPr id="33" name="Text 26"/>
          <p:cNvSpPr txBox="1"/>
          <p:nvPr/>
        </p:nvSpPr>
        <p:spPr>
          <a:xfrm>
            <a:off x="4590288" y="5138928"/>
            <a:ext cx="3063240" cy="731520"/>
          </a:xfrm>
          <a:prstGeom prst="rect">
            <a:avLst/>
          </a:prstGeom>
          <a:noFill/>
          <a:ln/>
        </p:spPr>
        <p:txBody>
          <a:bodyPr wrap="square" lIns="0" tIns="0" rIns="0" bIns="0" rtlCol="0" anchor="t"/>
          <a:lstStyle/>
          <a:p>
            <a:pPr indent="0" marL="0">
              <a:buNone/>
            </a:pPr>
            <a:r>
              <a:rPr lang="en-US" sz="1300" dirty="0">
                <a:solidFill>
                  <a:schemeClr val="tx1"/>
                </a:solidFill>
              </a:rPr>
              <a:t>Mexico's 48→40-hour reform is their 2026 problem; we help them comply without cutting pay</a:t>
            </a:r>
            <a:endParaRPr lang="en-US" sz="1300" dirty="0"/>
          </a:p>
        </p:txBody>
      </p:sp>
      <p:sp>
        <p:nvSpPr>
          <p:cNvPr id="34" name="Shape 27"/>
          <p:cNvSpPr/>
          <p:nvPr/>
        </p:nvSpPr>
        <p:spPr>
          <a:xfrm>
            <a:off x="8083296" y="3840480"/>
            <a:ext cx="3566160" cy="2103120"/>
          </a:xfrm>
          <a:prstGeom prst="roundRect">
            <a:avLst>
              <a:gd name="adj" fmla="val 3478"/>
            </a:avLst>
          </a:prstGeom>
          <a:solidFill>
            <a:schemeClr val="bg1"/>
          </a:solidFill>
          <a:ln w="12700">
            <a:solidFill>
              <a:schemeClr val="accent6"/>
            </a:solidFill>
            <a:prstDash val="solid"/>
          </a:ln>
        </p:spPr>
      </p:sp>
      <p:sp>
        <p:nvSpPr>
          <p:cNvPr id="35" name="Shape 28"/>
          <p:cNvSpPr/>
          <p:nvPr/>
        </p:nvSpPr>
        <p:spPr>
          <a:xfrm>
            <a:off x="8357616" y="4069080"/>
            <a:ext cx="594360" cy="594360"/>
          </a:xfrm>
          <a:prstGeom prst="ellipse">
            <a:avLst/>
          </a:prstGeom>
          <a:solidFill>
            <a:schemeClr val="accent4"/>
          </a:solidFill>
          <a:ln/>
        </p:spPr>
      </p:sp>
      <p:pic>
        <p:nvPicPr>
          <p:cNvPr id="36" name="Image 5" descr="preencoded.png">    </p:cNvPr>
          <p:cNvPicPr>
            <a:picLocks noChangeAspect="1"/>
          </p:cNvPicPr>
          <p:nvPr/>
        </p:nvPicPr>
        <p:blipFill>
          <a:blip r:embed="rId6"/>
          <a:stretch>
            <a:fillRect/>
          </a:stretch>
        </p:blipFill>
        <p:spPr>
          <a:xfrm>
            <a:off x="8488375" y="4199839"/>
            <a:ext cx="332842" cy="332842"/>
          </a:xfrm>
          <a:prstGeom prst="rect">
            <a:avLst/>
          </a:prstGeom>
        </p:spPr>
      </p:pic>
      <p:sp>
        <p:nvSpPr>
          <p:cNvPr id="37" name="Text 29"/>
          <p:cNvSpPr txBox="1"/>
          <p:nvPr/>
        </p:nvSpPr>
        <p:spPr>
          <a:xfrm>
            <a:off x="8357616" y="4754880"/>
            <a:ext cx="3063240" cy="365760"/>
          </a:xfrm>
          <a:prstGeom prst="rect">
            <a:avLst/>
          </a:prstGeom>
          <a:noFill/>
          <a:ln/>
        </p:spPr>
        <p:txBody>
          <a:bodyPr wrap="square" lIns="0" tIns="0" rIns="0" bIns="0" rtlCol="0" anchor="t"/>
          <a:lstStyle/>
          <a:p>
            <a:pPr indent="0" marL="0">
              <a:buNone/>
            </a:pPr>
            <a:r>
              <a:rPr lang="en-US" sz="1700" b="1" dirty="0">
                <a:solidFill>
                  <a:schemeClr val="tx2"/>
                </a:solidFill>
              </a:rPr>
              <a:t>Win other buyers</a:t>
            </a:r>
            <a:endParaRPr lang="en-US" sz="1700" dirty="0"/>
          </a:p>
        </p:txBody>
      </p:sp>
      <p:sp>
        <p:nvSpPr>
          <p:cNvPr id="38" name="Text 30"/>
          <p:cNvSpPr txBox="1"/>
          <p:nvPr/>
        </p:nvSpPr>
        <p:spPr>
          <a:xfrm>
            <a:off x="8357616" y="5138928"/>
            <a:ext cx="3063240" cy="731520"/>
          </a:xfrm>
          <a:prstGeom prst="rect">
            <a:avLst/>
          </a:prstGeom>
          <a:noFill/>
          <a:ln/>
        </p:spPr>
        <p:txBody>
          <a:bodyPr wrap="square" lIns="0" tIns="0" rIns="0" bIns="0" rtlCol="0" anchor="t"/>
          <a:lstStyle/>
          <a:p>
            <a:pPr indent="0" marL="0">
              <a:buNone/>
            </a:pPr>
            <a:r>
              <a:rPr lang="en-US" sz="1300" dirty="0">
                <a:solidFill>
                  <a:schemeClr val="tx1"/>
                </a:solidFill>
              </a:rPr>
              <a:t>U.S. purchasing groups, the NHS and French hospitals ask for this data too</a:t>
            </a:r>
            <a:endParaRPr lang="en-US" sz="1300" dirty="0"/>
          </a:p>
        </p:txBody>
      </p:sp>
      <p:sp>
        <p:nvSpPr>
          <p:cNvPr id="39" name="Text 3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CDP/HSBC 2024; WRAP 2023 audit survey; NAFIN Cadenas Productivas; research/customer-esg-demands.md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Success means covering the suppliers patients depend on, and claiming only what we can prove</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1"/>
          </a:solidFill>
          <a:ln/>
        </p:spPr>
      </p:sp>
      <p:sp>
        <p:nvSpPr>
          <p:cNvPr id="8" name="Shape 6"/>
          <p:cNvSpPr/>
          <p:nvPr/>
        </p:nvSpPr>
        <p:spPr>
          <a:xfrm>
            <a:off x="11256264" y="465201"/>
            <a:ext cx="301752" cy="54864"/>
          </a:xfrm>
          <a:prstGeom prst="rect">
            <a:avLst/>
          </a:prstGeom>
          <a:solidFill>
            <a:schemeClr val="accent1"/>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480560"/>
                <a:gridCol w="1463040"/>
                <a:gridCol w="1463040"/>
                <a:gridCol w="3657600"/>
              </a:tblGrid>
              <a:tr h="50292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2027</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2028</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Benchmark</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Direct spend with a rating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85%</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Stryker: 85% target by 2027</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66928">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Critical suppliers with a traceable evidence pack</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No peer reports this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bg2"/>
                    </a:solidFill>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Tier 2 supplier retention</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Attrition tripwire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Pilot workers inside the legal week, with weekly pay held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Rising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vs a wait-listed comparison group</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Supplier-caused backorders on Tier 2 parts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 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FDA 506J shortage notices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10" name="Shape 7"/>
          <p:cNvSpPr/>
          <p:nvPr/>
        </p:nvSpPr>
        <p:spPr>
          <a:xfrm>
            <a:off x="548640" y="5166360"/>
            <a:ext cx="11064240" cy="1051560"/>
          </a:xfrm>
          <a:prstGeom prst="roundRect">
            <a:avLst>
              <a:gd name="adj" fmla="val 6957"/>
            </a:avLst>
          </a:prstGeom>
          <a:solidFill>
            <a:schemeClr val="tx2"/>
          </a:solidFill>
          <a:ln/>
        </p:spPr>
      </p:sp>
      <p:sp>
        <p:nvSpPr>
          <p:cNvPr id="11" name="Text 8"/>
          <p:cNvSpPr txBox="1"/>
          <p:nvPr/>
        </p:nvSpPr>
        <p:spPr>
          <a:xfrm>
            <a:off x="822960" y="5166360"/>
            <a:ext cx="10515600" cy="1051560"/>
          </a:xfrm>
          <a:prstGeom prst="rect">
            <a:avLst/>
          </a:prstGeom>
          <a:noFill/>
          <a:ln/>
        </p:spPr>
        <p:txBody>
          <a:bodyPr wrap="square" lIns="0" tIns="0" rIns="0" bIns="0" rtlCol="0" anchor="ctr"/>
          <a:lstStyle/>
          <a:p>
            <a:pPr indent="0" marL="0">
              <a:buNone/>
            </a:pPr>
            <a:r>
              <a:rPr lang="en-US" sz="1500" b="1" dirty="0">
                <a:solidFill>
                  <a:schemeClr val="accent4"/>
                </a:solidFill>
              </a:rPr>
              <a:t>What Merit publishes each year: </a:t>
            </a:r>
            <a:pPr indent="0" marL="0">
              <a:buNone/>
            </a:pPr>
            <a:r>
              <a:rPr lang="en-US" sz="1500" dirty="0">
                <a:solidFill>
                  <a:schemeClr val="bg1"/>
                </a:solidFill>
              </a:rPr>
              <a:t>coverage by spend and by critical supplier, and how much of Scope 3 is real supplier data vs estimate. No "climate neutral" or vague claims (EU ban, Sept 2026; FTC Green Guides).</a:t>
            </a:r>
            <a:endParaRPr lang="en-US" sz="1500" dirty="0"/>
          </a:p>
        </p:txBody>
      </p:sp>
      <p:sp>
        <p:nvSpPr>
          <p:cNvPr id="12" name="Text 9"/>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Stryker 2024 proxy; research/impact-measurement.md; communication plan in backup B10</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Others have done this, and it worked</a:t>
            </a:r>
            <a:endParaRPr lang="en-US" sz="2800" dirty="0"/>
          </a:p>
        </p:txBody>
      </p:sp>
      <p:sp>
        <p:nvSpPr>
          <p:cNvPr id="3" name="Shape 1"/>
          <p:cNvSpPr/>
          <p:nvPr/>
        </p:nvSpPr>
        <p:spPr>
          <a:xfrm>
            <a:off x="11201400" y="384048"/>
            <a:ext cx="54864" cy="868680"/>
          </a:xfrm>
          <a:prstGeom prst="rect">
            <a:avLst/>
          </a:prstGeom>
          <a:solidFill>
            <a:schemeClr val="accent3"/>
          </a:solidFill>
          <a:ln/>
        </p:spPr>
      </p:sp>
      <p:sp>
        <p:nvSpPr>
          <p:cNvPr id="4" name="Shape 2"/>
          <p:cNvSpPr/>
          <p:nvPr/>
        </p:nvSpPr>
        <p:spPr>
          <a:xfrm>
            <a:off x="11558016" y="384048"/>
            <a:ext cx="54864" cy="868680"/>
          </a:xfrm>
          <a:prstGeom prst="rect">
            <a:avLst/>
          </a:prstGeom>
          <a:solidFill>
            <a:schemeClr val="accent3"/>
          </a:solidFill>
          <a:ln/>
        </p:spPr>
      </p:sp>
      <p:sp>
        <p:nvSpPr>
          <p:cNvPr id="5" name="Shape 3"/>
          <p:cNvSpPr/>
          <p:nvPr/>
        </p:nvSpPr>
        <p:spPr>
          <a:xfrm>
            <a:off x="11256264" y="1116711"/>
            <a:ext cx="301752" cy="54864"/>
          </a:xfrm>
          <a:prstGeom prst="rect">
            <a:avLst/>
          </a:prstGeom>
          <a:solidFill>
            <a:schemeClr val="accent1"/>
          </a:solidFill>
          <a:ln/>
        </p:spPr>
      </p:sp>
      <p:sp>
        <p:nvSpPr>
          <p:cNvPr id="6" name="Shape 4"/>
          <p:cNvSpPr/>
          <p:nvPr/>
        </p:nvSpPr>
        <p:spPr>
          <a:xfrm>
            <a:off x="11256264" y="899541"/>
            <a:ext cx="301752" cy="54864"/>
          </a:xfrm>
          <a:prstGeom prst="rect">
            <a:avLst/>
          </a:prstGeom>
          <a:solidFill>
            <a:schemeClr val="accent1"/>
          </a:solidFill>
          <a:ln/>
        </p:spPr>
      </p:sp>
      <p:sp>
        <p:nvSpPr>
          <p:cNvPr id="7" name="Shape 5"/>
          <p:cNvSpPr/>
          <p:nvPr/>
        </p:nvSpPr>
        <p:spPr>
          <a:xfrm>
            <a:off x="11256264" y="682371"/>
            <a:ext cx="301752" cy="54864"/>
          </a:xfrm>
          <a:prstGeom prst="rect">
            <a:avLst/>
          </a:prstGeom>
          <a:solidFill>
            <a:schemeClr val="accent1"/>
          </a:solidFill>
          <a:ln/>
        </p:spPr>
      </p:sp>
      <p:sp>
        <p:nvSpPr>
          <p:cNvPr id="8" name="Shape 6"/>
          <p:cNvSpPr/>
          <p:nvPr/>
        </p:nvSpPr>
        <p:spPr>
          <a:xfrm>
            <a:off x="11256264" y="465201"/>
            <a:ext cx="301752" cy="54864"/>
          </a:xfrm>
          <a:prstGeom prst="rect">
            <a:avLst/>
          </a:prstGeom>
          <a:solidFill>
            <a:schemeClr val="accent1"/>
          </a:solidFill>
          <a:ln/>
        </p:spPr>
      </p:sp>
      <p:sp>
        <p:nvSpPr>
          <p:cNvPr id="9" name="Shape 7"/>
          <p:cNvSpPr/>
          <p:nvPr/>
        </p:nvSpPr>
        <p:spPr>
          <a:xfrm>
            <a:off x="548640" y="1600200"/>
            <a:ext cx="2651760" cy="3291840"/>
          </a:xfrm>
          <a:prstGeom prst="roundRect">
            <a:avLst>
              <a:gd name="adj" fmla="val 2759"/>
            </a:avLst>
          </a:prstGeom>
          <a:solidFill>
            <a:schemeClr val="bg2"/>
          </a:solidFill>
          <a:ln/>
        </p:spPr>
      </p:sp>
      <p:sp>
        <p:nvSpPr>
          <p:cNvPr id="10" name="Text 8"/>
          <p:cNvSpPr txBox="1"/>
          <p:nvPr/>
        </p:nvSpPr>
        <p:spPr>
          <a:xfrm>
            <a:off x="777240" y="1828800"/>
            <a:ext cx="2240280" cy="91440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700+</a:t>
            </a:r>
            <a:endParaRPr lang="en-US" sz="4400" dirty="0"/>
          </a:p>
        </p:txBody>
      </p:sp>
      <p:sp>
        <p:nvSpPr>
          <p:cNvPr id="11" name="Text 9"/>
          <p:cNvSpPr txBox="1"/>
          <p:nvPr/>
        </p:nvSpPr>
        <p:spPr>
          <a:xfrm>
            <a:off x="777240" y="2834640"/>
            <a:ext cx="2240280" cy="685800"/>
          </a:xfrm>
          <a:prstGeom prst="rect">
            <a:avLst/>
          </a:prstGeom>
          <a:noFill/>
          <a:ln/>
        </p:spPr>
        <p:txBody>
          <a:bodyPr wrap="square" lIns="0" tIns="0" rIns="0" bIns="0" rtlCol="0" anchor="t"/>
          <a:lstStyle/>
          <a:p>
            <a:pPr indent="0" marL="0">
              <a:buNone/>
            </a:pPr>
            <a:r>
              <a:rPr lang="en-US" sz="1600" b="1" dirty="0">
                <a:solidFill>
                  <a:schemeClr val="tx2"/>
                </a:solidFill>
              </a:rPr>
              <a:t>Schneider Electric</a:t>
            </a:r>
            <a:endParaRPr lang="en-US" sz="1600" dirty="0"/>
          </a:p>
        </p:txBody>
      </p:sp>
      <p:sp>
        <p:nvSpPr>
          <p:cNvPr id="12" name="Text 10"/>
          <p:cNvSpPr txBox="1"/>
          <p:nvPr/>
        </p:nvSpPr>
        <p:spPr>
          <a:xfrm>
            <a:off x="777240" y="3566160"/>
            <a:ext cx="2240280" cy="1828800"/>
          </a:xfrm>
          <a:prstGeom prst="rect">
            <a:avLst/>
          </a:prstGeom>
          <a:noFill/>
          <a:ln/>
        </p:spPr>
        <p:txBody>
          <a:bodyPr wrap="square" lIns="0" tIns="0" rIns="0" bIns="0" rtlCol="0" anchor="t"/>
          <a:lstStyle/>
          <a:p>
            <a:pPr indent="0" marL="0">
              <a:buNone/>
            </a:pPr>
            <a:r>
              <a:rPr lang="en-US" sz="1400" dirty="0">
                <a:solidFill>
                  <a:schemeClr val="tx1"/>
                </a:solidFill>
              </a:rPr>
              <a:t>suppliers measured their carbon footprint for the first time; 950 now disclose publicly</a:t>
            </a:r>
            <a:endParaRPr lang="en-US" sz="1400" dirty="0"/>
          </a:p>
        </p:txBody>
      </p:sp>
      <p:sp>
        <p:nvSpPr>
          <p:cNvPr id="13" name="Shape 11"/>
          <p:cNvSpPr/>
          <p:nvPr/>
        </p:nvSpPr>
        <p:spPr>
          <a:xfrm>
            <a:off x="3364992" y="1600200"/>
            <a:ext cx="2651760" cy="3291840"/>
          </a:xfrm>
          <a:prstGeom prst="roundRect">
            <a:avLst>
              <a:gd name="adj" fmla="val 2759"/>
            </a:avLst>
          </a:prstGeom>
          <a:solidFill>
            <a:schemeClr val="bg1"/>
          </a:solidFill>
          <a:ln w="12700">
            <a:solidFill>
              <a:schemeClr val="accent6"/>
            </a:solidFill>
            <a:prstDash val="solid"/>
          </a:ln>
        </p:spPr>
      </p:sp>
      <p:sp>
        <p:nvSpPr>
          <p:cNvPr id="14" name="Text 12"/>
          <p:cNvSpPr txBox="1"/>
          <p:nvPr/>
        </p:nvSpPr>
        <p:spPr>
          <a:xfrm>
            <a:off x="3593592" y="1828800"/>
            <a:ext cx="2240280" cy="91440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120+</a:t>
            </a:r>
            <a:endParaRPr lang="en-US" sz="4400" dirty="0"/>
          </a:p>
        </p:txBody>
      </p:sp>
      <p:sp>
        <p:nvSpPr>
          <p:cNvPr id="15" name="Text 13"/>
          <p:cNvSpPr txBox="1"/>
          <p:nvPr/>
        </p:nvSpPr>
        <p:spPr>
          <a:xfrm>
            <a:off x="3593592" y="2834640"/>
            <a:ext cx="2240280" cy="685800"/>
          </a:xfrm>
          <a:prstGeom prst="rect">
            <a:avLst/>
          </a:prstGeom>
          <a:noFill/>
          <a:ln/>
        </p:spPr>
        <p:txBody>
          <a:bodyPr wrap="square" lIns="0" tIns="0" rIns="0" bIns="0" rtlCol="0" anchor="t"/>
          <a:lstStyle/>
          <a:p>
            <a:pPr indent="0" marL="0">
              <a:buNone/>
            </a:pPr>
            <a:r>
              <a:rPr lang="en-US" sz="1600" b="1" dirty="0">
                <a:solidFill>
                  <a:schemeClr val="tx2"/>
                </a:solidFill>
              </a:rPr>
              <a:t>Philips × Zhejiang Haishun (China)</a:t>
            </a:r>
            <a:endParaRPr lang="en-US" sz="1600" dirty="0"/>
          </a:p>
        </p:txBody>
      </p:sp>
      <p:sp>
        <p:nvSpPr>
          <p:cNvPr id="16" name="Text 14"/>
          <p:cNvSpPr txBox="1"/>
          <p:nvPr/>
        </p:nvSpPr>
        <p:spPr>
          <a:xfrm>
            <a:off x="3593592" y="3566160"/>
            <a:ext cx="2240280" cy="1828800"/>
          </a:xfrm>
          <a:prstGeom prst="rect">
            <a:avLst/>
          </a:prstGeom>
          <a:noFill/>
          <a:ln/>
        </p:spPr>
        <p:txBody>
          <a:bodyPr wrap="square" lIns="0" tIns="0" rIns="0" bIns="0" rtlCol="0" anchor="t"/>
          <a:lstStyle/>
          <a:p>
            <a:pPr indent="0" marL="0">
              <a:buNone/>
            </a:pPr>
            <a:r>
              <a:rPr lang="en-US" sz="1400" dirty="0">
                <a:solidFill>
                  <a:schemeClr val="tx1"/>
                </a:solidFill>
              </a:rPr>
              <a:t>improvements found by partnering with the supplier instead of auditing it</a:t>
            </a:r>
            <a:endParaRPr lang="en-US" sz="1400" dirty="0"/>
          </a:p>
        </p:txBody>
      </p:sp>
      <p:sp>
        <p:nvSpPr>
          <p:cNvPr id="17" name="Shape 15"/>
          <p:cNvSpPr/>
          <p:nvPr/>
        </p:nvSpPr>
        <p:spPr>
          <a:xfrm>
            <a:off x="6181344" y="1600200"/>
            <a:ext cx="2651760" cy="3291840"/>
          </a:xfrm>
          <a:prstGeom prst="roundRect">
            <a:avLst>
              <a:gd name="adj" fmla="val 2759"/>
            </a:avLst>
          </a:prstGeom>
          <a:solidFill>
            <a:schemeClr val="bg2"/>
          </a:solidFill>
          <a:ln/>
        </p:spPr>
      </p:sp>
      <p:sp>
        <p:nvSpPr>
          <p:cNvPr id="18" name="Text 16"/>
          <p:cNvSpPr txBox="1"/>
          <p:nvPr/>
        </p:nvSpPr>
        <p:spPr>
          <a:xfrm>
            <a:off x="6409944" y="1828800"/>
            <a:ext cx="2240280" cy="914400"/>
          </a:xfrm>
          <a:prstGeom prst="rect">
            <a:avLst/>
          </a:prstGeom>
          <a:noFill/>
          <a:ln/>
        </p:spPr>
        <p:txBody>
          <a:bodyPr wrap="square" lIns="0" tIns="0" rIns="0" bIns="0" rtlCol="0" anchor="ctr"/>
          <a:lstStyle/>
          <a:p>
            <a:pPr indent="0" marL="0">
              <a:buNone/>
            </a:pPr>
            <a:r>
              <a:rPr lang="en-US" sz="4400" b="1" dirty="0">
                <a:solidFill>
                  <a:schemeClr val="accent2"/>
                </a:solidFill>
                <a:latin typeface="+mj-lt" pitchFamily="34" charset="0"/>
                <a:ea typeface="+mj-lt" pitchFamily="34" charset="-122"/>
                <a:cs typeface="+mj-lt" pitchFamily="34" charset="-120"/>
              </a:rPr>
              <a:t>52%</a:t>
            </a:r>
            <a:endParaRPr lang="en-US" sz="4400" dirty="0"/>
          </a:p>
        </p:txBody>
      </p:sp>
      <p:sp>
        <p:nvSpPr>
          <p:cNvPr id="19" name="Text 17"/>
          <p:cNvSpPr txBox="1"/>
          <p:nvPr/>
        </p:nvSpPr>
        <p:spPr>
          <a:xfrm>
            <a:off x="6409944" y="2834640"/>
            <a:ext cx="2240280" cy="685800"/>
          </a:xfrm>
          <a:prstGeom prst="rect">
            <a:avLst/>
          </a:prstGeom>
          <a:noFill/>
          <a:ln/>
        </p:spPr>
        <p:txBody>
          <a:bodyPr wrap="square" lIns="0" tIns="0" rIns="0" bIns="0" rtlCol="0" anchor="t"/>
          <a:lstStyle/>
          <a:p>
            <a:pPr indent="0" marL="0">
              <a:buNone/>
            </a:pPr>
            <a:r>
              <a:rPr lang="en-US" sz="1600" b="1" dirty="0">
                <a:solidFill>
                  <a:schemeClr val="tx2"/>
                </a:solidFill>
              </a:rPr>
              <a:t>CDP &amp; HSBC, 23,000 suppliers</a:t>
            </a:r>
            <a:endParaRPr lang="en-US" sz="1600" dirty="0"/>
          </a:p>
        </p:txBody>
      </p:sp>
      <p:sp>
        <p:nvSpPr>
          <p:cNvPr id="20" name="Text 18"/>
          <p:cNvSpPr txBox="1"/>
          <p:nvPr/>
        </p:nvSpPr>
        <p:spPr>
          <a:xfrm>
            <a:off x="6409944" y="3566160"/>
            <a:ext cx="2240280" cy="1828800"/>
          </a:xfrm>
          <a:prstGeom prst="rect">
            <a:avLst/>
          </a:prstGeom>
          <a:noFill/>
          <a:ln/>
        </p:spPr>
        <p:txBody>
          <a:bodyPr wrap="square" lIns="0" tIns="0" rIns="0" bIns="0" rtlCol="0" anchor="t"/>
          <a:lstStyle/>
          <a:p>
            <a:pPr indent="0" marL="0">
              <a:buNone/>
            </a:pPr>
            <a:r>
              <a:rPr lang="en-US" sz="1400" dirty="0">
                <a:solidFill>
                  <a:schemeClr val="tx1"/>
                </a:solidFill>
              </a:rPr>
              <a:t>more likely to cut emissions when buyers offer financial incentives, not just training</a:t>
            </a:r>
            <a:endParaRPr lang="en-US" sz="1400" dirty="0"/>
          </a:p>
        </p:txBody>
      </p:sp>
      <p:sp>
        <p:nvSpPr>
          <p:cNvPr id="21" name="Shape 19"/>
          <p:cNvSpPr/>
          <p:nvPr/>
        </p:nvSpPr>
        <p:spPr>
          <a:xfrm>
            <a:off x="8997696" y="1600200"/>
            <a:ext cx="2651760" cy="3291840"/>
          </a:xfrm>
          <a:prstGeom prst="roundRect">
            <a:avLst>
              <a:gd name="adj" fmla="val 2759"/>
            </a:avLst>
          </a:prstGeom>
          <a:solidFill>
            <a:schemeClr val="bg1"/>
          </a:solidFill>
          <a:ln w="12700">
            <a:solidFill>
              <a:schemeClr val="accent6"/>
            </a:solidFill>
            <a:prstDash val="solid"/>
          </a:ln>
        </p:spPr>
      </p:sp>
      <p:sp>
        <p:nvSpPr>
          <p:cNvPr id="22" name="Text 20"/>
          <p:cNvSpPr txBox="1"/>
          <p:nvPr/>
        </p:nvSpPr>
        <p:spPr>
          <a:xfrm>
            <a:off x="9226296" y="1828800"/>
            <a:ext cx="2240280" cy="91440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22%</a:t>
            </a:r>
            <a:endParaRPr lang="en-US" sz="4400" dirty="0"/>
          </a:p>
        </p:txBody>
      </p:sp>
      <p:sp>
        <p:nvSpPr>
          <p:cNvPr id="23" name="Text 21"/>
          <p:cNvSpPr txBox="1"/>
          <p:nvPr/>
        </p:nvSpPr>
        <p:spPr>
          <a:xfrm>
            <a:off x="9226296" y="2834640"/>
            <a:ext cx="2240280" cy="685800"/>
          </a:xfrm>
          <a:prstGeom prst="rect">
            <a:avLst/>
          </a:prstGeom>
          <a:noFill/>
          <a:ln/>
        </p:spPr>
        <p:txBody>
          <a:bodyPr wrap="square" lIns="0" tIns="0" rIns="0" bIns="0" rtlCol="0" anchor="t"/>
          <a:lstStyle/>
          <a:p>
            <a:pPr indent="0" marL="0">
              <a:buNone/>
            </a:pPr>
            <a:r>
              <a:rPr lang="en-US" sz="1600" b="1" dirty="0">
                <a:solidFill>
                  <a:schemeClr val="tx2"/>
                </a:solidFill>
              </a:rPr>
              <a:t>Better Work (ILO / IFC)</a:t>
            </a:r>
            <a:endParaRPr lang="en-US" sz="1600" dirty="0"/>
          </a:p>
        </p:txBody>
      </p:sp>
      <p:sp>
        <p:nvSpPr>
          <p:cNvPr id="24" name="Text 22"/>
          <p:cNvSpPr txBox="1"/>
          <p:nvPr/>
        </p:nvSpPr>
        <p:spPr>
          <a:xfrm>
            <a:off x="9226296" y="3566160"/>
            <a:ext cx="2240280" cy="1828800"/>
          </a:xfrm>
          <a:prstGeom prst="rect">
            <a:avLst/>
          </a:prstGeom>
          <a:noFill/>
          <a:ln/>
        </p:spPr>
        <p:txBody>
          <a:bodyPr wrap="square" lIns="0" tIns="0" rIns="0" bIns="0" rtlCol="0" anchor="t"/>
          <a:lstStyle/>
          <a:p>
            <a:pPr indent="0" marL="0">
              <a:buNone/>
            </a:pPr>
            <a:r>
              <a:rPr lang="en-US" sz="1400" dirty="0">
                <a:solidFill>
                  <a:schemeClr val="tx1"/>
                </a:solidFill>
              </a:rPr>
              <a:t>more productive factory lines after supervisors were trained</a:t>
            </a:r>
            <a:endParaRPr lang="en-US" sz="1400" dirty="0"/>
          </a:p>
        </p:txBody>
      </p:sp>
      <p:sp>
        <p:nvSpPr>
          <p:cNvPr id="25" name="Text 23"/>
          <p:cNvSpPr txBox="1"/>
          <p:nvPr/>
        </p:nvSpPr>
        <p:spPr>
          <a:xfrm>
            <a:off x="548640" y="5166360"/>
            <a:ext cx="11064240" cy="502920"/>
          </a:xfrm>
          <a:prstGeom prst="rect">
            <a:avLst/>
          </a:prstGeom>
          <a:noFill/>
          <a:ln/>
        </p:spPr>
        <p:txBody>
          <a:bodyPr wrap="square" lIns="0" tIns="0" rIns="0" bIns="0" rtlCol="0" anchor="ctr"/>
          <a:lstStyle/>
          <a:p>
            <a:pPr indent="0" marL="0">
              <a:buNone/>
            </a:pPr>
            <a:r>
              <a:rPr lang="en-US" sz="1400" b="1" dirty="0">
                <a:solidFill>
                  <a:schemeClr val="accent1"/>
                </a:solidFill>
              </a:rPr>
              <a:t>Peers set the bar: </a:t>
            </a:r>
            <a:pPr indent="0" marL="0">
              <a:buNone/>
            </a:pPr>
            <a:r>
              <a:rPr lang="en-US" sz="1400" dirty="0">
                <a:solidFill>
                  <a:schemeClr val="tx1"/>
                </a:solidFill>
              </a:rPr>
              <a:t>Stryker targets 85% of direct spend assessed by 2027; Medtronic and Philips tier their support by supplier maturity, as we do.</a:t>
            </a:r>
            <a:endParaRPr lang="en-US" sz="1400" dirty="0"/>
          </a:p>
        </p:txBody>
      </p:sp>
      <p:sp>
        <p:nvSpPr>
          <p:cNvPr id="26" name="Text 24"/>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Schneider Electric 2025; Philips Dec 2021; CDP/HSBC 2024; Better Work (Tufts); full table in backup B2</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Built on the Social Impact Cycle, with tripwires for what could go wrong</a:t>
            </a:r>
            <a:endParaRPr lang="en-US" sz="2800" dirty="0"/>
          </a:p>
        </p:txBody>
      </p:sp>
      <p:sp>
        <p:nvSpPr>
          <p:cNvPr id="3" name="Text 1"/>
          <p:cNvSpPr/>
          <p:nvPr/>
        </p:nvSpPr>
        <p:spPr>
          <a:xfrm>
            <a:off x="1965960" y="1554480"/>
            <a:ext cx="2468880" cy="868680"/>
          </a:xfrm>
          <a:prstGeom prst="roundRect">
            <a:avLst>
              <a:gd name="adj" fmla="val 10526"/>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Love the Problem</a:t>
            </a:r>
            <a:endParaRPr lang="en-US" sz="1400" dirty="0"/>
          </a:p>
          <a:p>
            <a:pPr algn="ctr" indent="0" marL="0">
              <a:buNone/>
            </a:pPr>
            <a:r>
              <a:rPr lang="en-US" sz="1200" dirty="0">
                <a:solidFill>
                  <a:schemeClr val="bg1"/>
                </a:solidFill>
              </a:rPr>
              <a:t>Listening sessions first</a:t>
            </a:r>
            <a:endParaRPr lang="en-US" sz="1400" dirty="0"/>
          </a:p>
        </p:txBody>
      </p:sp>
      <p:sp>
        <p:nvSpPr>
          <p:cNvPr id="4" name="Text 2"/>
          <p:cNvSpPr/>
          <p:nvPr/>
        </p:nvSpPr>
        <p:spPr>
          <a:xfrm>
            <a:off x="3931920" y="3017520"/>
            <a:ext cx="1920240" cy="868680"/>
          </a:xfrm>
          <a:prstGeom prst="roundRect">
            <a:avLst>
              <a:gd name="adj" fmla="val 10526"/>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Design</a:t>
            </a:r>
            <a:endParaRPr lang="en-US" sz="1400" dirty="0"/>
          </a:p>
          <a:p>
            <a:pPr algn="ctr" indent="0" marL="0">
              <a:buNone/>
            </a:pPr>
            <a:r>
              <a:rPr lang="en-US" sz="1200" dirty="0">
                <a:solidFill>
                  <a:schemeClr val="bg1"/>
                </a:solidFill>
              </a:rPr>
              <a:t>Sort + matched help</a:t>
            </a:r>
            <a:endParaRPr lang="en-US" sz="1400" dirty="0"/>
          </a:p>
        </p:txBody>
      </p:sp>
      <p:sp>
        <p:nvSpPr>
          <p:cNvPr id="5" name="Text 3"/>
          <p:cNvSpPr/>
          <p:nvPr/>
        </p:nvSpPr>
        <p:spPr>
          <a:xfrm>
            <a:off x="1965960" y="4480560"/>
            <a:ext cx="2468880" cy="868680"/>
          </a:xfrm>
          <a:prstGeom prst="roundRect">
            <a:avLst>
              <a:gd name="adj" fmla="val 10526"/>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Implement</a:t>
            </a:r>
            <a:endParaRPr lang="en-US" sz="1400" dirty="0"/>
          </a:p>
          <a:p>
            <a:pPr algn="ctr" indent="0" marL="0">
              <a:buNone/>
            </a:pPr>
            <a:r>
              <a:rPr lang="en-US" sz="1200" dirty="0">
                <a:solidFill>
                  <a:schemeClr val="bg1"/>
                </a:solidFill>
              </a:rPr>
              <a:t>Tijuana 12</a:t>
            </a:r>
            <a:endParaRPr lang="en-US" sz="1400" dirty="0"/>
          </a:p>
        </p:txBody>
      </p:sp>
      <p:sp>
        <p:nvSpPr>
          <p:cNvPr id="6" name="Text 4"/>
          <p:cNvSpPr/>
          <p:nvPr/>
        </p:nvSpPr>
        <p:spPr>
          <a:xfrm>
            <a:off x="548640" y="3017520"/>
            <a:ext cx="1920240" cy="868680"/>
          </a:xfrm>
          <a:prstGeom prst="roundRect">
            <a:avLst>
              <a:gd name="adj" fmla="val 10526"/>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Evaluate</a:t>
            </a:r>
            <a:endParaRPr lang="en-US" sz="1400" dirty="0"/>
          </a:p>
          <a:p>
            <a:pPr algn="ctr" indent="0" marL="0">
              <a:buNone/>
            </a:pPr>
            <a:r>
              <a:rPr lang="en-US" sz="1200" dirty="0">
                <a:solidFill>
                  <a:schemeClr val="bg1"/>
                </a:solidFill>
              </a:rPr>
              <a:t>Outputs → outcomes → impact</a:t>
            </a:r>
            <a:endParaRPr lang="en-US" sz="1400" dirty="0"/>
          </a:p>
        </p:txBody>
      </p:sp>
      <p:sp>
        <p:nvSpPr>
          <p:cNvPr id="7" name="Text 5"/>
          <p:cNvSpPr/>
          <p:nvPr/>
        </p:nvSpPr>
        <p:spPr>
          <a:xfrm>
            <a:off x="2606040" y="2880360"/>
            <a:ext cx="1188720" cy="1188720"/>
          </a:xfrm>
          <a:prstGeom prst="ellipse">
            <a:avLst/>
          </a:prstGeom>
          <a:solidFill>
            <a:schemeClr val="bg2"/>
          </a:solidFill>
          <a:ln w="19050">
            <a:solidFill>
              <a:schemeClr val="accent1"/>
            </a:solidFill>
          </a:ln>
        </p:spPr>
        <p:txBody>
          <a:bodyPr wrap="square" lIns="25400" tIns="25400" rIns="25400" bIns="25400" rtlCol="0" anchor="ctr"/>
          <a:lstStyle/>
          <a:p>
            <a:pPr algn="ctr" indent="0" marL="0">
              <a:buNone/>
            </a:pPr>
            <a:r>
              <a:rPr lang="en-US" sz="1300" b="1" dirty="0">
                <a:solidFill>
                  <a:schemeClr val="tx2"/>
                </a:solidFill>
              </a:rPr>
              <a:t>Love the one</a:t>
            </a:r>
            <a:endParaRPr lang="en-US" sz="1300" dirty="0"/>
          </a:p>
        </p:txBody>
      </p:sp>
      <p:sp>
        <p:nvSpPr>
          <p:cNvPr id="8" name="Shape 6"/>
          <p:cNvSpPr/>
          <p:nvPr/>
        </p:nvSpPr>
        <p:spPr>
          <a:xfrm>
            <a:off x="4434840" y="2103120"/>
            <a:ext cx="411480" cy="868680"/>
          </a:xfrm>
          <a:prstGeom prst="line">
            <a:avLst/>
          </a:prstGeom>
          <a:noFill/>
          <a:ln w="12700">
            <a:solidFill>
              <a:srgbClr val="333333"/>
            </a:solidFill>
            <a:prstDash val="solid"/>
            <a:tailEnd type="triangle"/>
          </a:ln>
        </p:spPr>
      </p:sp>
      <p:sp>
        <p:nvSpPr>
          <p:cNvPr id="9" name="Shape 7"/>
          <p:cNvSpPr/>
          <p:nvPr/>
        </p:nvSpPr>
        <p:spPr>
          <a:xfrm flipH="1">
            <a:off x="4434840" y="3931920"/>
            <a:ext cx="411480" cy="548640"/>
          </a:xfrm>
          <a:prstGeom prst="line">
            <a:avLst/>
          </a:prstGeom>
          <a:noFill/>
          <a:ln w="12700">
            <a:solidFill>
              <a:srgbClr val="333333"/>
            </a:solidFill>
            <a:prstDash val="solid"/>
            <a:tailEnd type="triangle"/>
          </a:ln>
        </p:spPr>
      </p:sp>
      <p:sp>
        <p:nvSpPr>
          <p:cNvPr id="10" name="Shape 8"/>
          <p:cNvSpPr/>
          <p:nvPr/>
        </p:nvSpPr>
        <p:spPr>
          <a:xfrm>
            <a:off x="1508760" y="3931920"/>
            <a:ext cx="457200" cy="1005840"/>
          </a:xfrm>
          <a:prstGeom prst="line">
            <a:avLst/>
          </a:prstGeom>
          <a:noFill/>
          <a:ln w="12700">
            <a:solidFill>
              <a:srgbClr val="333333"/>
            </a:solidFill>
            <a:prstDash val="solid"/>
            <a:headEnd type="triangle"/>
          </a:ln>
        </p:spPr>
      </p:sp>
      <p:sp>
        <p:nvSpPr>
          <p:cNvPr id="11" name="Shape 9"/>
          <p:cNvSpPr/>
          <p:nvPr/>
        </p:nvSpPr>
        <p:spPr>
          <a:xfrm flipH="1">
            <a:off x="1508760" y="2011680"/>
            <a:ext cx="457200" cy="960120"/>
          </a:xfrm>
          <a:prstGeom prst="line">
            <a:avLst/>
          </a:prstGeom>
          <a:noFill/>
          <a:ln w="12700">
            <a:solidFill>
              <a:srgbClr val="333333"/>
            </a:solidFill>
            <a:prstDash val="solid"/>
            <a:headEnd type="triangle"/>
          </a:ln>
        </p:spPr>
      </p:sp>
      <p:sp>
        <p:nvSpPr>
          <p:cNvPr id="12" name="Text 10"/>
          <p:cNvSpPr txBox="1"/>
          <p:nvPr/>
        </p:nvSpPr>
        <p:spPr>
          <a:xfrm>
            <a:off x="6309360" y="1508760"/>
            <a:ext cx="5303520" cy="365760"/>
          </a:xfrm>
          <a:prstGeom prst="rect">
            <a:avLst/>
          </a:prstGeom>
          <a:noFill/>
          <a:ln/>
        </p:spPr>
        <p:txBody>
          <a:bodyPr wrap="square" lIns="0" tIns="0" rIns="0" bIns="0" rtlCol="0" anchor="t"/>
          <a:lstStyle/>
          <a:p>
            <a:pPr indent="0" marL="0">
              <a:buNone/>
            </a:pPr>
            <a:r>
              <a:rPr lang="en-US" sz="1600" b="1" dirty="0">
                <a:solidFill>
                  <a:schemeClr val="accent2"/>
                </a:solidFill>
              </a:rPr>
              <a:t>Harm → tripwire</a:t>
            </a:r>
            <a:endParaRPr lang="en-US" sz="1600" dirty="0"/>
          </a:p>
        </p:txBody>
      </p:sp>
      <p:sp>
        <p:nvSpPr>
          <p:cNvPr id="13" name="Shape 11"/>
          <p:cNvSpPr/>
          <p:nvPr/>
        </p:nvSpPr>
        <p:spPr>
          <a:xfrm>
            <a:off x="6309360" y="1920240"/>
            <a:ext cx="5303520" cy="566928"/>
          </a:xfrm>
          <a:prstGeom prst="roundRect">
            <a:avLst>
              <a:gd name="adj" fmla="val 12903"/>
            </a:avLst>
          </a:prstGeom>
          <a:solidFill>
            <a:schemeClr val="bg2"/>
          </a:solidFill>
          <a:ln/>
        </p:spPr>
      </p:sp>
      <p:sp>
        <p:nvSpPr>
          <p:cNvPr id="14" name="Text 12"/>
          <p:cNvSpPr txBox="1"/>
          <p:nvPr/>
        </p:nvSpPr>
        <p:spPr>
          <a:xfrm>
            <a:off x="6492240" y="1920240"/>
            <a:ext cx="5029200" cy="566928"/>
          </a:xfrm>
          <a:prstGeom prst="rect">
            <a:avLst/>
          </a:prstGeom>
          <a:noFill/>
          <a:ln/>
        </p:spPr>
        <p:txBody>
          <a:bodyPr wrap="square" lIns="0" tIns="0" rIns="0" bIns="0" rtlCol="0" anchor="ctr"/>
          <a:lstStyle/>
          <a:p>
            <a:pPr indent="0" marL="0">
              <a:buNone/>
            </a:pPr>
            <a:r>
              <a:rPr lang="en-US" sz="1400" b="1" dirty="0">
                <a:solidFill>
                  <a:schemeClr val="tx1"/>
                </a:solidFill>
              </a:rPr>
              <a:t>Dependency on Merit's help</a:t>
            </a:r>
            <a:pPr indent="0" marL="0">
              <a:buNone/>
            </a:pPr>
            <a:r>
              <a:rPr lang="en-US" sz="1400" dirty="0">
                <a:solidFill>
                  <a:schemeClr val="accent1"/>
                </a:solidFill>
              </a:rPr>
              <a:t>  →  time-boxed, capped support</a:t>
            </a:r>
            <a:endParaRPr lang="en-US" sz="1400" dirty="0"/>
          </a:p>
        </p:txBody>
      </p:sp>
      <p:sp>
        <p:nvSpPr>
          <p:cNvPr id="15" name="Shape 13"/>
          <p:cNvSpPr/>
          <p:nvPr/>
        </p:nvSpPr>
        <p:spPr>
          <a:xfrm>
            <a:off x="6309360" y="2578608"/>
            <a:ext cx="5303520" cy="566928"/>
          </a:xfrm>
          <a:prstGeom prst="roundRect">
            <a:avLst>
              <a:gd name="adj" fmla="val 12903"/>
            </a:avLst>
          </a:prstGeom>
          <a:solidFill>
            <a:schemeClr val="bg2"/>
          </a:solidFill>
          <a:ln/>
        </p:spPr>
      </p:sp>
      <p:sp>
        <p:nvSpPr>
          <p:cNvPr id="16" name="Text 14"/>
          <p:cNvSpPr txBox="1"/>
          <p:nvPr/>
        </p:nvSpPr>
        <p:spPr>
          <a:xfrm>
            <a:off x="6492240" y="2578608"/>
            <a:ext cx="5029200" cy="566928"/>
          </a:xfrm>
          <a:prstGeom prst="rect">
            <a:avLst/>
          </a:prstGeom>
          <a:noFill/>
          <a:ln/>
        </p:spPr>
        <p:txBody>
          <a:bodyPr wrap="square" lIns="0" tIns="0" rIns="0" bIns="0" rtlCol="0" anchor="ctr"/>
          <a:lstStyle/>
          <a:p>
            <a:pPr indent="0" marL="0">
              <a:buNone/>
            </a:pPr>
            <a:r>
              <a:rPr lang="en-US" sz="1400" b="1" dirty="0">
                <a:solidFill>
                  <a:schemeClr val="tx1"/>
                </a:solidFill>
              </a:rPr>
              <a:t>Paperwork without practice</a:t>
            </a:r>
            <a:pPr indent="0" marL="0">
              <a:buNone/>
            </a:pPr>
            <a:r>
              <a:rPr lang="en-US" sz="1400" dirty="0">
                <a:solidFill>
                  <a:schemeClr val="accent1"/>
                </a:solidFill>
              </a:rPr>
              <a:t>  →  third-party evidence review</a:t>
            </a:r>
            <a:endParaRPr lang="en-US" sz="1400" dirty="0"/>
          </a:p>
        </p:txBody>
      </p:sp>
      <p:sp>
        <p:nvSpPr>
          <p:cNvPr id="17" name="Shape 15"/>
          <p:cNvSpPr/>
          <p:nvPr/>
        </p:nvSpPr>
        <p:spPr>
          <a:xfrm>
            <a:off x="6309360" y="3236976"/>
            <a:ext cx="5303520" cy="566928"/>
          </a:xfrm>
          <a:prstGeom prst="roundRect">
            <a:avLst>
              <a:gd name="adj" fmla="val 12903"/>
            </a:avLst>
          </a:prstGeom>
          <a:solidFill>
            <a:schemeClr val="bg2"/>
          </a:solidFill>
          <a:ln/>
        </p:spPr>
      </p:sp>
      <p:sp>
        <p:nvSpPr>
          <p:cNvPr id="18" name="Text 16"/>
          <p:cNvSpPr txBox="1"/>
          <p:nvPr/>
        </p:nvSpPr>
        <p:spPr>
          <a:xfrm>
            <a:off x="6492240" y="3236976"/>
            <a:ext cx="5029200" cy="566928"/>
          </a:xfrm>
          <a:prstGeom prst="rect">
            <a:avLst/>
          </a:prstGeom>
          <a:noFill/>
          <a:ln/>
        </p:spPr>
        <p:txBody>
          <a:bodyPr wrap="square" lIns="0" tIns="0" rIns="0" bIns="0" rtlCol="0" anchor="ctr"/>
          <a:lstStyle/>
          <a:p>
            <a:pPr indent="0" marL="0">
              <a:buNone/>
            </a:pPr>
            <a:r>
              <a:rPr lang="en-US" sz="1400" b="1" dirty="0">
                <a:solidFill>
                  <a:schemeClr val="tx1"/>
                </a:solidFill>
              </a:rPr>
              <a:t>Supplier exits or passes on cost</a:t>
            </a:r>
            <a:pPr indent="0" marL="0">
              <a:buNone/>
            </a:pPr>
            <a:r>
              <a:rPr lang="en-US" sz="1400" dirty="0">
                <a:solidFill>
                  <a:schemeClr val="accent1"/>
                </a:solidFill>
              </a:rPr>
              <a:t>  →  retention 100%; no Y1 penalties</a:t>
            </a:r>
            <a:endParaRPr lang="en-US" sz="1400" dirty="0"/>
          </a:p>
        </p:txBody>
      </p:sp>
      <p:sp>
        <p:nvSpPr>
          <p:cNvPr id="19" name="Shape 17"/>
          <p:cNvSpPr/>
          <p:nvPr/>
        </p:nvSpPr>
        <p:spPr>
          <a:xfrm>
            <a:off x="6309360" y="3895344"/>
            <a:ext cx="5303520" cy="566928"/>
          </a:xfrm>
          <a:prstGeom prst="roundRect">
            <a:avLst>
              <a:gd name="adj" fmla="val 12903"/>
            </a:avLst>
          </a:prstGeom>
          <a:solidFill>
            <a:schemeClr val="bg2"/>
          </a:solidFill>
          <a:ln/>
        </p:spPr>
      </p:sp>
      <p:sp>
        <p:nvSpPr>
          <p:cNvPr id="20" name="Text 18"/>
          <p:cNvSpPr txBox="1"/>
          <p:nvPr/>
        </p:nvSpPr>
        <p:spPr>
          <a:xfrm>
            <a:off x="6492240" y="3895344"/>
            <a:ext cx="5029200" cy="566928"/>
          </a:xfrm>
          <a:prstGeom prst="rect">
            <a:avLst/>
          </a:prstGeom>
          <a:noFill/>
          <a:ln/>
        </p:spPr>
        <p:txBody>
          <a:bodyPr wrap="square" lIns="0" tIns="0" rIns="0" bIns="0" rtlCol="0" anchor="ctr"/>
          <a:lstStyle/>
          <a:p>
            <a:pPr indent="0" marL="0">
              <a:buNone/>
            </a:pPr>
            <a:r>
              <a:rPr lang="en-US" sz="1400" b="1" dirty="0">
                <a:solidFill>
                  <a:schemeClr val="tx1"/>
                </a:solidFill>
              </a:rPr>
              <a:t>Hour cuts lower take-home pay</a:t>
            </a:r>
            <a:pPr indent="0" marL="0">
              <a:buNone/>
            </a:pPr>
            <a:r>
              <a:rPr lang="en-US" sz="1400" dirty="0">
                <a:solidFill>
                  <a:schemeClr val="accent1"/>
                </a:solidFill>
              </a:rPr>
              <a:t>  →  weekly pay must hold</a:t>
            </a:r>
            <a:endParaRPr lang="en-US" sz="1400" dirty="0"/>
          </a:p>
        </p:txBody>
      </p:sp>
      <p:sp>
        <p:nvSpPr>
          <p:cNvPr id="21" name="Shape 19"/>
          <p:cNvSpPr/>
          <p:nvPr/>
        </p:nvSpPr>
        <p:spPr>
          <a:xfrm>
            <a:off x="6309360" y="4553712"/>
            <a:ext cx="5303520" cy="566928"/>
          </a:xfrm>
          <a:prstGeom prst="roundRect">
            <a:avLst>
              <a:gd name="adj" fmla="val 12903"/>
            </a:avLst>
          </a:prstGeom>
          <a:solidFill>
            <a:schemeClr val="bg2"/>
          </a:solidFill>
          <a:ln/>
        </p:spPr>
      </p:sp>
      <p:sp>
        <p:nvSpPr>
          <p:cNvPr id="22" name="Text 20"/>
          <p:cNvSpPr txBox="1"/>
          <p:nvPr/>
        </p:nvSpPr>
        <p:spPr>
          <a:xfrm>
            <a:off x="6492240" y="4553712"/>
            <a:ext cx="5029200" cy="566928"/>
          </a:xfrm>
          <a:prstGeom prst="rect">
            <a:avLst/>
          </a:prstGeom>
          <a:noFill/>
          <a:ln/>
        </p:spPr>
        <p:txBody>
          <a:bodyPr wrap="square" lIns="0" tIns="0" rIns="0" bIns="0" rtlCol="0" anchor="ctr"/>
          <a:lstStyle/>
          <a:p>
            <a:pPr indent="0" marL="0">
              <a:buNone/>
            </a:pPr>
            <a:r>
              <a:rPr lang="en-US" sz="1400" b="1" dirty="0">
                <a:solidFill>
                  <a:schemeClr val="tx1"/>
                </a:solidFill>
              </a:rPr>
              <a:t>Supplier data exposed</a:t>
            </a:r>
            <a:pPr indent="0" marL="0">
              <a:buNone/>
            </a:pPr>
            <a:r>
              <a:rPr lang="en-US" sz="1400" dirty="0">
                <a:solidFill>
                  <a:schemeClr val="accent1"/>
                </a:solidFill>
              </a:rPr>
              <a:t>  →  stays on-site; supplier approves</a:t>
            </a:r>
            <a:endParaRPr lang="en-US" sz="1400" dirty="0"/>
          </a:p>
        </p:txBody>
      </p:sp>
      <p:sp>
        <p:nvSpPr>
          <p:cNvPr id="23" name="Text 21"/>
          <p:cNvSpPr/>
          <p:nvPr/>
        </p:nvSpPr>
        <p:spPr>
          <a:xfrm>
            <a:off x="548640" y="5596128"/>
            <a:ext cx="1901952" cy="548640"/>
          </a:xfrm>
          <a:prstGeom prst="chevron">
            <a:avLst/>
          </a:prstGeom>
          <a:solidFill>
            <a:schemeClr val="accent6"/>
          </a:solidFill>
          <a:ln/>
        </p:spPr>
        <p:txBody>
          <a:bodyPr wrap="square" lIns="0" tIns="3810" rIns="3175" bIns="0" rtlCol="0" anchor="ctr"/>
          <a:lstStyle/>
          <a:p>
            <a:pPr algn="ctr" indent="0" marL="0">
              <a:buNone/>
            </a:pPr>
            <a:r>
              <a:rPr lang="en-US" sz="1100" dirty="0">
                <a:solidFill>
                  <a:schemeClr val="tx1"/>
                </a:solidFill>
              </a:rPr>
              <a:t>Unmitigated harm</a:t>
            </a:r>
            <a:endParaRPr lang="en-US" sz="1100" dirty="0"/>
          </a:p>
        </p:txBody>
      </p:sp>
      <p:sp>
        <p:nvSpPr>
          <p:cNvPr id="24" name="Text 22"/>
          <p:cNvSpPr/>
          <p:nvPr/>
        </p:nvSpPr>
        <p:spPr>
          <a:xfrm>
            <a:off x="2395728" y="5596128"/>
            <a:ext cx="1901952" cy="548640"/>
          </a:xfrm>
          <a:prstGeom prst="chevron">
            <a:avLst/>
          </a:prstGeom>
          <a:solidFill>
            <a:schemeClr val="accent6"/>
          </a:solidFill>
          <a:ln/>
        </p:spPr>
        <p:txBody>
          <a:bodyPr wrap="square" lIns="0" tIns="3810" rIns="3175" bIns="0" rtlCol="0" anchor="ctr"/>
          <a:lstStyle/>
          <a:p>
            <a:pPr algn="ctr" indent="0" marL="0">
              <a:buNone/>
            </a:pPr>
            <a:r>
              <a:rPr lang="en-US" sz="1100" dirty="0">
                <a:solidFill>
                  <a:schemeClr val="tx1"/>
                </a:solidFill>
              </a:rPr>
              <a:t>Mitigating harm</a:t>
            </a:r>
            <a:endParaRPr lang="en-US" sz="1100" dirty="0"/>
          </a:p>
        </p:txBody>
      </p:sp>
      <p:sp>
        <p:nvSpPr>
          <p:cNvPr id="25" name="Text 23"/>
          <p:cNvSpPr/>
          <p:nvPr/>
        </p:nvSpPr>
        <p:spPr>
          <a:xfrm>
            <a:off x="4242816" y="5596128"/>
            <a:ext cx="1901952" cy="548640"/>
          </a:xfrm>
          <a:prstGeom prst="chevron">
            <a:avLst/>
          </a:prstGeom>
          <a:solidFill>
            <a:schemeClr val="accent6"/>
          </a:solidFill>
          <a:ln/>
        </p:spPr>
        <p:txBody>
          <a:bodyPr wrap="square" lIns="0" tIns="3810" rIns="3175" bIns="0" rtlCol="0" anchor="ctr"/>
          <a:lstStyle/>
          <a:p>
            <a:pPr algn="ctr" indent="0" marL="0">
              <a:buNone/>
            </a:pPr>
            <a:r>
              <a:rPr lang="en-US" sz="1100" dirty="0">
                <a:solidFill>
                  <a:schemeClr val="tx1"/>
                </a:solidFill>
              </a:rPr>
              <a:t>Internal initiatives</a:t>
            </a:r>
            <a:endParaRPr lang="en-US" sz="1100" dirty="0"/>
          </a:p>
        </p:txBody>
      </p:sp>
      <p:sp>
        <p:nvSpPr>
          <p:cNvPr id="26" name="Text 24"/>
          <p:cNvSpPr/>
          <p:nvPr/>
        </p:nvSpPr>
        <p:spPr>
          <a:xfrm>
            <a:off x="6089904" y="5596128"/>
            <a:ext cx="1901952" cy="548640"/>
          </a:xfrm>
          <a:prstGeom prst="chevron">
            <a:avLst/>
          </a:prstGeom>
          <a:solidFill>
            <a:schemeClr val="accent6"/>
          </a:solidFill>
          <a:ln/>
        </p:spPr>
        <p:txBody>
          <a:bodyPr wrap="square" lIns="0" tIns="3810" rIns="3175" bIns="0" rtlCol="0" anchor="ctr"/>
          <a:lstStyle/>
          <a:p>
            <a:pPr algn="ctr" indent="0" marL="0">
              <a:buNone/>
            </a:pPr>
            <a:r>
              <a:rPr lang="en-US" sz="1100" dirty="0">
                <a:solidFill>
                  <a:schemeClr val="tx1"/>
                </a:solidFill>
              </a:rPr>
              <a:t>Offsets / philanthropy</a:t>
            </a:r>
            <a:endParaRPr lang="en-US" sz="1100" dirty="0"/>
          </a:p>
        </p:txBody>
      </p:sp>
      <p:sp>
        <p:nvSpPr>
          <p:cNvPr id="27" name="Text 25"/>
          <p:cNvSpPr/>
          <p:nvPr/>
        </p:nvSpPr>
        <p:spPr>
          <a:xfrm>
            <a:off x="7936992" y="5596128"/>
            <a:ext cx="1901952" cy="548640"/>
          </a:xfrm>
          <a:prstGeom prst="chevron">
            <a:avLst/>
          </a:prstGeom>
          <a:solidFill>
            <a:schemeClr val="accent6"/>
          </a:solidFill>
          <a:ln/>
        </p:spPr>
        <p:txBody>
          <a:bodyPr wrap="square" lIns="0" tIns="3810" rIns="3175" bIns="0" rtlCol="0" anchor="ctr"/>
          <a:lstStyle/>
          <a:p>
            <a:pPr algn="ctr" indent="0" marL="0">
              <a:buNone/>
            </a:pPr>
            <a:r>
              <a:rPr lang="en-US" sz="1100" dirty="0">
                <a:solidFill>
                  <a:schemeClr val="tx1"/>
                </a:solidFill>
              </a:rPr>
              <a:t>Prosocial marketing</a:t>
            </a:r>
            <a:endParaRPr lang="en-US" sz="1100" dirty="0"/>
          </a:p>
        </p:txBody>
      </p:sp>
      <p:sp>
        <p:nvSpPr>
          <p:cNvPr id="28" name="Text 26"/>
          <p:cNvSpPr/>
          <p:nvPr/>
        </p:nvSpPr>
        <p:spPr>
          <a:xfrm>
            <a:off x="9784080" y="5596128"/>
            <a:ext cx="1901952" cy="548640"/>
          </a:xfrm>
          <a:prstGeom prst="chevron">
            <a:avLst/>
          </a:prstGeom>
          <a:solidFill>
            <a:schemeClr val="accent1"/>
          </a:solidFill>
          <a:ln/>
        </p:spPr>
        <p:txBody>
          <a:bodyPr wrap="square" lIns="0" tIns="3810" rIns="3175" bIns="0" rtlCol="0" anchor="ctr"/>
          <a:lstStyle/>
          <a:p>
            <a:pPr algn="ctr" indent="0" marL="0">
              <a:buNone/>
            </a:pPr>
            <a:r>
              <a:rPr lang="en-US" sz="1100" b="1" dirty="0">
                <a:solidFill>
                  <a:schemeClr val="bg1"/>
                </a:solidFill>
              </a:rPr>
              <a:t>Socially strategic</a:t>
            </a:r>
            <a:endParaRPr lang="en-US" sz="1100" dirty="0"/>
          </a:p>
        </p:txBody>
      </p:sp>
      <p:sp>
        <p:nvSpPr>
          <p:cNvPr id="29" name="Text 27"/>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Ballard Center Social Impact Cycle and Journey; Wharton on TOMS</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Carrying Merit's mission, vision and values down the supply chain</a:t>
            </a:r>
            <a:endParaRPr lang="en-US" sz="2800" dirty="0"/>
          </a:p>
        </p:txBody>
      </p:sp>
      <p:sp>
        <p:nvSpPr>
          <p:cNvPr id="3" name="Shape 1"/>
          <p:cNvSpPr/>
          <p:nvPr/>
        </p:nvSpPr>
        <p:spPr>
          <a:xfrm>
            <a:off x="548640" y="1508760"/>
            <a:ext cx="6766560" cy="640080"/>
          </a:xfrm>
          <a:prstGeom prst="roundRect">
            <a:avLst>
              <a:gd name="adj" fmla="val 11429"/>
            </a:avLst>
          </a:prstGeom>
          <a:solidFill>
            <a:schemeClr val="bg2"/>
          </a:solidFill>
          <a:ln/>
        </p:spPr>
      </p:sp>
      <p:sp>
        <p:nvSpPr>
          <p:cNvPr id="4" name="Text 2"/>
          <p:cNvSpPr txBox="1"/>
          <p:nvPr/>
        </p:nvSpPr>
        <p:spPr>
          <a:xfrm>
            <a:off x="731520" y="1508760"/>
            <a:ext cx="6492240" cy="640080"/>
          </a:xfrm>
          <a:prstGeom prst="rect">
            <a:avLst/>
          </a:prstGeom>
          <a:noFill/>
          <a:ln/>
        </p:spPr>
        <p:txBody>
          <a:bodyPr wrap="square" lIns="0" tIns="0" rIns="0" bIns="0" rtlCol="0" anchor="ctr"/>
          <a:lstStyle/>
          <a:p>
            <a:pPr indent="0" marL="0">
              <a:buNone/>
            </a:pPr>
            <a:r>
              <a:rPr lang="en-US" sz="1400" b="1" dirty="0">
                <a:solidFill>
                  <a:schemeClr val="accent1"/>
                </a:solidFill>
              </a:rPr>
              <a:t>Vision  </a:t>
            </a:r>
            <a:pPr indent="0" marL="0">
              <a:buNone/>
            </a:pPr>
            <a:r>
              <a:rPr lang="en-US" sz="1400" dirty="0">
                <a:solidFill>
                  <a:schemeClr val="tx1"/>
                </a:solidFill>
              </a:rPr>
              <a:t>"The most customer-focused company in healthcare." That customer is a patient waiting on a device.</a:t>
            </a:r>
            <a:endParaRPr lang="en-US" sz="1400" dirty="0"/>
          </a:p>
        </p:txBody>
      </p:sp>
      <p:sp>
        <p:nvSpPr>
          <p:cNvPr id="5" name="Text 3"/>
          <p:cNvSpPr/>
          <p:nvPr/>
        </p:nvSpPr>
        <p:spPr>
          <a:xfrm>
            <a:off x="548640" y="2286000"/>
            <a:ext cx="2194560" cy="1188720"/>
          </a:xfrm>
          <a:prstGeom prst="roundRect">
            <a:avLst>
              <a:gd name="adj" fmla="val 6154"/>
            </a:avLst>
          </a:prstGeom>
          <a:solidFill>
            <a:schemeClr val="accent1"/>
          </a:solidFill>
          <a:ln/>
        </p:spPr>
        <p:txBody>
          <a:bodyPr wrap="square" lIns="101600" tIns="101600" rIns="101600" bIns="101600" rtlCol="0" anchor="ctr"/>
          <a:lstStyle/>
          <a:p>
            <a:pPr indent="0" marL="0">
              <a:buNone/>
            </a:pPr>
            <a:r>
              <a:rPr lang="en-US" sz="1600" b="1" dirty="0">
                <a:solidFill>
                  <a:schemeClr val="bg1"/>
                </a:solidFill>
              </a:rPr>
              <a:t>Understand</a:t>
            </a:r>
            <a:endParaRPr lang="en-US" sz="1600" dirty="0"/>
          </a:p>
          <a:p>
            <a:pPr indent="0" marL="0">
              <a:buNone/>
            </a:pPr>
            <a:r>
              <a:rPr lang="en-US" sz="1200" dirty="0">
                <a:solidFill>
                  <a:schemeClr val="bg1"/>
                </a:solidFill>
              </a:rPr>
              <a:t>Ask suppliers what's blocking them first</a:t>
            </a:r>
            <a:endParaRPr lang="en-US" sz="1600" dirty="0"/>
          </a:p>
        </p:txBody>
      </p:sp>
      <p:sp>
        <p:nvSpPr>
          <p:cNvPr id="6" name="Text 4"/>
          <p:cNvSpPr/>
          <p:nvPr/>
        </p:nvSpPr>
        <p:spPr>
          <a:xfrm>
            <a:off x="2834640" y="2286000"/>
            <a:ext cx="2194560" cy="1188720"/>
          </a:xfrm>
          <a:prstGeom prst="roundRect">
            <a:avLst>
              <a:gd name="adj" fmla="val 6154"/>
            </a:avLst>
          </a:prstGeom>
          <a:solidFill>
            <a:schemeClr val="accent1"/>
          </a:solidFill>
          <a:ln/>
        </p:spPr>
        <p:txBody>
          <a:bodyPr wrap="square" lIns="101600" tIns="101600" rIns="101600" bIns="101600" rtlCol="0" anchor="ctr"/>
          <a:lstStyle/>
          <a:p>
            <a:pPr indent="0" marL="0">
              <a:buNone/>
            </a:pPr>
            <a:r>
              <a:rPr lang="en-US" sz="1600" b="1" dirty="0">
                <a:solidFill>
                  <a:schemeClr val="bg1"/>
                </a:solidFill>
              </a:rPr>
              <a:t>Innovate</a:t>
            </a:r>
            <a:endParaRPr lang="en-US" sz="1600" dirty="0"/>
          </a:p>
          <a:p>
            <a:pPr indent="0" marL="0">
              <a:buNone/>
            </a:pPr>
            <a:r>
              <a:rPr lang="en-US" sz="1200" dirty="0">
                <a:solidFill>
                  <a:schemeClr val="bg1"/>
                </a:solidFill>
              </a:rPr>
              <a:t>An AI assistant that keeps their data in their hands</a:t>
            </a:r>
            <a:endParaRPr lang="en-US" sz="1600" dirty="0"/>
          </a:p>
        </p:txBody>
      </p:sp>
      <p:sp>
        <p:nvSpPr>
          <p:cNvPr id="7" name="Text 5"/>
          <p:cNvSpPr/>
          <p:nvPr/>
        </p:nvSpPr>
        <p:spPr>
          <a:xfrm>
            <a:off x="5120640" y="2286000"/>
            <a:ext cx="2194560" cy="1188720"/>
          </a:xfrm>
          <a:prstGeom prst="roundRect">
            <a:avLst>
              <a:gd name="adj" fmla="val 6154"/>
            </a:avLst>
          </a:prstGeom>
          <a:solidFill>
            <a:schemeClr val="accent1"/>
          </a:solidFill>
          <a:ln/>
        </p:spPr>
        <p:txBody>
          <a:bodyPr wrap="square" lIns="101600" tIns="101600" rIns="101600" bIns="101600" rtlCol="0" anchor="ctr"/>
          <a:lstStyle/>
          <a:p>
            <a:pPr indent="0" marL="0">
              <a:buNone/>
            </a:pPr>
            <a:r>
              <a:rPr lang="en-US" sz="1600" b="1" dirty="0">
                <a:solidFill>
                  <a:schemeClr val="bg1"/>
                </a:solidFill>
              </a:rPr>
              <a:t>Deliver</a:t>
            </a:r>
            <a:endParaRPr lang="en-US" sz="1600" dirty="0"/>
          </a:p>
          <a:p>
            <a:pPr indent="0" marL="0">
              <a:buNone/>
            </a:pPr>
            <a:r>
              <a:rPr lang="en-US" sz="1200" dirty="0">
                <a:solidFill>
                  <a:schemeClr val="bg1"/>
                </a:solidFill>
              </a:rPr>
              <a:t>Critical parts keep reaching patients</a:t>
            </a:r>
            <a:endParaRPr lang="en-US" sz="1600" dirty="0"/>
          </a:p>
        </p:txBody>
      </p:sp>
      <p:sp>
        <p:nvSpPr>
          <p:cNvPr id="8" name="Text 6"/>
          <p:cNvSpPr txBox="1"/>
          <p:nvPr/>
        </p:nvSpPr>
        <p:spPr>
          <a:xfrm>
            <a:off x="548640" y="3520440"/>
            <a:ext cx="1828800" cy="274320"/>
          </a:xfrm>
          <a:prstGeom prst="rect">
            <a:avLst/>
          </a:prstGeom>
          <a:noFill/>
          <a:ln/>
        </p:spPr>
        <p:txBody>
          <a:bodyPr wrap="square" lIns="0" tIns="0" rIns="0" bIns="0" rtlCol="0" anchor="t"/>
          <a:lstStyle/>
          <a:p>
            <a:pPr indent="0" marL="0">
              <a:buNone/>
            </a:pPr>
            <a:r>
              <a:rPr lang="en-US" sz="1100" i="1" dirty="0">
                <a:solidFill>
                  <a:schemeClr val="accent3"/>
                </a:solidFill>
              </a:rPr>
              <a:t>Mission</a:t>
            </a:r>
            <a:endParaRPr lang="en-US" sz="1100" dirty="0"/>
          </a:p>
        </p:txBody>
      </p:sp>
      <p:sp>
        <p:nvSpPr>
          <p:cNvPr id="9" name="Text 7"/>
          <p:cNvSpPr/>
          <p:nvPr/>
        </p:nvSpPr>
        <p:spPr>
          <a:xfrm>
            <a:off x="868680" y="3977640"/>
            <a:ext cx="594360" cy="594360"/>
          </a:xfrm>
          <a:prstGeom prst="ellipse">
            <a:avLst/>
          </a:prstGeom>
          <a:solidFill>
            <a:schemeClr val="tx2"/>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H</a:t>
            </a:r>
            <a:endParaRPr lang="en-US" sz="2000" dirty="0"/>
          </a:p>
        </p:txBody>
      </p:sp>
      <p:sp>
        <p:nvSpPr>
          <p:cNvPr id="10" name="Text 8"/>
          <p:cNvSpPr txBox="1"/>
          <p:nvPr/>
        </p:nvSpPr>
        <p:spPr>
          <a:xfrm>
            <a:off x="548640" y="4663440"/>
            <a:ext cx="1280160" cy="1097280"/>
          </a:xfrm>
          <a:prstGeom prst="rect">
            <a:avLst/>
          </a:prstGeom>
          <a:noFill/>
          <a:ln/>
        </p:spPr>
        <p:txBody>
          <a:bodyPr wrap="square" lIns="0" tIns="0" rIns="0" bIns="0" rtlCol="0" anchor="t"/>
          <a:lstStyle/>
          <a:p>
            <a:pPr algn="ctr" indent="0" marL="0">
              <a:buNone/>
            </a:pPr>
            <a:r>
              <a:rPr lang="en-US" sz="1300" b="1" dirty="0">
                <a:solidFill>
                  <a:schemeClr val="tx2"/>
                </a:solidFill>
              </a:rPr>
              <a:t>Health</a:t>
            </a:r>
            <a:endParaRPr lang="en-US" sz="1300" dirty="0"/>
          </a:p>
          <a:p>
            <a:pPr algn="ctr" indent="0" marL="0">
              <a:buNone/>
            </a:pPr>
            <a:r>
              <a:rPr lang="en-US" sz="1200" dirty="0">
                <a:solidFill>
                  <a:schemeClr val="tx1"/>
                </a:solidFill>
              </a:rPr>
              <a:t>Workers and patients protected</a:t>
            </a:r>
            <a:endParaRPr lang="en-US" sz="1300" dirty="0"/>
          </a:p>
        </p:txBody>
      </p:sp>
      <p:sp>
        <p:nvSpPr>
          <p:cNvPr id="11" name="Text 9"/>
          <p:cNvSpPr/>
          <p:nvPr/>
        </p:nvSpPr>
        <p:spPr>
          <a:xfrm>
            <a:off x="2240280" y="3977640"/>
            <a:ext cx="594360" cy="594360"/>
          </a:xfrm>
          <a:prstGeom prst="ellipse">
            <a:avLst/>
          </a:prstGeom>
          <a:solidFill>
            <a:schemeClr val="tx2"/>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E</a:t>
            </a:r>
            <a:endParaRPr lang="en-US" sz="2000" dirty="0"/>
          </a:p>
        </p:txBody>
      </p:sp>
      <p:sp>
        <p:nvSpPr>
          <p:cNvPr id="12" name="Text 10"/>
          <p:cNvSpPr txBox="1"/>
          <p:nvPr/>
        </p:nvSpPr>
        <p:spPr>
          <a:xfrm>
            <a:off x="1920240" y="4663440"/>
            <a:ext cx="1280160" cy="1097280"/>
          </a:xfrm>
          <a:prstGeom prst="rect">
            <a:avLst/>
          </a:prstGeom>
          <a:noFill/>
          <a:ln/>
        </p:spPr>
        <p:txBody>
          <a:bodyPr wrap="square" lIns="0" tIns="0" rIns="0" bIns="0" rtlCol="0" anchor="t"/>
          <a:lstStyle/>
          <a:p>
            <a:pPr algn="ctr" indent="0" marL="0">
              <a:buNone/>
            </a:pPr>
            <a:r>
              <a:rPr lang="en-US" sz="1300" b="1" dirty="0">
                <a:solidFill>
                  <a:schemeClr val="tx2"/>
                </a:solidFill>
              </a:rPr>
              <a:t>Excellence</a:t>
            </a:r>
            <a:endParaRPr lang="en-US" sz="1300" dirty="0"/>
          </a:p>
          <a:p>
            <a:pPr algn="ctr" indent="0" marL="0">
              <a:buNone/>
            </a:pPr>
            <a:r>
              <a:rPr lang="en-US" sz="1200" dirty="0">
                <a:solidFill>
                  <a:schemeClr val="tx1"/>
                </a:solidFill>
              </a:rPr>
              <a:t>Same bar for every partner</a:t>
            </a:r>
            <a:endParaRPr lang="en-US" sz="1300" dirty="0"/>
          </a:p>
        </p:txBody>
      </p:sp>
      <p:sp>
        <p:nvSpPr>
          <p:cNvPr id="13" name="Text 11"/>
          <p:cNvSpPr/>
          <p:nvPr/>
        </p:nvSpPr>
        <p:spPr>
          <a:xfrm>
            <a:off x="3611880" y="3977640"/>
            <a:ext cx="594360" cy="594360"/>
          </a:xfrm>
          <a:prstGeom prst="ellipse">
            <a:avLst/>
          </a:prstGeom>
          <a:solidFill>
            <a:schemeClr val="tx2"/>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A</a:t>
            </a:r>
            <a:endParaRPr lang="en-US" sz="2000" dirty="0"/>
          </a:p>
        </p:txBody>
      </p:sp>
      <p:sp>
        <p:nvSpPr>
          <p:cNvPr id="14" name="Text 12"/>
          <p:cNvSpPr txBox="1"/>
          <p:nvPr/>
        </p:nvSpPr>
        <p:spPr>
          <a:xfrm>
            <a:off x="3291840" y="4663440"/>
            <a:ext cx="1280160" cy="1097280"/>
          </a:xfrm>
          <a:prstGeom prst="rect">
            <a:avLst/>
          </a:prstGeom>
          <a:noFill/>
          <a:ln/>
        </p:spPr>
        <p:txBody>
          <a:bodyPr wrap="square" lIns="0" tIns="0" rIns="0" bIns="0" rtlCol="0" anchor="t"/>
          <a:lstStyle/>
          <a:p>
            <a:pPr algn="ctr" indent="0" marL="0">
              <a:buNone/>
            </a:pPr>
            <a:r>
              <a:rPr lang="en-US" sz="1300" b="1" dirty="0">
                <a:solidFill>
                  <a:schemeClr val="tx2"/>
                </a:solidFill>
              </a:rPr>
              <a:t>Agility</a:t>
            </a:r>
            <a:endParaRPr lang="en-US" sz="1300" dirty="0"/>
          </a:p>
          <a:p>
            <a:pPr algn="ctr" indent="0" marL="0">
              <a:buNone/>
            </a:pPr>
            <a:r>
              <a:rPr lang="en-US" sz="1200" dirty="0">
                <a:solidFill>
                  <a:schemeClr val="tx1"/>
                </a:solidFill>
              </a:rPr>
              <a:t>Country risk in the rule</a:t>
            </a:r>
            <a:endParaRPr lang="en-US" sz="1300" dirty="0"/>
          </a:p>
        </p:txBody>
      </p:sp>
      <p:sp>
        <p:nvSpPr>
          <p:cNvPr id="15" name="Text 13"/>
          <p:cNvSpPr/>
          <p:nvPr/>
        </p:nvSpPr>
        <p:spPr>
          <a:xfrm>
            <a:off x="4983480" y="3977640"/>
            <a:ext cx="594360" cy="594360"/>
          </a:xfrm>
          <a:prstGeom prst="ellipse">
            <a:avLst/>
          </a:prstGeom>
          <a:solidFill>
            <a:schemeClr val="tx2"/>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R</a:t>
            </a:r>
            <a:endParaRPr lang="en-US" sz="2000" dirty="0"/>
          </a:p>
        </p:txBody>
      </p:sp>
      <p:sp>
        <p:nvSpPr>
          <p:cNvPr id="16" name="Text 14"/>
          <p:cNvSpPr txBox="1"/>
          <p:nvPr/>
        </p:nvSpPr>
        <p:spPr>
          <a:xfrm>
            <a:off x="4663440" y="4663440"/>
            <a:ext cx="1280160" cy="1097280"/>
          </a:xfrm>
          <a:prstGeom prst="rect">
            <a:avLst/>
          </a:prstGeom>
          <a:noFill/>
          <a:ln/>
        </p:spPr>
        <p:txBody>
          <a:bodyPr wrap="square" lIns="0" tIns="0" rIns="0" bIns="0" rtlCol="0" anchor="t"/>
          <a:lstStyle/>
          <a:p>
            <a:pPr algn="ctr" indent="0" marL="0">
              <a:buNone/>
            </a:pPr>
            <a:r>
              <a:rPr lang="en-US" sz="1300" b="1" dirty="0">
                <a:solidFill>
                  <a:schemeClr val="tx2"/>
                </a:solidFill>
              </a:rPr>
              <a:t>Responsibility</a:t>
            </a:r>
            <a:endParaRPr lang="en-US" sz="1300" dirty="0"/>
          </a:p>
          <a:p>
            <a:pPr algn="ctr" indent="0" marL="0">
              <a:buNone/>
            </a:pPr>
            <a:r>
              <a:rPr lang="en-US" sz="1200" dirty="0">
                <a:solidFill>
                  <a:schemeClr val="tx1"/>
                </a:solidFill>
              </a:rPr>
              <a:t>A real Scope 3 baseline</a:t>
            </a:r>
            <a:endParaRPr lang="en-US" sz="1300" dirty="0"/>
          </a:p>
        </p:txBody>
      </p:sp>
      <p:sp>
        <p:nvSpPr>
          <p:cNvPr id="17" name="Text 15"/>
          <p:cNvSpPr/>
          <p:nvPr/>
        </p:nvSpPr>
        <p:spPr>
          <a:xfrm>
            <a:off x="6355080" y="3977640"/>
            <a:ext cx="594360" cy="594360"/>
          </a:xfrm>
          <a:prstGeom prst="ellipse">
            <a:avLst/>
          </a:prstGeom>
          <a:solidFill>
            <a:schemeClr val="tx2"/>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T</a:t>
            </a:r>
            <a:endParaRPr lang="en-US" sz="2000" dirty="0"/>
          </a:p>
        </p:txBody>
      </p:sp>
      <p:sp>
        <p:nvSpPr>
          <p:cNvPr id="18" name="Text 16"/>
          <p:cNvSpPr txBox="1"/>
          <p:nvPr/>
        </p:nvSpPr>
        <p:spPr>
          <a:xfrm>
            <a:off x="6035040" y="4663440"/>
            <a:ext cx="1280160" cy="1097280"/>
          </a:xfrm>
          <a:prstGeom prst="rect">
            <a:avLst/>
          </a:prstGeom>
          <a:noFill/>
          <a:ln/>
        </p:spPr>
        <p:txBody>
          <a:bodyPr wrap="square" lIns="0" tIns="0" rIns="0" bIns="0" rtlCol="0" anchor="t"/>
          <a:lstStyle/>
          <a:p>
            <a:pPr algn="ctr" indent="0" marL="0">
              <a:buNone/>
            </a:pPr>
            <a:r>
              <a:rPr lang="en-US" sz="1300" b="1" dirty="0">
                <a:solidFill>
                  <a:schemeClr val="tx2"/>
                </a:solidFill>
              </a:rPr>
              <a:t>Teamwork</a:t>
            </a:r>
            <a:endParaRPr lang="en-US" sz="1300" dirty="0"/>
          </a:p>
          <a:p>
            <a:pPr algn="ctr" indent="0" marL="0">
              <a:buNone/>
            </a:pPr>
            <a:r>
              <a:rPr lang="en-US" sz="1200" dirty="0">
                <a:solidFill>
                  <a:schemeClr val="tx1"/>
                </a:solidFill>
              </a:rPr>
              <a:t>We listen first</a:t>
            </a:r>
            <a:endParaRPr lang="en-US" sz="1300" dirty="0"/>
          </a:p>
        </p:txBody>
      </p:sp>
      <p:sp>
        <p:nvSpPr>
          <p:cNvPr id="19" name="Text 17"/>
          <p:cNvSpPr txBox="1"/>
          <p:nvPr/>
        </p:nvSpPr>
        <p:spPr>
          <a:xfrm>
            <a:off x="548640" y="5806440"/>
            <a:ext cx="1828800" cy="274320"/>
          </a:xfrm>
          <a:prstGeom prst="rect">
            <a:avLst/>
          </a:prstGeom>
          <a:noFill/>
          <a:ln/>
        </p:spPr>
        <p:txBody>
          <a:bodyPr wrap="square" lIns="0" tIns="0" rIns="0" bIns="0" rtlCol="0" anchor="t"/>
          <a:lstStyle/>
          <a:p>
            <a:pPr indent="0" marL="0">
              <a:buNone/>
            </a:pPr>
            <a:r>
              <a:rPr lang="en-US" sz="1100" i="1" dirty="0">
                <a:solidFill>
                  <a:schemeClr val="accent3"/>
                </a:solidFill>
              </a:rPr>
              <a:t>HEART</a:t>
            </a:r>
            <a:endParaRPr lang="en-US" sz="1100" dirty="0"/>
          </a:p>
        </p:txBody>
      </p:sp>
      <p:sp>
        <p:nvSpPr>
          <p:cNvPr id="20" name="Shape 18"/>
          <p:cNvSpPr/>
          <p:nvPr/>
        </p:nvSpPr>
        <p:spPr>
          <a:xfrm>
            <a:off x="7680960" y="1508760"/>
            <a:ext cx="3931920" cy="4754880"/>
          </a:xfrm>
          <a:prstGeom prst="roundRect">
            <a:avLst>
              <a:gd name="adj" fmla="val 1860"/>
            </a:avLst>
          </a:prstGeom>
          <a:solidFill>
            <a:schemeClr val="tx2"/>
          </a:solidFill>
          <a:ln/>
        </p:spPr>
      </p:sp>
      <p:sp>
        <p:nvSpPr>
          <p:cNvPr id="21" name="Text 19"/>
          <p:cNvSpPr txBox="1"/>
          <p:nvPr/>
        </p:nvSpPr>
        <p:spPr>
          <a:xfrm>
            <a:off x="8001000" y="1691640"/>
            <a:ext cx="3383280" cy="45720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The ask</a:t>
            </a:r>
            <a:endParaRPr lang="en-US" sz="2400" dirty="0"/>
          </a:p>
        </p:txBody>
      </p:sp>
      <p:sp>
        <p:nvSpPr>
          <p:cNvPr id="22" name="Text 20"/>
          <p:cNvSpPr/>
          <p:nvPr/>
        </p:nvSpPr>
        <p:spPr>
          <a:xfrm>
            <a:off x="8001000" y="237744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23" name="Text 21"/>
          <p:cNvSpPr txBox="1"/>
          <p:nvPr/>
        </p:nvSpPr>
        <p:spPr>
          <a:xfrm>
            <a:off x="8732520" y="2286000"/>
            <a:ext cx="2697480" cy="731520"/>
          </a:xfrm>
          <a:prstGeom prst="rect">
            <a:avLst/>
          </a:prstGeom>
          <a:noFill/>
          <a:ln/>
        </p:spPr>
        <p:txBody>
          <a:bodyPr wrap="square" lIns="0" tIns="0" rIns="0" bIns="0" rtlCol="0" anchor="ctr"/>
          <a:lstStyle/>
          <a:p>
            <a:pPr indent="0" marL="0">
              <a:buNone/>
            </a:pPr>
            <a:r>
              <a:rPr lang="en-US" sz="1800" b="1" dirty="0">
                <a:solidFill>
                  <a:schemeClr val="bg1"/>
                </a:solidFill>
              </a:rPr>
              <a:t>Approve the sorting rule</a:t>
            </a:r>
            <a:endParaRPr lang="en-US" sz="1800" dirty="0"/>
          </a:p>
        </p:txBody>
      </p:sp>
      <p:sp>
        <p:nvSpPr>
          <p:cNvPr id="24" name="Text 22"/>
          <p:cNvSpPr/>
          <p:nvPr/>
        </p:nvSpPr>
        <p:spPr>
          <a:xfrm>
            <a:off x="8001000" y="333756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25" name="Text 23"/>
          <p:cNvSpPr txBox="1"/>
          <p:nvPr/>
        </p:nvSpPr>
        <p:spPr>
          <a:xfrm>
            <a:off x="8732520" y="3246120"/>
            <a:ext cx="2697480" cy="731520"/>
          </a:xfrm>
          <a:prstGeom prst="rect">
            <a:avLst/>
          </a:prstGeom>
          <a:noFill/>
          <a:ln/>
        </p:spPr>
        <p:txBody>
          <a:bodyPr wrap="square" lIns="0" tIns="0" rIns="0" bIns="0" rtlCol="0" anchor="ctr"/>
          <a:lstStyle/>
          <a:p>
            <a:pPr indent="0" marL="0">
              <a:buNone/>
            </a:pPr>
            <a:r>
              <a:rPr lang="en-US" sz="1800" b="1" dirty="0">
                <a:solidFill>
                  <a:schemeClr val="bg1"/>
                </a:solidFill>
              </a:rPr>
              <a:t>Fund ~$0.8M for year one, capped</a:t>
            </a:r>
            <a:endParaRPr lang="en-US" sz="1800" dirty="0"/>
          </a:p>
        </p:txBody>
      </p:sp>
      <p:sp>
        <p:nvSpPr>
          <p:cNvPr id="26" name="Text 24"/>
          <p:cNvSpPr/>
          <p:nvPr/>
        </p:nvSpPr>
        <p:spPr>
          <a:xfrm>
            <a:off x="8001000" y="429768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7" name="Text 25"/>
          <p:cNvSpPr txBox="1"/>
          <p:nvPr/>
        </p:nvSpPr>
        <p:spPr>
          <a:xfrm>
            <a:off x="8732520" y="4206240"/>
            <a:ext cx="2697480" cy="731520"/>
          </a:xfrm>
          <a:prstGeom prst="rect">
            <a:avLst/>
          </a:prstGeom>
          <a:noFill/>
          <a:ln/>
        </p:spPr>
        <p:txBody>
          <a:bodyPr wrap="square" lIns="0" tIns="0" rIns="0" bIns="0" rtlCol="0" anchor="ctr"/>
          <a:lstStyle/>
          <a:p>
            <a:pPr indent="0" marL="0">
              <a:buNone/>
            </a:pPr>
            <a:r>
              <a:rPr lang="en-US" sz="1800" b="1" dirty="0">
                <a:solidFill>
                  <a:schemeClr val="bg1"/>
                </a:solidFill>
              </a:rPr>
              <a:t>Start Tijuana in Dec 2026</a:t>
            </a:r>
            <a:endParaRPr lang="en-US" sz="1800" dirty="0"/>
          </a:p>
        </p:txBody>
      </p:sp>
      <p:sp>
        <p:nvSpPr>
          <p:cNvPr id="28" name="Text 26"/>
          <p:cNvSpPr txBox="1"/>
          <p:nvPr/>
        </p:nvSpPr>
        <p:spPr>
          <a:xfrm>
            <a:off x="8001000" y="5394960"/>
            <a:ext cx="3383280" cy="548640"/>
          </a:xfrm>
          <a:prstGeom prst="rect">
            <a:avLst/>
          </a:prstGeom>
          <a:noFill/>
          <a:ln/>
        </p:spPr>
        <p:txBody>
          <a:bodyPr wrap="square" lIns="0" tIns="0" rIns="0" bIns="0" rtlCol="0" anchor="ctr"/>
          <a:lstStyle/>
          <a:p>
            <a:pPr indent="0" marL="0">
              <a:buNone/>
            </a:pPr>
            <a:r>
              <a:rPr lang="en-US" sz="1600" i="1" dirty="0">
                <a:solidFill>
                  <a:schemeClr val="accent4"/>
                </a:solidFill>
                <a:latin typeface="+mj-lt" pitchFamily="34" charset="0"/>
                <a:ea typeface="+mj-lt" pitchFamily="34" charset="-122"/>
                <a:cs typeface="+mj-lt" pitchFamily="34" charset="-120"/>
              </a:rPr>
              <a:t>The next Shenli gets caught earlier.</a:t>
            </a:r>
            <a:endParaRPr lang="en-US" sz="1600" dirty="0"/>
          </a:p>
        </p:txBody>
      </p:sp>
      <p:sp>
        <p:nvSpPr>
          <p:cNvPr id="29" name="Text 27"/>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Merit Vision &amp; Values</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7680960" cy="1371600"/>
          </a:xfrm>
          <a:prstGeom prst="rect">
            <a:avLst/>
          </a:prstGeom>
          <a:noFill/>
          <a:ln/>
        </p:spPr>
        <p:txBody>
          <a:bodyPr wrap="square" lIns="0" tIns="0" rIns="0" bIns="0" rtlCol="0" anchor="b"/>
          <a:lstStyle/>
          <a:p>
            <a:pPr algn="l" indent="0" marL="0">
              <a:buNone/>
            </a:pPr>
            <a:r>
              <a:rPr lang="en-US" sz="4800" b="1" dirty="0">
                <a:solidFill>
                  <a:schemeClr val="bg1"/>
                </a:solidFill>
                <a:latin typeface="+mj-lt" pitchFamily="34" charset="0"/>
                <a:ea typeface="+mj-lt" pitchFamily="34" charset="-122"/>
                <a:cs typeface="+mj-lt" pitchFamily="34" charset="-120"/>
              </a:rPr>
              <a:t>Questions</a:t>
            </a:r>
            <a:endParaRPr lang="en-US" sz="4800" dirty="0"/>
          </a:p>
        </p:txBody>
      </p:sp>
      <p:sp>
        <p:nvSpPr>
          <p:cNvPr id="3" name="Text 0"/>
          <p:cNvSpPr/>
          <p:nvPr>
            <p:ph idx="101" type="body" hasCustomPrompt="1"/>
          </p:nvPr>
        </p:nvSpPr>
        <p:spPr>
          <a:xfrm>
            <a:off x="640080" y="3246120"/>
            <a:ext cx="7680960" cy="914400"/>
          </a:xfrm>
          <a:prstGeom prst="rect">
            <a:avLst/>
          </a:prstGeom>
          <a:noFill/>
          <a:ln/>
        </p:spPr>
        <p:txBody>
          <a:bodyPr wrap="square" lIns="0" tIns="0" rIns="0" bIns="0" rtlCol="0" anchor="t"/>
          <a:lstStyle/>
          <a:p>
            <a:pPr algn="l" indent="0" marL="0">
              <a:buNone/>
            </a:pPr>
            <a:r>
              <a:rPr lang="en-US" sz="2200" dirty="0">
                <a:solidFill>
                  <a:schemeClr val="accent4"/>
                </a:solidFill>
              </a:rPr>
              <a:t>Sort every supplier with one rule, then help each one climb</a:t>
            </a:r>
            <a:endParaRPr lang="en-US" sz="2200" dirty="0"/>
          </a:p>
        </p:txBody>
      </p:sp>
      <p:sp>
        <p:nvSpPr>
          <p:cNvPr id="4" name="Shape 2"/>
          <p:cNvSpPr/>
          <p:nvPr/>
        </p:nvSpPr>
        <p:spPr>
          <a:xfrm>
            <a:off x="8595360" y="914400"/>
            <a:ext cx="139903" cy="5120640"/>
          </a:xfrm>
          <a:prstGeom prst="rect">
            <a:avLst/>
          </a:prstGeom>
          <a:solidFill>
            <a:schemeClr val="accent4"/>
          </a:solidFill>
          <a:ln/>
        </p:spPr>
      </p:sp>
      <p:sp>
        <p:nvSpPr>
          <p:cNvPr id="5" name="Shape 3"/>
          <p:cNvSpPr/>
          <p:nvPr/>
        </p:nvSpPr>
        <p:spPr>
          <a:xfrm>
            <a:off x="10009937" y="914400"/>
            <a:ext cx="139903" cy="5120640"/>
          </a:xfrm>
          <a:prstGeom prst="rect">
            <a:avLst/>
          </a:prstGeom>
          <a:solidFill>
            <a:schemeClr val="accent4"/>
          </a:solidFill>
          <a:ln/>
        </p:spPr>
      </p:sp>
      <p:sp>
        <p:nvSpPr>
          <p:cNvPr id="6" name="Shape 4"/>
          <p:cNvSpPr/>
          <p:nvPr/>
        </p:nvSpPr>
        <p:spPr>
          <a:xfrm>
            <a:off x="8735263" y="5305349"/>
            <a:ext cx="1274674" cy="179222"/>
          </a:xfrm>
          <a:prstGeom prst="rect">
            <a:avLst/>
          </a:prstGeom>
          <a:solidFill>
            <a:schemeClr val="accent4"/>
          </a:solidFill>
          <a:ln/>
        </p:spPr>
      </p:sp>
      <p:sp>
        <p:nvSpPr>
          <p:cNvPr id="7" name="Shape 5"/>
          <p:cNvSpPr/>
          <p:nvPr/>
        </p:nvSpPr>
        <p:spPr>
          <a:xfrm>
            <a:off x="8735263" y="4025189"/>
            <a:ext cx="1274674" cy="179222"/>
          </a:xfrm>
          <a:prstGeom prst="rect">
            <a:avLst/>
          </a:prstGeom>
          <a:solidFill>
            <a:schemeClr val="accent4"/>
          </a:solidFill>
          <a:ln/>
        </p:spPr>
      </p:sp>
      <p:sp>
        <p:nvSpPr>
          <p:cNvPr id="8" name="Shape 6"/>
          <p:cNvSpPr/>
          <p:nvPr/>
        </p:nvSpPr>
        <p:spPr>
          <a:xfrm>
            <a:off x="8735263" y="2745029"/>
            <a:ext cx="1274674" cy="179222"/>
          </a:xfrm>
          <a:prstGeom prst="rect">
            <a:avLst/>
          </a:prstGeom>
          <a:solidFill>
            <a:schemeClr val="accent4"/>
          </a:solidFill>
          <a:ln/>
        </p:spPr>
      </p:sp>
      <p:sp>
        <p:nvSpPr>
          <p:cNvPr id="9" name="Shape 7"/>
          <p:cNvSpPr/>
          <p:nvPr/>
        </p:nvSpPr>
        <p:spPr>
          <a:xfrm>
            <a:off x="8735263" y="1464869"/>
            <a:ext cx="1274674" cy="179222"/>
          </a:xfrm>
          <a:prstGeom prst="rect">
            <a:avLst/>
          </a:prstGeom>
          <a:solidFill>
            <a:schemeClr val="accent4"/>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B1 · How the sorting rule works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377440"/>
                <a:gridCol w="3657600"/>
                <a:gridCol w="5029200"/>
              </a:tblGrid>
              <a:tr h="4114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Factor</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Scores 1 (low)</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Scores 3 (high)</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41148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Switching difficulty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Many qualified alternates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Sole-source; 9–12 months to requalify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Spend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Bottom of the spend list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In the top 78</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Country risk</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Low-risk country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Mexico, China (Merit's own climate-risk research)</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Readiness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Already rated on EcoVadis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 ESG staff, no emissions tracking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4" name="Text 1"/>
          <p:cNvSpPr txBox="1"/>
          <p:nvPr/>
        </p:nvSpPr>
        <p:spPr>
          <a:xfrm>
            <a:off x="548640" y="3749040"/>
            <a:ext cx="11064240" cy="548640"/>
          </a:xfrm>
          <a:prstGeom prst="rect">
            <a:avLst/>
          </a:prstGeom>
          <a:noFill/>
          <a:ln/>
        </p:spPr>
        <p:txBody>
          <a:bodyPr wrap="square" lIns="0" tIns="0" rIns="0" bIns="0" rtlCol="0" anchor="t"/>
          <a:lstStyle/>
          <a:p>
            <a:pPr indent="0" marL="0">
              <a:buNone/>
            </a:pPr>
            <a:r>
              <a:rPr lang="en-US" sz="1400" b="1" dirty="0">
                <a:solidFill>
                  <a:schemeClr val="tx2"/>
                </a:solidFill>
              </a:rPr>
              <a:t>Priority = Switching × Spend × Country risk (1–27).  </a:t>
            </a:r>
            <a:pPr indent="0" marL="0">
              <a:buNone/>
            </a:pPr>
            <a:r>
              <a:rPr lang="en-US" sz="1400" dirty="0">
                <a:solidFill>
                  <a:schemeClr val="tx1"/>
                </a:solidFill>
              </a:rPr>
              <a:t>Tier 2 = priority ≥ 8 and readiness low/moderate · Tier 1 = ready (already rated) · Tier 3 = everyone else. Thresholds are illustrative.</a:t>
            </a:r>
            <a:endParaRPr lang="en-US" sz="14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548640" y="4434840"/>
          <a:ext cx="11064240" cy="914400"/>
        </p:xfrm>
        <a:graphic>
          <a:graphicData uri="http://schemas.openxmlformats.org/drawingml/2006/table">
            <a:tbl>
              <a:tblPr/>
              <a:tblGrid>
                <a:gridCol w="3931920"/>
                <a:gridCol w="1005840"/>
                <a:gridCol w="1005840"/>
                <a:gridCol w="1005840"/>
                <a:gridCol w="1097280"/>
                <a:gridCol w="1554480"/>
                <a:gridCol w="1463040"/>
              </a:tblGrid>
              <a:tr h="4114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Example (illustrative)</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Switch</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Spend</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Country</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Priority</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Readiness</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Tier</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Tijuana molded-part maker, sole-source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b="1" dirty="0">
                          <a:solidFill>
                            <a:schemeClr val="accent2"/>
                          </a:solidFill>
                          <a:latin typeface="Calibri" pitchFamily="34" charset="0"/>
                          <a:ea typeface="Calibri" pitchFamily="34" charset="-122"/>
                          <a:cs typeface="Calibri" pitchFamily="34" charset="-120"/>
                        </a:rPr>
                        <a:t>Tier 2</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Large public US resin supplier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Tier 1</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Regional packaging supplier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Moderate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Tier 3</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6" name="Text 2"/>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Case Exh. 2–3; team method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B2 · What peers do</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737360"/>
                <a:gridCol w="4480560"/>
                <a:gridCol w="4846320"/>
              </a:tblGrid>
              <a:tr h="54864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Company</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Approach</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Result or target</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Stryker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Third-party ESG assessments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85% of direct spend by 2027 (~59% in 2024)</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BD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Desktop ESG assessments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76% of spend assessed (FY24); goal 90% of eligible spend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Abbott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Risk screening + due diligence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&gt;90% of direct-material spend screened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J&amp;J</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EcoVadis for program suppliers + CDP disclosure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Assessment and emissions kept as separate asks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Philips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Four maturity categories, tailored support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504 suppliers in CDP program, 88% response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Medtronic</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Playbook: calculate → target → report → reduce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Support modules by supplier maturity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Schneider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Zero Carbon Project, ~1,000 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700+ measured a footprint for the first time; 950 disclose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4" name="Text 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Company sustainability reports and filings; research/outside-research.md; Cameron's benchmark file</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B3 · Cost build and sensitivity</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583680" cy="914400"/>
        </p:xfrm>
        <a:graphic>
          <a:graphicData uri="http://schemas.openxmlformats.org/drawingml/2006/table">
            <a:tbl>
              <a:tblPr/>
              <a:tblGrid>
                <a:gridCol w="1920240"/>
                <a:gridCol w="3566160"/>
                <a:gridCol w="1097280"/>
              </a:tblGrid>
              <a:tr h="4114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Line item</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Basis</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Year 1 $k</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Tier-2 support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50 × ~$4.5k (subscription + consultant hours)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225</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AI assistant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~$150k one-time build + ~$40k/yr to run</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190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Coordinators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 Utah + 1 Tijuana, loaded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165</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Impact measurement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Worker survey, IMSS data, comparison group</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Partners + contingency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Translation, workshops, buffer</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Year 1 (run-rate after: ~660)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~810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7498080" y="1554480"/>
          <a:ext cx="4114800" cy="914400"/>
        </p:xfrm>
        <a:graphic>
          <a:graphicData uri="http://schemas.openxmlformats.org/drawingml/2006/table">
            <a:tbl>
              <a:tblPr/>
              <a:tblGrid>
                <a:gridCol w="1463040"/>
                <a:gridCol w="1280160"/>
                <a:gridCol w="1371600"/>
              </a:tblGrid>
              <a:tr h="4114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Tier 2 size</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Run-rate / yr</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 op. income</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25 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$0.55M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0.18%</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50 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$0.66M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0.21%</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41148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100 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$0.89M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0.29%</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5" name="Text 1"/>
          <p:cNvSpPr txBox="1"/>
          <p:nvPr/>
        </p:nvSpPr>
        <p:spPr>
          <a:xfrm>
            <a:off x="548640" y="4663440"/>
            <a:ext cx="11064240" cy="16459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Cross-check: Nolan's bottom-up model ≈ $73k for 12 intensive suppliers (~$6k each) vs our ~$4.5k</a:t>
            </a:r>
            <a:endParaRPr lang="en-US" sz="1400" dirty="0"/>
          </a:p>
          <a:p>
            <a:pPr marL="342900" indent="-342900">
              <a:spcAft>
                <a:spcPts val="400"/>
              </a:spcAft>
              <a:buSzPct val="100000"/>
              <a:buChar char="•"/>
            </a:pPr>
            <a:r>
              <a:rPr lang="en-US" sz="1400" dirty="0">
                <a:solidFill>
                  <a:schemeClr val="tx1"/>
                </a:solidFill>
              </a:rPr>
              <a:t>Breakeven: ~$0.66M ÷ ~$2.5M per sole-source failure (assumption) ≈ one caught earlier every 4 years</a:t>
            </a:r>
            <a:endParaRPr lang="en-US" sz="1400" dirty="0"/>
          </a:p>
          <a:p>
            <a:pPr marL="342900" indent="-342900">
              <a:spcAft>
                <a:spcPts val="400"/>
              </a:spcAft>
              <a:buSzPct val="100000"/>
              <a:buChar char="•"/>
            </a:pPr>
            <a:r>
              <a:rPr lang="en-US" sz="1400" dirty="0">
                <a:solidFill>
                  <a:schemeClr val="tx1"/>
                </a:solidFill>
              </a:rPr>
              <a:t>Scale of a failure: Merit revenue ≈ $4.15M a day; Baxter's one hurricane-hit plant ≈ $200M of lost sales</a:t>
            </a:r>
            <a:endParaRPr lang="en-US" sz="1400" dirty="0"/>
          </a:p>
          <a:p>
            <a:pPr marL="342900" indent="-342900">
              <a:spcAft>
                <a:spcPts val="400"/>
              </a:spcAft>
              <a:buSzPct val="100000"/>
              <a:buChar char="•"/>
            </a:pPr>
            <a:r>
              <a:rPr lang="en-US" sz="1400" dirty="0">
                <a:solidFill>
                  <a:schemeClr val="tx1"/>
                </a:solidFill>
              </a:rPr>
              <a:t>AI build is an estimate (off-the-shelf AI platform + integration); get a vendor quote. Op income ~$308M (non-GAAP, 2025)</a:t>
            </a:r>
            <a:endParaRPr lang="en-US" sz="1400" dirty="0"/>
          </a:p>
        </p:txBody>
      </p:sp>
      <p:sp>
        <p:nvSpPr>
          <p:cNvPr id="6" name="Text 2"/>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research/financials-value.md; supplier-support-budget-and-decisions.md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B4 · Tijuana pilot detail</a:t>
            </a:r>
            <a:endParaRPr lang="en-US" sz="2800" dirty="0"/>
          </a:p>
        </p:txBody>
      </p:sp>
      <p:sp>
        <p:nvSpPr>
          <p:cNvPr id="3" name="Shape 1"/>
          <p:cNvSpPr/>
          <p:nvPr/>
        </p:nvSpPr>
        <p:spPr>
          <a:xfrm>
            <a:off x="1005840" y="1691640"/>
            <a:ext cx="4023360" cy="4023360"/>
          </a:xfrm>
          <a:prstGeom prst="ellipse">
            <a:avLst/>
          </a:prstGeom>
          <a:solidFill>
            <a:schemeClr val="bg2"/>
          </a:solidFill>
          <a:ln/>
        </p:spPr>
      </p:sp>
      <p:sp>
        <p:nvSpPr>
          <p:cNvPr id="4" name="Shape 2"/>
          <p:cNvSpPr/>
          <p:nvPr/>
        </p:nvSpPr>
        <p:spPr>
          <a:xfrm>
            <a:off x="2423160" y="2788920"/>
            <a:ext cx="1188720" cy="1188720"/>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2684678" y="3050438"/>
            <a:ext cx="665683" cy="665683"/>
          </a:xfrm>
          <a:prstGeom prst="rect">
            <a:avLst/>
          </a:prstGeom>
        </p:spPr>
      </p:pic>
      <p:sp>
        <p:nvSpPr>
          <p:cNvPr id="6" name="Text 3"/>
          <p:cNvSpPr txBox="1"/>
          <p:nvPr/>
        </p:nvSpPr>
        <p:spPr>
          <a:xfrm>
            <a:off x="1828800" y="4023360"/>
            <a:ext cx="2377440" cy="548640"/>
          </a:xfrm>
          <a:prstGeom prst="rect">
            <a:avLst/>
          </a:prstGeom>
          <a:noFill/>
          <a:ln/>
        </p:spPr>
        <p:txBody>
          <a:bodyPr wrap="square" lIns="0" tIns="0" rIns="0" bIns="0" rtlCol="0" anchor="t"/>
          <a:lstStyle/>
          <a:p>
            <a:pPr algn="ctr" indent="0" marL="0">
              <a:buNone/>
            </a:pPr>
            <a:r>
              <a:rPr lang="en-US" sz="1300" b="1" dirty="0">
                <a:solidFill>
                  <a:schemeClr val="tx2"/>
                </a:solidFill>
              </a:rPr>
              <a:t>Merit Tijuana</a:t>
            </a:r>
            <a:endParaRPr lang="en-US" sz="1300" dirty="0"/>
          </a:p>
          <a:p>
            <a:pPr algn="ctr" indent="0" marL="0">
              <a:buNone/>
            </a:pPr>
            <a:r>
              <a:rPr lang="en-US" sz="1300" b="1" dirty="0">
                <a:solidFill>
                  <a:schemeClr val="tx2"/>
                </a:solidFill>
              </a:rPr>
              <a:t>2,000+ associates</a:t>
            </a:r>
            <a:endParaRPr lang="en-US" sz="1300" dirty="0"/>
          </a:p>
        </p:txBody>
      </p:sp>
      <p:sp>
        <p:nvSpPr>
          <p:cNvPr id="7" name="Shape 4"/>
          <p:cNvSpPr/>
          <p:nvPr/>
        </p:nvSpPr>
        <p:spPr>
          <a:xfrm>
            <a:off x="2880360" y="1874520"/>
            <a:ext cx="274320" cy="274320"/>
          </a:xfrm>
          <a:prstGeom prst="ellipse">
            <a:avLst/>
          </a:prstGeom>
          <a:solidFill>
            <a:schemeClr val="accent2"/>
          </a:solidFill>
          <a:ln w="19050">
            <a:solidFill>
              <a:schemeClr val="bg1"/>
            </a:solidFill>
            <a:prstDash val="solid"/>
          </a:ln>
        </p:spPr>
      </p:sp>
      <p:sp>
        <p:nvSpPr>
          <p:cNvPr id="8" name="Shape 5"/>
          <p:cNvSpPr/>
          <p:nvPr/>
        </p:nvSpPr>
        <p:spPr>
          <a:xfrm>
            <a:off x="3726180" y="2101157"/>
            <a:ext cx="274320" cy="274320"/>
          </a:xfrm>
          <a:prstGeom prst="ellipse">
            <a:avLst/>
          </a:prstGeom>
          <a:solidFill>
            <a:schemeClr val="accent2"/>
          </a:solidFill>
          <a:ln w="19050">
            <a:solidFill>
              <a:schemeClr val="bg1"/>
            </a:solidFill>
            <a:prstDash val="solid"/>
          </a:ln>
        </p:spPr>
      </p:sp>
      <p:sp>
        <p:nvSpPr>
          <p:cNvPr id="9" name="Shape 6"/>
          <p:cNvSpPr/>
          <p:nvPr/>
        </p:nvSpPr>
        <p:spPr>
          <a:xfrm>
            <a:off x="4345363" y="2720340"/>
            <a:ext cx="274320" cy="274320"/>
          </a:xfrm>
          <a:prstGeom prst="ellipse">
            <a:avLst/>
          </a:prstGeom>
          <a:solidFill>
            <a:schemeClr val="accent2"/>
          </a:solidFill>
          <a:ln w="19050">
            <a:solidFill>
              <a:schemeClr val="bg1"/>
            </a:solidFill>
            <a:prstDash val="solid"/>
          </a:ln>
        </p:spPr>
      </p:sp>
      <p:sp>
        <p:nvSpPr>
          <p:cNvPr id="10" name="Shape 7"/>
          <p:cNvSpPr/>
          <p:nvPr/>
        </p:nvSpPr>
        <p:spPr>
          <a:xfrm>
            <a:off x="4572000" y="3566160"/>
            <a:ext cx="274320" cy="274320"/>
          </a:xfrm>
          <a:prstGeom prst="ellipse">
            <a:avLst/>
          </a:prstGeom>
          <a:solidFill>
            <a:schemeClr val="accent2"/>
          </a:solidFill>
          <a:ln w="19050">
            <a:solidFill>
              <a:schemeClr val="bg1"/>
            </a:solidFill>
            <a:prstDash val="solid"/>
          </a:ln>
        </p:spPr>
      </p:sp>
      <p:sp>
        <p:nvSpPr>
          <p:cNvPr id="11" name="Shape 8"/>
          <p:cNvSpPr/>
          <p:nvPr/>
        </p:nvSpPr>
        <p:spPr>
          <a:xfrm>
            <a:off x="4345363" y="4411980"/>
            <a:ext cx="274320" cy="274320"/>
          </a:xfrm>
          <a:prstGeom prst="ellipse">
            <a:avLst/>
          </a:prstGeom>
          <a:solidFill>
            <a:schemeClr val="accent2"/>
          </a:solidFill>
          <a:ln w="19050">
            <a:solidFill>
              <a:schemeClr val="bg1"/>
            </a:solidFill>
            <a:prstDash val="solid"/>
          </a:ln>
        </p:spPr>
      </p:sp>
      <p:sp>
        <p:nvSpPr>
          <p:cNvPr id="12" name="Shape 9"/>
          <p:cNvSpPr/>
          <p:nvPr/>
        </p:nvSpPr>
        <p:spPr>
          <a:xfrm>
            <a:off x="3726180" y="5031163"/>
            <a:ext cx="274320" cy="274320"/>
          </a:xfrm>
          <a:prstGeom prst="ellipse">
            <a:avLst/>
          </a:prstGeom>
          <a:solidFill>
            <a:schemeClr val="accent2"/>
          </a:solidFill>
          <a:ln w="19050">
            <a:solidFill>
              <a:schemeClr val="bg1"/>
            </a:solidFill>
            <a:prstDash val="solid"/>
          </a:ln>
        </p:spPr>
      </p:sp>
      <p:sp>
        <p:nvSpPr>
          <p:cNvPr id="13" name="Shape 10"/>
          <p:cNvSpPr/>
          <p:nvPr/>
        </p:nvSpPr>
        <p:spPr>
          <a:xfrm>
            <a:off x="2880360" y="5257800"/>
            <a:ext cx="274320" cy="274320"/>
          </a:xfrm>
          <a:prstGeom prst="ellipse">
            <a:avLst/>
          </a:prstGeom>
          <a:solidFill>
            <a:schemeClr val="accent2"/>
          </a:solidFill>
          <a:ln w="19050">
            <a:solidFill>
              <a:schemeClr val="bg1"/>
            </a:solidFill>
            <a:prstDash val="solid"/>
          </a:ln>
        </p:spPr>
      </p:sp>
      <p:sp>
        <p:nvSpPr>
          <p:cNvPr id="14" name="Shape 11"/>
          <p:cNvSpPr/>
          <p:nvPr/>
        </p:nvSpPr>
        <p:spPr>
          <a:xfrm>
            <a:off x="2034540" y="5031163"/>
            <a:ext cx="274320" cy="274320"/>
          </a:xfrm>
          <a:prstGeom prst="ellipse">
            <a:avLst/>
          </a:prstGeom>
          <a:solidFill>
            <a:schemeClr val="accent2"/>
          </a:solidFill>
          <a:ln w="19050">
            <a:solidFill>
              <a:schemeClr val="bg1"/>
            </a:solidFill>
            <a:prstDash val="solid"/>
          </a:ln>
        </p:spPr>
      </p:sp>
      <p:sp>
        <p:nvSpPr>
          <p:cNvPr id="15" name="Shape 12"/>
          <p:cNvSpPr/>
          <p:nvPr/>
        </p:nvSpPr>
        <p:spPr>
          <a:xfrm>
            <a:off x="1415357" y="4411980"/>
            <a:ext cx="274320" cy="274320"/>
          </a:xfrm>
          <a:prstGeom prst="ellipse">
            <a:avLst/>
          </a:prstGeom>
          <a:solidFill>
            <a:schemeClr val="accent2"/>
          </a:solidFill>
          <a:ln w="19050">
            <a:solidFill>
              <a:schemeClr val="bg1"/>
            </a:solidFill>
            <a:prstDash val="solid"/>
          </a:ln>
        </p:spPr>
      </p:sp>
      <p:sp>
        <p:nvSpPr>
          <p:cNvPr id="16" name="Shape 13"/>
          <p:cNvSpPr/>
          <p:nvPr/>
        </p:nvSpPr>
        <p:spPr>
          <a:xfrm>
            <a:off x="1188720" y="3566160"/>
            <a:ext cx="274320" cy="274320"/>
          </a:xfrm>
          <a:prstGeom prst="ellipse">
            <a:avLst/>
          </a:prstGeom>
          <a:solidFill>
            <a:schemeClr val="accent2"/>
          </a:solidFill>
          <a:ln w="19050">
            <a:solidFill>
              <a:schemeClr val="bg1"/>
            </a:solidFill>
            <a:prstDash val="solid"/>
          </a:ln>
        </p:spPr>
      </p:sp>
      <p:sp>
        <p:nvSpPr>
          <p:cNvPr id="17" name="Shape 14"/>
          <p:cNvSpPr/>
          <p:nvPr/>
        </p:nvSpPr>
        <p:spPr>
          <a:xfrm>
            <a:off x="1415357" y="2720340"/>
            <a:ext cx="274320" cy="274320"/>
          </a:xfrm>
          <a:prstGeom prst="ellipse">
            <a:avLst/>
          </a:prstGeom>
          <a:solidFill>
            <a:schemeClr val="accent2"/>
          </a:solidFill>
          <a:ln w="19050">
            <a:solidFill>
              <a:schemeClr val="bg1"/>
            </a:solidFill>
            <a:prstDash val="solid"/>
          </a:ln>
        </p:spPr>
      </p:sp>
      <p:sp>
        <p:nvSpPr>
          <p:cNvPr id="18" name="Shape 15"/>
          <p:cNvSpPr/>
          <p:nvPr/>
        </p:nvSpPr>
        <p:spPr>
          <a:xfrm>
            <a:off x="2034540" y="2101157"/>
            <a:ext cx="274320" cy="274320"/>
          </a:xfrm>
          <a:prstGeom prst="ellipse">
            <a:avLst/>
          </a:prstGeom>
          <a:solidFill>
            <a:schemeClr val="accent2"/>
          </a:solidFill>
          <a:ln w="19050">
            <a:solidFill>
              <a:schemeClr val="bg1"/>
            </a:solidFill>
            <a:prstDash val="solid"/>
          </a:ln>
        </p:spPr>
      </p:sp>
      <p:sp>
        <p:nvSpPr>
          <p:cNvPr id="19" name="Text 16"/>
          <p:cNvSpPr txBox="1"/>
          <p:nvPr/>
        </p:nvSpPr>
        <p:spPr>
          <a:xfrm>
            <a:off x="822960" y="5806440"/>
            <a:ext cx="4572000" cy="320040"/>
          </a:xfrm>
          <a:prstGeom prst="rect">
            <a:avLst/>
          </a:prstGeom>
          <a:noFill/>
          <a:ln/>
        </p:spPr>
        <p:txBody>
          <a:bodyPr wrap="square" lIns="0" tIns="0" rIns="0" bIns="0" rtlCol="0" anchor="t"/>
          <a:lstStyle/>
          <a:p>
            <a:pPr indent="0" marL="0">
              <a:buNone/>
            </a:pPr>
            <a:r>
              <a:rPr lang="en-US" sz="1100" dirty="0">
                <a:solidFill>
                  <a:schemeClr val="accent3"/>
                </a:solidFill>
              </a:rPr>
              <a:t>● 12 pilot suppliers, chosen by the rule (positions illustrative)</a:t>
            </a:r>
            <a:endParaRPr lang="en-US" sz="1100" dirty="0"/>
          </a:p>
        </p:txBody>
      </p:sp>
      <p:sp>
        <p:nvSpPr>
          <p:cNvPr id="20" name="Shape 17"/>
          <p:cNvSpPr/>
          <p:nvPr/>
        </p:nvSpPr>
        <p:spPr>
          <a:xfrm>
            <a:off x="6035040" y="1691640"/>
            <a:ext cx="548640" cy="548640"/>
          </a:xfrm>
          <a:prstGeom prst="ellipse">
            <a:avLst/>
          </a:prstGeom>
          <a:solidFill>
            <a:schemeClr val="accent1"/>
          </a:solidFill>
          <a:ln/>
        </p:spPr>
      </p:sp>
      <p:pic>
        <p:nvPicPr>
          <p:cNvPr id="21" name="Image 1" descr="preencoded.png">    </p:cNvPr>
          <p:cNvPicPr>
            <a:picLocks noChangeAspect="1"/>
          </p:cNvPicPr>
          <p:nvPr/>
        </p:nvPicPr>
        <p:blipFill>
          <a:blip r:embed="rId2"/>
          <a:stretch>
            <a:fillRect/>
          </a:stretch>
        </p:blipFill>
        <p:spPr>
          <a:xfrm>
            <a:off x="6155741" y="1812341"/>
            <a:ext cx="307238" cy="307238"/>
          </a:xfrm>
          <a:prstGeom prst="rect">
            <a:avLst/>
          </a:prstGeom>
        </p:spPr>
      </p:pic>
      <p:sp>
        <p:nvSpPr>
          <p:cNvPr id="22" name="Text 18"/>
          <p:cNvSpPr txBox="1"/>
          <p:nvPr/>
        </p:nvSpPr>
        <p:spPr>
          <a:xfrm>
            <a:off x="6766560" y="1645920"/>
            <a:ext cx="4846320" cy="960120"/>
          </a:xfrm>
          <a:prstGeom prst="rect">
            <a:avLst/>
          </a:prstGeom>
          <a:noFill/>
          <a:ln/>
        </p:spPr>
        <p:txBody>
          <a:bodyPr wrap="square" lIns="0" tIns="0" rIns="0" bIns="0" rtlCol="0" anchor="t"/>
          <a:lstStyle/>
          <a:p>
            <a:pPr indent="0" marL="0">
              <a:buNone/>
            </a:pPr>
            <a:r>
              <a:rPr lang="en-US" sz="1600" b="1" dirty="0">
                <a:solidFill>
                  <a:schemeClr val="tx2"/>
                </a:solidFill>
              </a:rPr>
              <a:t>Who</a:t>
            </a:r>
            <a:endParaRPr lang="en-US" sz="1400" dirty="0"/>
          </a:p>
          <a:p>
            <a:pPr indent="0" marL="0">
              <a:buNone/>
            </a:pPr>
            <a:r>
              <a:rPr lang="en-US" sz="1400" dirty="0">
                <a:solidFill>
                  <a:schemeClr val="tx1"/>
                </a:solidFill>
              </a:rPr>
              <a:t>12 sole-source suppliers near Merit's largest plant; ~73 device companies in the cluster</a:t>
            </a:r>
            <a:endParaRPr lang="en-US" sz="1400" dirty="0"/>
          </a:p>
        </p:txBody>
      </p:sp>
      <p:sp>
        <p:nvSpPr>
          <p:cNvPr id="23" name="Shape 19"/>
          <p:cNvSpPr/>
          <p:nvPr/>
        </p:nvSpPr>
        <p:spPr>
          <a:xfrm>
            <a:off x="6035040" y="2788920"/>
            <a:ext cx="548640" cy="548640"/>
          </a:xfrm>
          <a:prstGeom prst="ellipse">
            <a:avLst/>
          </a:prstGeom>
          <a:solidFill>
            <a:schemeClr val="accent1"/>
          </a:solidFill>
          <a:ln/>
        </p:spPr>
      </p:sp>
      <p:pic>
        <p:nvPicPr>
          <p:cNvPr id="24" name="Image 2" descr="preencoded.png">    </p:cNvPr>
          <p:cNvPicPr>
            <a:picLocks noChangeAspect="1"/>
          </p:cNvPicPr>
          <p:nvPr/>
        </p:nvPicPr>
        <p:blipFill>
          <a:blip r:embed="rId3"/>
          <a:stretch>
            <a:fillRect/>
          </a:stretch>
        </p:blipFill>
        <p:spPr>
          <a:xfrm>
            <a:off x="6155741" y="2909621"/>
            <a:ext cx="307238" cy="307238"/>
          </a:xfrm>
          <a:prstGeom prst="rect">
            <a:avLst/>
          </a:prstGeom>
        </p:spPr>
      </p:pic>
      <p:sp>
        <p:nvSpPr>
          <p:cNvPr id="25" name="Text 20"/>
          <p:cNvSpPr txBox="1"/>
          <p:nvPr/>
        </p:nvSpPr>
        <p:spPr>
          <a:xfrm>
            <a:off x="6766560" y="2743200"/>
            <a:ext cx="4846320" cy="960120"/>
          </a:xfrm>
          <a:prstGeom prst="rect">
            <a:avLst/>
          </a:prstGeom>
          <a:noFill/>
          <a:ln/>
        </p:spPr>
        <p:txBody>
          <a:bodyPr wrap="square" lIns="0" tIns="0" rIns="0" bIns="0" rtlCol="0" anchor="t"/>
          <a:lstStyle/>
          <a:p>
            <a:pPr indent="0" marL="0">
              <a:buNone/>
            </a:pPr>
            <a:r>
              <a:rPr lang="en-US" sz="1600" b="1" dirty="0">
                <a:solidFill>
                  <a:schemeClr val="tx2"/>
                </a:solidFill>
              </a:rPr>
              <a:t>Delivery</a:t>
            </a:r>
            <a:endParaRPr lang="en-US" sz="1400" dirty="0"/>
          </a:p>
          <a:p>
            <a:pPr indent="0" marL="0">
              <a:buNone/>
            </a:pPr>
            <a:r>
              <a:rPr lang="en-US" sz="1400" dirty="0">
                <a:solidFill>
                  <a:schemeClr val="tx1"/>
                </a:solidFill>
              </a:rPr>
              <a:t>A coordinator in Procurement; local consultants who know CONTPAQi run the AI assistant</a:t>
            </a:r>
            <a:endParaRPr lang="en-US" sz="1400" dirty="0"/>
          </a:p>
        </p:txBody>
      </p:sp>
      <p:sp>
        <p:nvSpPr>
          <p:cNvPr id="26" name="Shape 21"/>
          <p:cNvSpPr/>
          <p:nvPr/>
        </p:nvSpPr>
        <p:spPr>
          <a:xfrm>
            <a:off x="6035040" y="3886200"/>
            <a:ext cx="548640" cy="548640"/>
          </a:xfrm>
          <a:prstGeom prst="ellipse">
            <a:avLst/>
          </a:prstGeom>
          <a:solidFill>
            <a:schemeClr val="accent1"/>
          </a:solidFill>
          <a:ln/>
        </p:spPr>
      </p:sp>
      <p:pic>
        <p:nvPicPr>
          <p:cNvPr id="27" name="Image 3" descr="preencoded.png">    </p:cNvPr>
          <p:cNvPicPr>
            <a:picLocks noChangeAspect="1"/>
          </p:cNvPicPr>
          <p:nvPr/>
        </p:nvPicPr>
        <p:blipFill>
          <a:blip r:embed="rId4"/>
          <a:stretch>
            <a:fillRect/>
          </a:stretch>
        </p:blipFill>
        <p:spPr>
          <a:xfrm>
            <a:off x="6155741" y="4006901"/>
            <a:ext cx="307238" cy="307238"/>
          </a:xfrm>
          <a:prstGeom prst="rect">
            <a:avLst/>
          </a:prstGeom>
        </p:spPr>
      </p:pic>
      <p:sp>
        <p:nvSpPr>
          <p:cNvPr id="28" name="Text 22"/>
          <p:cNvSpPr txBox="1"/>
          <p:nvPr/>
        </p:nvSpPr>
        <p:spPr>
          <a:xfrm>
            <a:off x="6766560" y="3840480"/>
            <a:ext cx="4846320" cy="960120"/>
          </a:xfrm>
          <a:prstGeom prst="rect">
            <a:avLst/>
          </a:prstGeom>
          <a:noFill/>
          <a:ln/>
        </p:spPr>
        <p:txBody>
          <a:bodyPr wrap="square" lIns="0" tIns="0" rIns="0" bIns="0" rtlCol="0" anchor="t"/>
          <a:lstStyle/>
          <a:p>
            <a:pPr indent="0" marL="0">
              <a:buNone/>
            </a:pPr>
            <a:r>
              <a:rPr lang="en-US" sz="1600" b="1" dirty="0">
                <a:solidFill>
                  <a:schemeClr val="tx2"/>
                </a:solidFill>
              </a:rPr>
              <a:t>Model</a:t>
            </a:r>
            <a:endParaRPr lang="en-US" sz="1400" dirty="0"/>
          </a:p>
          <a:p>
            <a:pPr indent="0" marL="0">
              <a:buNone/>
            </a:pPr>
            <a:r>
              <a:rPr lang="en-US" sz="1400" dirty="0">
                <a:solidFill>
                  <a:schemeClr val="tx1"/>
                </a:solidFill>
              </a:rPr>
              <a:t>IFC's Mexico supplier development program (automotive today; we ask for a medtech track)</a:t>
            </a:r>
            <a:endParaRPr lang="en-US" sz="1400" dirty="0"/>
          </a:p>
        </p:txBody>
      </p:sp>
      <p:sp>
        <p:nvSpPr>
          <p:cNvPr id="29" name="Shape 23"/>
          <p:cNvSpPr/>
          <p:nvPr/>
        </p:nvSpPr>
        <p:spPr>
          <a:xfrm>
            <a:off x="6035040" y="4983480"/>
            <a:ext cx="548640" cy="548640"/>
          </a:xfrm>
          <a:prstGeom prst="ellipse">
            <a:avLst/>
          </a:prstGeom>
          <a:solidFill>
            <a:schemeClr val="accent1"/>
          </a:solidFill>
          <a:ln/>
        </p:spPr>
      </p:sp>
      <p:pic>
        <p:nvPicPr>
          <p:cNvPr id="30" name="Image 4" descr="preencoded.png">    </p:cNvPr>
          <p:cNvPicPr>
            <a:picLocks noChangeAspect="1"/>
          </p:cNvPicPr>
          <p:nvPr/>
        </p:nvPicPr>
        <p:blipFill>
          <a:blip r:embed="rId5"/>
          <a:stretch>
            <a:fillRect/>
          </a:stretch>
        </p:blipFill>
        <p:spPr>
          <a:xfrm>
            <a:off x="6155741" y="5104181"/>
            <a:ext cx="307238" cy="307238"/>
          </a:xfrm>
          <a:prstGeom prst="rect">
            <a:avLst/>
          </a:prstGeom>
        </p:spPr>
      </p:pic>
      <p:sp>
        <p:nvSpPr>
          <p:cNvPr id="31" name="Text 24"/>
          <p:cNvSpPr txBox="1"/>
          <p:nvPr/>
        </p:nvSpPr>
        <p:spPr>
          <a:xfrm>
            <a:off x="6766560" y="4937760"/>
            <a:ext cx="4846320" cy="960120"/>
          </a:xfrm>
          <a:prstGeom prst="rect">
            <a:avLst/>
          </a:prstGeom>
          <a:noFill/>
          <a:ln/>
        </p:spPr>
        <p:txBody>
          <a:bodyPr wrap="square" lIns="0" tIns="0" rIns="0" bIns="0" rtlCol="0" anchor="t"/>
          <a:lstStyle/>
          <a:p>
            <a:pPr indent="0" marL="0">
              <a:buNone/>
            </a:pPr>
            <a:r>
              <a:rPr lang="en-US" sz="1600" b="1" dirty="0">
                <a:solidFill>
                  <a:schemeClr val="tx2"/>
                </a:solidFill>
              </a:rPr>
              <a:t>Bonuses, not load-bearing</a:t>
            </a:r>
            <a:endParaRPr lang="en-US" sz="1400" dirty="0"/>
          </a:p>
          <a:p>
            <a:pPr indent="0" marL="0">
              <a:buNone/>
            </a:pPr>
            <a:r>
              <a:rPr lang="en-US" sz="1400" dirty="0">
                <a:solidFill>
                  <a:schemeClr val="tx1"/>
                </a:solidFill>
              </a:rPr>
              <a:t>Baja California certification reimbursement; medical-device cluster workshops</a:t>
            </a:r>
            <a:endParaRPr lang="en-US" sz="1400" dirty="0"/>
          </a:p>
        </p:txBody>
      </p:sp>
      <p:sp>
        <p:nvSpPr>
          <p:cNvPr id="32" name="Text 25"/>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Merit 2025 Sustainability Report p.23; IFC–INA–SE release Aug 2025; research/analogues-mexico-china.md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B5 · China plan (phase 2, 2027)</a:t>
            </a:r>
            <a:endParaRPr lang="en-US" sz="2800" dirty="0"/>
          </a:p>
        </p:txBody>
      </p:sp>
      <p:sp>
        <p:nvSpPr>
          <p:cNvPr id="3" name="Shape 1"/>
          <p:cNvSpPr/>
          <p:nvPr/>
        </p:nvSpPr>
        <p:spPr>
          <a:xfrm>
            <a:off x="548640" y="1645920"/>
            <a:ext cx="548640" cy="54864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69341" y="1766621"/>
            <a:ext cx="307238" cy="307238"/>
          </a:xfrm>
          <a:prstGeom prst="rect">
            <a:avLst/>
          </a:prstGeom>
        </p:spPr>
      </p:pic>
      <p:sp>
        <p:nvSpPr>
          <p:cNvPr id="5" name="Text 2"/>
          <p:cNvSpPr txBox="1"/>
          <p:nvPr/>
        </p:nvSpPr>
        <p:spPr>
          <a:xfrm>
            <a:off x="1325880" y="1554480"/>
            <a:ext cx="10241280" cy="868680"/>
          </a:xfrm>
          <a:prstGeom prst="rect">
            <a:avLst/>
          </a:prstGeom>
          <a:noFill/>
          <a:ln/>
        </p:spPr>
        <p:txBody>
          <a:bodyPr wrap="square" lIns="0" tIns="0" rIns="0" bIns="0" rtlCol="0" anchor="t"/>
          <a:lstStyle/>
          <a:p>
            <a:pPr indent="0" marL="0">
              <a:buNone/>
            </a:pPr>
            <a:r>
              <a:rPr lang="en-US" sz="1600" b="1" dirty="0">
                <a:solidFill>
                  <a:schemeClr val="tx2"/>
                </a:solidFill>
              </a:rPr>
              <a:t>Screen now: IPE Blue Map</a:t>
            </a:r>
            <a:endParaRPr lang="en-US" sz="1400" dirty="0"/>
          </a:p>
          <a:p>
            <a:pPr indent="0" marL="0">
              <a:buNone/>
            </a:pPr>
            <a:r>
              <a:rPr lang="en-US" sz="1400" dirty="0">
                <a:solidFill>
                  <a:schemeClr val="tx1"/>
                </a:solidFill>
              </a:rPr>
              <a:t>Beijing NGO database of government and company environmental records. Flags public violations; it is not a carbon inventory or a labor audit.</a:t>
            </a:r>
            <a:endParaRPr lang="en-US" sz="1400" dirty="0"/>
          </a:p>
        </p:txBody>
      </p:sp>
      <p:sp>
        <p:nvSpPr>
          <p:cNvPr id="6" name="Shape 3"/>
          <p:cNvSpPr/>
          <p:nvPr/>
        </p:nvSpPr>
        <p:spPr>
          <a:xfrm>
            <a:off x="548640" y="2578608"/>
            <a:ext cx="548640" cy="54864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669341" y="2699309"/>
            <a:ext cx="307238" cy="307238"/>
          </a:xfrm>
          <a:prstGeom prst="rect">
            <a:avLst/>
          </a:prstGeom>
        </p:spPr>
      </p:pic>
      <p:sp>
        <p:nvSpPr>
          <p:cNvPr id="8" name="Text 4"/>
          <p:cNvSpPr txBox="1"/>
          <p:nvPr/>
        </p:nvSpPr>
        <p:spPr>
          <a:xfrm>
            <a:off x="1325880" y="2487168"/>
            <a:ext cx="10241280" cy="868680"/>
          </a:xfrm>
          <a:prstGeom prst="rect">
            <a:avLst/>
          </a:prstGeom>
          <a:noFill/>
          <a:ln/>
        </p:spPr>
        <p:txBody>
          <a:bodyPr wrap="square" lIns="0" tIns="0" rIns="0" bIns="0" rtlCol="0" anchor="t"/>
          <a:lstStyle/>
          <a:p>
            <a:pPr indent="0" marL="0">
              <a:buNone/>
            </a:pPr>
            <a:r>
              <a:rPr lang="en-US" sz="1600" b="1" dirty="0">
                <a:solidFill>
                  <a:schemeClr val="tx2"/>
                </a:solidFill>
              </a:rPr>
              <a:t>Then: AI assistant + local consultant</a:t>
            </a:r>
            <a:endParaRPr lang="en-US" sz="1400" dirty="0"/>
          </a:p>
          <a:p>
            <a:pPr indent="0" marL="0">
              <a:buNone/>
            </a:pPr>
            <a:r>
              <a:rPr lang="en-US" sz="1400" dirty="0">
                <a:solidFill>
                  <a:schemeClr val="tx1"/>
                </a:solidFill>
              </a:rPr>
              <a:t>Same model as Mexico: a consultant who knows Kingdee or Yonyou runs it on e-fapiao and books. EcoVadis already works in Chinese.</a:t>
            </a:r>
            <a:endParaRPr lang="en-US" sz="1400" dirty="0"/>
          </a:p>
        </p:txBody>
      </p:sp>
      <p:sp>
        <p:nvSpPr>
          <p:cNvPr id="9" name="Shape 5"/>
          <p:cNvSpPr/>
          <p:nvPr/>
        </p:nvSpPr>
        <p:spPr>
          <a:xfrm>
            <a:off x="548640" y="3511296"/>
            <a:ext cx="548640" cy="54864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669341" y="3631997"/>
            <a:ext cx="307238" cy="307238"/>
          </a:xfrm>
          <a:prstGeom prst="rect">
            <a:avLst/>
          </a:prstGeom>
        </p:spPr>
      </p:pic>
      <p:sp>
        <p:nvSpPr>
          <p:cNvPr id="11" name="Text 6"/>
          <p:cNvSpPr txBox="1"/>
          <p:nvPr/>
        </p:nvSpPr>
        <p:spPr>
          <a:xfrm>
            <a:off x="1325880" y="3419856"/>
            <a:ext cx="10241280" cy="868680"/>
          </a:xfrm>
          <a:prstGeom prst="rect">
            <a:avLst/>
          </a:prstGeom>
          <a:noFill/>
          <a:ln/>
        </p:spPr>
        <p:txBody>
          <a:bodyPr wrap="square" lIns="0" tIns="0" rIns="0" bIns="0" rtlCol="0" anchor="t"/>
          <a:lstStyle/>
          <a:p>
            <a:pPr indent="0" marL="0">
              <a:buNone/>
            </a:pPr>
            <a:r>
              <a:rPr lang="en-US" sz="1600" b="1" dirty="0">
                <a:solidFill>
                  <a:schemeClr val="tx2"/>
                </a:solidFill>
              </a:rPr>
              <a:t>Model: Philips × Zhejiang Haishun</a:t>
            </a:r>
            <a:endParaRPr lang="en-US" sz="1400" dirty="0"/>
          </a:p>
          <a:p>
            <a:pPr indent="0" marL="0">
              <a:buNone/>
            </a:pPr>
            <a:r>
              <a:rPr lang="en-US" sz="1400" dirty="0">
                <a:solidFill>
                  <a:schemeClr val="tx1"/>
                </a:solidFill>
              </a:rPr>
              <a:t>Collaboration over auditing; 120+ improvement opportunities found (savings were projected).</a:t>
            </a:r>
            <a:endParaRPr lang="en-US" sz="1400" dirty="0"/>
          </a:p>
        </p:txBody>
      </p:sp>
      <p:sp>
        <p:nvSpPr>
          <p:cNvPr id="12" name="Shape 7"/>
          <p:cNvSpPr/>
          <p:nvPr/>
        </p:nvSpPr>
        <p:spPr>
          <a:xfrm>
            <a:off x="548640" y="4443984"/>
            <a:ext cx="548640" cy="548640"/>
          </a:xfrm>
          <a:prstGeom prst="ellipse">
            <a:avLst/>
          </a:prstGeom>
          <a:solidFill>
            <a:schemeClr val="accent2"/>
          </a:solidFill>
          <a:ln/>
        </p:spPr>
      </p:sp>
      <p:pic>
        <p:nvPicPr>
          <p:cNvPr id="13" name="Image 3" descr="preencoded.png">    </p:cNvPr>
          <p:cNvPicPr>
            <a:picLocks noChangeAspect="1"/>
          </p:cNvPicPr>
          <p:nvPr/>
        </p:nvPicPr>
        <p:blipFill>
          <a:blip r:embed="rId4"/>
          <a:stretch>
            <a:fillRect/>
          </a:stretch>
        </p:blipFill>
        <p:spPr>
          <a:xfrm>
            <a:off x="669341" y="4564685"/>
            <a:ext cx="307238" cy="307238"/>
          </a:xfrm>
          <a:prstGeom prst="rect">
            <a:avLst/>
          </a:prstGeom>
        </p:spPr>
      </p:pic>
      <p:sp>
        <p:nvSpPr>
          <p:cNvPr id="14" name="Text 8"/>
          <p:cNvSpPr txBox="1"/>
          <p:nvPr/>
        </p:nvSpPr>
        <p:spPr>
          <a:xfrm>
            <a:off x="1325880" y="4352544"/>
            <a:ext cx="10241280" cy="868680"/>
          </a:xfrm>
          <a:prstGeom prst="rect">
            <a:avLst/>
          </a:prstGeom>
          <a:noFill/>
          <a:ln/>
        </p:spPr>
        <p:txBody>
          <a:bodyPr wrap="square" lIns="0" tIns="0" rIns="0" bIns="0" rtlCol="0" anchor="t"/>
          <a:lstStyle/>
          <a:p>
            <a:pPr indent="0" marL="0">
              <a:buNone/>
            </a:pPr>
            <a:r>
              <a:rPr lang="en-US" sz="1600" b="1" dirty="0">
                <a:solidFill>
                  <a:schemeClr val="tx2"/>
                </a:solidFill>
              </a:rPr>
              <a:t>Not RBA</a:t>
            </a:r>
            <a:endParaRPr lang="en-US" sz="1400" dirty="0"/>
          </a:p>
          <a:p>
            <a:pPr indent="0" marL="0">
              <a:buNone/>
            </a:pPr>
            <a:r>
              <a:rPr lang="en-US" sz="1400" dirty="0">
                <a:solidFill>
                  <a:schemeClr val="tx1"/>
                </a:solidFill>
              </a:rPr>
              <a:t>Placed on China's MOFCOM countermeasure list (Aug 2026). Single source; verify before citing.</a:t>
            </a:r>
            <a:endParaRPr lang="en-US" sz="1400" dirty="0"/>
          </a:p>
        </p:txBody>
      </p:sp>
      <p:sp>
        <p:nvSpPr>
          <p:cNvPr id="15" name="Shape 9"/>
          <p:cNvSpPr/>
          <p:nvPr/>
        </p:nvSpPr>
        <p:spPr>
          <a:xfrm>
            <a:off x="548640" y="5376672"/>
            <a:ext cx="548640" cy="548640"/>
          </a:xfrm>
          <a:prstGeom prst="ellipse">
            <a:avLst/>
          </a:prstGeom>
          <a:solidFill>
            <a:schemeClr val="accent1"/>
          </a:solidFill>
          <a:ln/>
        </p:spPr>
      </p:sp>
      <p:pic>
        <p:nvPicPr>
          <p:cNvPr id="16" name="Image 4" descr="preencoded.png">    </p:cNvPr>
          <p:cNvPicPr>
            <a:picLocks noChangeAspect="1"/>
          </p:cNvPicPr>
          <p:nvPr/>
        </p:nvPicPr>
        <p:blipFill>
          <a:blip r:embed="rId5"/>
          <a:stretch>
            <a:fillRect/>
          </a:stretch>
        </p:blipFill>
        <p:spPr>
          <a:xfrm>
            <a:off x="669341" y="5497373"/>
            <a:ext cx="307238" cy="307238"/>
          </a:xfrm>
          <a:prstGeom prst="rect">
            <a:avLst/>
          </a:prstGeom>
        </p:spPr>
      </p:pic>
      <p:sp>
        <p:nvSpPr>
          <p:cNvPr id="17" name="Text 10"/>
          <p:cNvSpPr txBox="1"/>
          <p:nvPr/>
        </p:nvSpPr>
        <p:spPr>
          <a:xfrm>
            <a:off x="1325880" y="5285232"/>
            <a:ext cx="10241280" cy="868680"/>
          </a:xfrm>
          <a:prstGeom prst="rect">
            <a:avLst/>
          </a:prstGeom>
          <a:noFill/>
          <a:ln/>
        </p:spPr>
        <p:txBody>
          <a:bodyPr wrap="square" lIns="0" tIns="0" rIns="0" bIns="0" rtlCol="0" anchor="t"/>
          <a:lstStyle/>
          <a:p>
            <a:pPr indent="0" marL="0">
              <a:buNone/>
            </a:pPr>
            <a:r>
              <a:rPr lang="en-US" sz="1600" b="1" dirty="0">
                <a:solidFill>
                  <a:schemeClr val="tx2"/>
                </a:solidFill>
              </a:rPr>
              <a:t>UFLPA screening from day 1</a:t>
            </a:r>
            <a:endParaRPr lang="en-US" sz="1400" dirty="0"/>
          </a:p>
          <a:p>
            <a:pPr indent="0" marL="0">
              <a:buNone/>
            </a:pPr>
            <a:r>
              <a:rPr lang="en-US" sz="1400" dirty="0">
                <a:solidFill>
                  <a:schemeClr val="tx1"/>
                </a:solidFill>
              </a:rPr>
              <a:t>Check every China supplier against the entity list.</a:t>
            </a:r>
            <a:endParaRPr lang="en-US" sz="1400" dirty="0"/>
          </a:p>
        </p:txBody>
      </p:sp>
      <p:sp>
        <p:nvSpPr>
          <p:cNvPr id="18" name="Text 1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IPE; Philips Dec 2021; EcoVadis language support; research/analogues-mexico-china.md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B6 · EcoVadis mechanics</a:t>
            </a:r>
            <a:endParaRPr lang="en-US" sz="2800" dirty="0"/>
          </a:p>
        </p:txBody>
      </p:sp>
      <p:sp>
        <p:nvSpPr>
          <p:cNvPr id="3" name="Shape 1"/>
          <p:cNvSpPr/>
          <p:nvPr/>
        </p:nvSpPr>
        <p:spPr>
          <a:xfrm>
            <a:off x="548640" y="1554480"/>
            <a:ext cx="3566160" cy="3474720"/>
          </a:xfrm>
          <a:prstGeom prst="roundRect">
            <a:avLst>
              <a:gd name="adj" fmla="val 2105"/>
            </a:avLst>
          </a:prstGeom>
          <a:solidFill>
            <a:schemeClr val="bg2"/>
          </a:solidFill>
          <a:ln/>
        </p:spPr>
      </p:sp>
      <p:sp>
        <p:nvSpPr>
          <p:cNvPr id="4" name="Text 2"/>
          <p:cNvSpPr txBox="1"/>
          <p:nvPr/>
        </p:nvSpPr>
        <p:spPr>
          <a:xfrm>
            <a:off x="822960" y="173736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Vitals</a:t>
            </a:r>
            <a:endParaRPr lang="en-US" sz="1800" dirty="0"/>
          </a:p>
        </p:txBody>
      </p:sp>
      <p:sp>
        <p:nvSpPr>
          <p:cNvPr id="5" name="Text 3"/>
          <p:cNvSpPr txBox="1"/>
          <p:nvPr/>
        </p:nvSpPr>
        <p:spPr>
          <a:xfrm>
            <a:off x="822960" y="2286000"/>
            <a:ext cx="30632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≤30-minute questionnaire, under 20 questions, 14 languages</a:t>
            </a:r>
            <a:endParaRPr lang="en-US" sz="1400" dirty="0"/>
          </a:p>
          <a:p>
            <a:pPr marL="342900" indent="-342900">
              <a:spcAft>
                <a:spcPts val="800"/>
              </a:spcAft>
              <a:buSzPct val="100000"/>
              <a:buChar char="•"/>
            </a:pPr>
            <a:r>
              <a:rPr lang="en-US" sz="1400" dirty="0">
                <a:solidFill>
                  <a:schemeClr val="tx1"/>
                </a:solidFill>
              </a:rPr>
              <a:t>Risk profile; the on-ramp for small suppliers</a:t>
            </a:r>
            <a:endParaRPr lang="en-US" sz="1400" dirty="0"/>
          </a:p>
          <a:p>
            <a:pPr marL="342900" indent="-342900">
              <a:spcAft>
                <a:spcPts val="800"/>
              </a:spcAft>
              <a:buSzPct val="100000"/>
              <a:buChar char="•"/>
            </a:pPr>
            <a:r>
              <a:rPr lang="en-US" sz="1400" dirty="0">
                <a:solidFill>
                  <a:schemeClr val="tx1"/>
                </a:solidFill>
              </a:rPr>
              <a:t>Price needs a quote</a:t>
            </a:r>
            <a:endParaRPr lang="en-US" sz="1400" dirty="0"/>
          </a:p>
        </p:txBody>
      </p:sp>
      <p:sp>
        <p:nvSpPr>
          <p:cNvPr id="6" name="Shape 4"/>
          <p:cNvSpPr/>
          <p:nvPr/>
        </p:nvSpPr>
        <p:spPr>
          <a:xfrm>
            <a:off x="4315968" y="1554480"/>
            <a:ext cx="3566160" cy="3474720"/>
          </a:xfrm>
          <a:prstGeom prst="roundRect">
            <a:avLst>
              <a:gd name="adj" fmla="val 2105"/>
            </a:avLst>
          </a:prstGeom>
          <a:solidFill>
            <a:schemeClr val="bg2"/>
          </a:solidFill>
          <a:ln/>
        </p:spPr>
      </p:sp>
      <p:sp>
        <p:nvSpPr>
          <p:cNvPr id="7" name="Text 5"/>
          <p:cNvSpPr txBox="1"/>
          <p:nvPr/>
        </p:nvSpPr>
        <p:spPr>
          <a:xfrm>
            <a:off x="4590288" y="173736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Full rating</a:t>
            </a:r>
            <a:endParaRPr lang="en-US" sz="1800" dirty="0"/>
          </a:p>
        </p:txBody>
      </p:sp>
      <p:sp>
        <p:nvSpPr>
          <p:cNvPr id="8" name="Text 6"/>
          <p:cNvSpPr txBox="1"/>
          <p:nvPr/>
        </p:nvSpPr>
        <p:spPr>
          <a:xfrm>
            <a:off x="4590288" y="2286000"/>
            <a:ext cx="30632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Environment, labor and human rights, ethics, sustainable procurement</a:t>
            </a:r>
            <a:endParaRPr lang="en-US" sz="1400" dirty="0"/>
          </a:p>
          <a:p>
            <a:pPr marL="342900" indent="-342900">
              <a:spcAft>
                <a:spcPts val="800"/>
              </a:spcAft>
              <a:buSzPct val="100000"/>
              <a:buChar char="•"/>
            </a:pPr>
            <a:r>
              <a:rPr lang="en-US" sz="1400" dirty="0">
                <a:solidFill>
                  <a:schemeClr val="tx1"/>
                </a:solidFill>
              </a:rPr>
              <a:t>Evidence reviewed by EcoVadis analysts; documents made only for the questionnaire are rejected</a:t>
            </a:r>
            <a:endParaRPr lang="en-US" sz="1400" dirty="0"/>
          </a:p>
          <a:p>
            <a:pPr marL="342900" indent="-342900">
              <a:spcAft>
                <a:spcPts val="800"/>
              </a:spcAft>
              <a:buSzPct val="100000"/>
              <a:buChar char="•"/>
            </a:pPr>
            <a:r>
              <a:rPr lang="en-US" sz="1400" dirty="0">
                <a:solidFill>
                  <a:schemeClr val="tx1"/>
                </a:solidFill>
              </a:rPr>
              <a:t>Score 0–100; we ask for ≥45</a:t>
            </a:r>
            <a:endParaRPr lang="en-US" sz="1400" dirty="0"/>
          </a:p>
        </p:txBody>
      </p:sp>
      <p:sp>
        <p:nvSpPr>
          <p:cNvPr id="9" name="Shape 7"/>
          <p:cNvSpPr/>
          <p:nvPr/>
        </p:nvSpPr>
        <p:spPr>
          <a:xfrm>
            <a:off x="8083296" y="1554480"/>
            <a:ext cx="3566160" cy="3474720"/>
          </a:xfrm>
          <a:prstGeom prst="roundRect">
            <a:avLst>
              <a:gd name="adj" fmla="val 2105"/>
            </a:avLst>
          </a:prstGeom>
          <a:solidFill>
            <a:schemeClr val="bg2"/>
          </a:solidFill>
          <a:ln/>
        </p:spPr>
      </p:sp>
      <p:sp>
        <p:nvSpPr>
          <p:cNvPr id="10" name="Text 8"/>
          <p:cNvSpPr txBox="1"/>
          <p:nvPr/>
        </p:nvSpPr>
        <p:spPr>
          <a:xfrm>
            <a:off x="8357616" y="173736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Carbon Action Manager</a:t>
            </a:r>
            <a:endParaRPr lang="en-US" sz="1800" dirty="0"/>
          </a:p>
        </p:txBody>
      </p:sp>
      <p:sp>
        <p:nvSpPr>
          <p:cNvPr id="11" name="Text 9"/>
          <p:cNvSpPr txBox="1"/>
          <p:nvPr/>
        </p:nvSpPr>
        <p:spPr>
          <a:xfrm>
            <a:off x="8357616" y="2286000"/>
            <a:ext cx="30632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Supplier emissions figures with reliability levels</a:t>
            </a:r>
            <a:endParaRPr lang="en-US" sz="1400" dirty="0"/>
          </a:p>
          <a:p>
            <a:pPr marL="342900" indent="-342900">
              <a:spcAft>
                <a:spcPts val="800"/>
              </a:spcAft>
              <a:buSzPct val="100000"/>
              <a:buChar char="•"/>
            </a:pPr>
            <a:r>
              <a:rPr lang="en-US" sz="1400" dirty="0">
                <a:solidFill>
                  <a:schemeClr val="tx1"/>
                </a:solidFill>
              </a:rPr>
              <a:t>Feeds Scope 3; a rating is not emissions data</a:t>
            </a:r>
            <a:endParaRPr lang="en-US" sz="1400" dirty="0"/>
          </a:p>
          <a:p>
            <a:pPr marL="342900" indent="-342900">
              <a:spcAft>
                <a:spcPts val="800"/>
              </a:spcAft>
              <a:buSzPct val="100000"/>
              <a:buChar char="•"/>
            </a:pPr>
            <a:r>
              <a:rPr lang="en-US" sz="1400" dirty="0">
                <a:solidFill>
                  <a:schemeClr val="tx1"/>
                </a:solidFill>
              </a:rPr>
              <a:t>Confirm Merit's subscription and exports</a:t>
            </a:r>
            <a:endParaRPr lang="en-US" sz="1400" dirty="0"/>
          </a:p>
        </p:txBody>
      </p:sp>
      <p:sp>
        <p:nvSpPr>
          <p:cNvPr id="12" name="Text 10"/>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EcoVadis support center; supplier-emissions-data-and-ecovadis.md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B7 · Mexico specifics</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468880"/>
                <a:gridCol w="4754880"/>
                <a:gridCol w="3840480"/>
              </a:tblGrid>
              <a:tr h="73152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What's true</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How we use it</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7315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IFC–INA–SE supplier program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Automotive anchor-firm program (Aug 2025): diagnostics, training, mentoring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Model it; ask IFC for a medtech track. Access unconfirmed</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7315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NAFIN Cadenas Productivas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Fee-free reverse factoring priced off the buyer's credit. SME loans ~14.4% vs TIIE 6.76%</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Early payment for completers. The ESG link is our design</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7315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Labor reform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Legal week 48 → 46 hrs (2027) → 40 hrs (2030)</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Help suppliers comply; tripwire: weekly pay holds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7315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E-invoicing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Every invoice is a CFDI XML file filed with SAT, including CFE electricity bills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The AI assistant's main data source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7315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Local reporting</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SEMARNAT RENE (threshold-based), NIF/NIS, CNBV: applies case by case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Check which applies per supplier; none replaces EcoVadis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4" name="Text 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research/analogues-mexico-china.md; supplier-emissions-data-and-ecovadis.md; SAT</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B8 · Scope 3 method: estimate first, then replace with supplier data</a:t>
            </a:r>
            <a:endParaRPr lang="en-US" sz="2800" dirty="0"/>
          </a:p>
        </p:txBody>
      </p:sp>
      <p:sp>
        <p:nvSpPr>
          <p:cNvPr id="3" name="Text 1"/>
          <p:cNvSpPr/>
          <p:nvPr/>
        </p:nvSpPr>
        <p:spPr>
          <a:xfrm>
            <a:off x="548640" y="1645920"/>
            <a:ext cx="3383280" cy="1828800"/>
          </a:xfrm>
          <a:prstGeom prst="roundRect">
            <a:avLst>
              <a:gd name="adj" fmla="val 5000"/>
            </a:avLst>
          </a:prstGeom>
          <a:solidFill>
            <a:schemeClr val="accent3"/>
          </a:solidFill>
          <a:ln/>
        </p:spPr>
        <p:txBody>
          <a:bodyPr wrap="square" lIns="177800" tIns="177800" rIns="177800" bIns="177800" rtlCol="0" anchor="ctr"/>
          <a:lstStyle/>
          <a:p>
            <a:pPr algn="l" indent="0" marL="0">
              <a:buNone/>
            </a:pPr>
            <a:r>
              <a:rPr lang="en-US" sz="1800" b="1" dirty="0">
                <a:solidFill>
                  <a:schemeClr val="bg1"/>
                </a:solidFill>
              </a:rPr>
              <a:t>Spend-based (now)</a:t>
            </a:r>
            <a:endParaRPr lang="en-US" sz="1800" dirty="0"/>
          </a:p>
          <a:p>
            <a:pPr algn="l" indent="0" marL="0">
              <a:buNone/>
            </a:pPr>
            <a:r>
              <a:rPr lang="en-US" sz="1400" dirty="0">
                <a:solidFill>
                  <a:schemeClr val="bg1"/>
                </a:solidFill>
              </a:rPr>
              <a:t>Spend × sector emission factor. Labeled as an estimate.</a:t>
            </a:r>
            <a:endParaRPr lang="en-US" sz="1800" dirty="0"/>
          </a:p>
        </p:txBody>
      </p:sp>
      <p:sp>
        <p:nvSpPr>
          <p:cNvPr id="4" name="Shape 2"/>
          <p:cNvSpPr/>
          <p:nvPr/>
        </p:nvSpPr>
        <p:spPr>
          <a:xfrm>
            <a:off x="3977640" y="2377440"/>
            <a:ext cx="292608" cy="365760"/>
          </a:xfrm>
          <a:prstGeom prst="rightArrow">
            <a:avLst/>
          </a:prstGeom>
          <a:solidFill>
            <a:schemeClr val="accent3"/>
          </a:solidFill>
          <a:ln/>
        </p:spPr>
      </p:sp>
      <p:sp>
        <p:nvSpPr>
          <p:cNvPr id="5" name="Text 3"/>
          <p:cNvSpPr/>
          <p:nvPr/>
        </p:nvSpPr>
        <p:spPr>
          <a:xfrm>
            <a:off x="4315968" y="1645920"/>
            <a:ext cx="3383280" cy="1828800"/>
          </a:xfrm>
          <a:prstGeom prst="roundRect">
            <a:avLst>
              <a:gd name="adj" fmla="val 5000"/>
            </a:avLst>
          </a:prstGeom>
          <a:solidFill>
            <a:schemeClr val="accent4"/>
          </a:solidFill>
          <a:ln/>
        </p:spPr>
        <p:txBody>
          <a:bodyPr wrap="square" lIns="177800" tIns="177800" rIns="177800" bIns="177800" rtlCol="0" anchor="ctr"/>
          <a:lstStyle/>
          <a:p>
            <a:pPr algn="l" indent="0" marL="0">
              <a:buNone/>
            </a:pPr>
            <a:r>
              <a:rPr lang="en-US" sz="1800" b="1" dirty="0">
                <a:solidFill>
                  <a:schemeClr val="bg1"/>
                </a:solidFill>
              </a:rPr>
              <a:t>Hybrid (2027)</a:t>
            </a:r>
            <a:endParaRPr lang="en-US" sz="1800" dirty="0"/>
          </a:p>
          <a:p>
            <a:pPr algn="l" indent="0" marL="0">
              <a:buNone/>
            </a:pPr>
            <a:r>
              <a:rPr lang="en-US" sz="1400" dirty="0">
                <a:solidFill>
                  <a:schemeClr val="bg1"/>
                </a:solidFill>
              </a:rPr>
              <a:t>Supplier activity data (kWh, fuel) from evidence packs for critical suppliers.</a:t>
            </a:r>
            <a:endParaRPr lang="en-US" sz="1800" dirty="0"/>
          </a:p>
        </p:txBody>
      </p:sp>
      <p:sp>
        <p:nvSpPr>
          <p:cNvPr id="6" name="Shape 4"/>
          <p:cNvSpPr/>
          <p:nvPr/>
        </p:nvSpPr>
        <p:spPr>
          <a:xfrm>
            <a:off x="7744968" y="2377440"/>
            <a:ext cx="292608" cy="365760"/>
          </a:xfrm>
          <a:prstGeom prst="rightArrow">
            <a:avLst/>
          </a:prstGeom>
          <a:solidFill>
            <a:schemeClr val="accent3"/>
          </a:solidFill>
          <a:ln/>
        </p:spPr>
      </p:sp>
      <p:sp>
        <p:nvSpPr>
          <p:cNvPr id="7" name="Text 5"/>
          <p:cNvSpPr/>
          <p:nvPr/>
        </p:nvSpPr>
        <p:spPr>
          <a:xfrm>
            <a:off x="8083296" y="1645920"/>
            <a:ext cx="3383280" cy="1828800"/>
          </a:xfrm>
          <a:prstGeom prst="roundRect">
            <a:avLst>
              <a:gd name="adj" fmla="val 5000"/>
            </a:avLst>
          </a:prstGeom>
          <a:solidFill>
            <a:schemeClr val="accent1"/>
          </a:solidFill>
          <a:ln/>
        </p:spPr>
        <p:txBody>
          <a:bodyPr wrap="square" lIns="177800" tIns="177800" rIns="177800" bIns="177800" rtlCol="0" anchor="ctr"/>
          <a:lstStyle/>
          <a:p>
            <a:pPr algn="l" indent="0" marL="0">
              <a:buNone/>
            </a:pPr>
            <a:r>
              <a:rPr lang="en-US" sz="1800" b="1" dirty="0">
                <a:solidFill>
                  <a:schemeClr val="bg1"/>
                </a:solidFill>
              </a:rPr>
              <a:t>Supplier-specific</a:t>
            </a:r>
            <a:endParaRPr lang="en-US" sz="1800" dirty="0"/>
          </a:p>
          <a:p>
            <a:pPr algn="l" indent="0" marL="0">
              <a:buNone/>
            </a:pPr>
            <a:r>
              <a:rPr lang="en-US" sz="1400" dirty="0">
                <a:solidFill>
                  <a:schemeClr val="bg1"/>
                </a:solidFill>
              </a:rPr>
              <a:t>Traceable packs, allocated to what Merit actually buys.</a:t>
            </a:r>
            <a:endParaRPr lang="en-US" sz="1800" dirty="0"/>
          </a:p>
        </p:txBody>
      </p:sp>
      <p:sp>
        <p:nvSpPr>
          <p:cNvPr id="8" name="Text 6"/>
          <p:cNvSpPr txBox="1"/>
          <p:nvPr/>
        </p:nvSpPr>
        <p:spPr>
          <a:xfrm>
            <a:off x="548640" y="3840480"/>
            <a:ext cx="1106424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 supplier's whole footprint isn't Merit's: allocate by what Merit buys</a:t>
            </a:r>
            <a:endParaRPr lang="en-US" sz="1500" dirty="0"/>
          </a:p>
          <a:p>
            <a:pPr marL="342900" indent="-342900">
              <a:spcAft>
                <a:spcPts val="800"/>
              </a:spcAft>
              <a:buSzPct val="100000"/>
              <a:buChar char="•"/>
            </a:pPr>
            <a:r>
              <a:rPr lang="en-US" sz="1500" dirty="0">
                <a:solidFill>
                  <a:schemeClr val="tx1"/>
                </a:solidFill>
              </a:rPr>
              <a:t>Missing data isn't zero: keep the estimate until a supplier figure replaces it</a:t>
            </a:r>
            <a:endParaRPr lang="en-US" sz="1500" dirty="0"/>
          </a:p>
          <a:p>
            <a:pPr marL="342900" indent="-342900">
              <a:spcAft>
                <a:spcPts val="800"/>
              </a:spcAft>
              <a:buSzPct val="100000"/>
              <a:buChar char="•"/>
            </a:pPr>
            <a:r>
              <a:rPr lang="en-US" sz="1500" dirty="0">
                <a:solidFill>
                  <a:schemeClr val="tx1"/>
                </a:solidFill>
              </a:rPr>
              <a:t>Report the mix every year: % from supplier data vs % estimated</a:t>
            </a:r>
            <a:endParaRPr lang="en-US" sz="1500" dirty="0"/>
          </a:p>
          <a:p>
            <a:pPr marL="342900" indent="-342900">
              <a:spcAft>
                <a:spcPts val="800"/>
              </a:spcAft>
              <a:buSzPct val="100000"/>
              <a:buChar char="•"/>
            </a:pPr>
            <a:r>
              <a:rPr lang="en-US" sz="1500" dirty="0">
                <a:solidFill>
                  <a:schemeClr val="tx1"/>
                </a:solidFill>
              </a:rPr>
              <a:t>A traceable calculation can be checked; independent assurance is a separate, later step</a:t>
            </a:r>
            <a:endParaRPr lang="en-US" sz="1500" dirty="0"/>
          </a:p>
        </p:txBody>
      </p:sp>
      <p:sp>
        <p:nvSpPr>
          <p:cNvPr id="9" name="Text 7"/>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GHG Protocol Scope 3 Category 1 guidance; supplier-emissions-data-and-ecovadis.md</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B9 · The AI evidence assistant: how it works and why suppliers can trust it</a:t>
            </a:r>
            <a:endParaRPr lang="en-US" sz="2800" dirty="0"/>
          </a:p>
        </p:txBody>
      </p:sp>
      <p:sp>
        <p:nvSpPr>
          <p:cNvPr id="3" name="Shape 1"/>
          <p:cNvSpPr/>
          <p:nvPr/>
        </p:nvSpPr>
        <p:spPr>
          <a:xfrm>
            <a:off x="548640" y="1554480"/>
            <a:ext cx="3566160" cy="3931920"/>
          </a:xfrm>
          <a:prstGeom prst="roundRect">
            <a:avLst>
              <a:gd name="adj" fmla="val 2051"/>
            </a:avLst>
          </a:prstGeom>
          <a:solidFill>
            <a:schemeClr val="bg2"/>
          </a:solidFill>
          <a:ln/>
        </p:spPr>
      </p:sp>
      <p:sp>
        <p:nvSpPr>
          <p:cNvPr id="4" name="Text 2"/>
          <p:cNvSpPr txBox="1"/>
          <p:nvPr/>
        </p:nvSpPr>
        <p:spPr>
          <a:xfrm>
            <a:off x="822960" y="1737360"/>
            <a:ext cx="3017520" cy="45720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What it reads</a:t>
            </a:r>
            <a:endParaRPr lang="en-US" sz="1800" dirty="0"/>
          </a:p>
        </p:txBody>
      </p:sp>
      <p:sp>
        <p:nvSpPr>
          <p:cNvPr id="5" name="Text 3"/>
          <p:cNvSpPr txBox="1"/>
          <p:nvPr/>
        </p:nvSpPr>
        <p:spPr>
          <a:xfrm>
            <a:off x="822960" y="2286000"/>
            <a:ext cx="306324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Mexico: CFDI e-invoices (electricity, fuel, gas), CONTPAQi / Aspel exports</a:t>
            </a:r>
            <a:endParaRPr lang="en-US" sz="1400" dirty="0"/>
          </a:p>
          <a:p>
            <a:pPr marL="342900" indent="-342900">
              <a:spcAft>
                <a:spcPts val="800"/>
              </a:spcAft>
              <a:buSzPct val="100000"/>
              <a:buChar char="•"/>
            </a:pPr>
            <a:r>
              <a:rPr lang="en-US" sz="1400" dirty="0">
                <a:solidFill>
                  <a:schemeClr val="tx1"/>
                </a:solidFill>
              </a:rPr>
              <a:t>China: e-fapiao, Kingdee / Yonyou exports</a:t>
            </a:r>
            <a:endParaRPr lang="en-US" sz="1400" dirty="0"/>
          </a:p>
          <a:p>
            <a:pPr marL="342900" indent="-342900">
              <a:spcAft>
                <a:spcPts val="800"/>
              </a:spcAft>
              <a:buSzPct val="100000"/>
              <a:buChar char="•"/>
            </a:pPr>
            <a:r>
              <a:rPr lang="en-US" sz="1400" dirty="0">
                <a:solidFill>
                  <a:schemeClr val="tx1"/>
                </a:solidFill>
              </a:rPr>
              <a:t>Production logs, payroll hour summaries, permits and certificates</a:t>
            </a:r>
            <a:endParaRPr lang="en-US" sz="1400" dirty="0"/>
          </a:p>
        </p:txBody>
      </p:sp>
      <p:sp>
        <p:nvSpPr>
          <p:cNvPr id="6" name="Shape 4"/>
          <p:cNvSpPr/>
          <p:nvPr/>
        </p:nvSpPr>
        <p:spPr>
          <a:xfrm>
            <a:off x="4315968" y="1554480"/>
            <a:ext cx="3566160" cy="3931920"/>
          </a:xfrm>
          <a:prstGeom prst="roundRect">
            <a:avLst>
              <a:gd name="adj" fmla="val 2051"/>
            </a:avLst>
          </a:prstGeom>
          <a:solidFill>
            <a:schemeClr val="bg2"/>
          </a:solidFill>
          <a:ln/>
        </p:spPr>
      </p:sp>
      <p:sp>
        <p:nvSpPr>
          <p:cNvPr id="7" name="Text 5"/>
          <p:cNvSpPr txBox="1"/>
          <p:nvPr/>
        </p:nvSpPr>
        <p:spPr>
          <a:xfrm>
            <a:off x="4590288" y="1737360"/>
            <a:ext cx="3017520" cy="457200"/>
          </a:xfrm>
          <a:prstGeom prst="rect">
            <a:avLst/>
          </a:prstGeom>
          <a:noFill/>
          <a:ln/>
        </p:spPr>
        <p:txBody>
          <a:bodyPr wrap="square" lIns="0" tIns="0" rIns="0" bIns="0" rtlCol="0" anchor="t"/>
          <a:lstStyle/>
          <a:p>
            <a:pPr indent="0" marL="0">
              <a:buNone/>
            </a:pPr>
            <a:r>
              <a:rPr lang="en-US" sz="1800" b="1" dirty="0">
                <a:solidFill>
                  <a:schemeClr val="accent4"/>
                </a:solidFill>
                <a:latin typeface="+mj-lt" pitchFamily="34" charset="0"/>
                <a:ea typeface="+mj-lt" pitchFamily="34" charset="-122"/>
                <a:cs typeface="+mj-lt" pitchFamily="34" charset="-120"/>
              </a:rPr>
              <a:t>What it produces</a:t>
            </a:r>
            <a:endParaRPr lang="en-US" sz="1800" dirty="0"/>
          </a:p>
        </p:txBody>
      </p:sp>
      <p:sp>
        <p:nvSpPr>
          <p:cNvPr id="8" name="Text 6"/>
          <p:cNvSpPr txBox="1"/>
          <p:nvPr/>
        </p:nvSpPr>
        <p:spPr>
          <a:xfrm>
            <a:off x="4590288" y="2286000"/>
            <a:ext cx="306324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Activity data: kWh, liters of fuel, refrigerants</a:t>
            </a:r>
            <a:endParaRPr lang="en-US" sz="1400" dirty="0"/>
          </a:p>
          <a:p>
            <a:pPr marL="342900" indent="-342900">
              <a:spcAft>
                <a:spcPts val="800"/>
              </a:spcAft>
              <a:buSzPct val="100000"/>
              <a:buChar char="•"/>
            </a:pPr>
            <a:r>
              <a:rPr lang="en-US" sz="1400" dirty="0">
                <a:solidFill>
                  <a:schemeClr val="tx1"/>
                </a:solidFill>
              </a:rPr>
              <a:t>Policies and practices found, with the document behind each</a:t>
            </a:r>
            <a:endParaRPr lang="en-US" sz="1400" dirty="0"/>
          </a:p>
          <a:p>
            <a:pPr marL="342900" indent="-342900">
              <a:spcAft>
                <a:spcPts val="800"/>
              </a:spcAft>
              <a:buSzPct val="100000"/>
              <a:buChar char="•"/>
            </a:pPr>
            <a:r>
              <a:rPr lang="en-US" sz="1400" dirty="0">
                <a:solidFill>
                  <a:schemeClr val="tx1"/>
                </a:solidFill>
              </a:rPr>
              <a:t>A gap list and a plan to start collecting what's missing</a:t>
            </a:r>
            <a:endParaRPr lang="en-US" sz="1400" dirty="0"/>
          </a:p>
        </p:txBody>
      </p:sp>
      <p:sp>
        <p:nvSpPr>
          <p:cNvPr id="9" name="Shape 7"/>
          <p:cNvSpPr/>
          <p:nvPr/>
        </p:nvSpPr>
        <p:spPr>
          <a:xfrm>
            <a:off x="8083296" y="1554480"/>
            <a:ext cx="3566160" cy="3931920"/>
          </a:xfrm>
          <a:prstGeom prst="roundRect">
            <a:avLst>
              <a:gd name="adj" fmla="val 2051"/>
            </a:avLst>
          </a:prstGeom>
          <a:solidFill>
            <a:schemeClr val="bg2"/>
          </a:solidFill>
          <a:ln/>
        </p:spPr>
      </p:sp>
      <p:sp>
        <p:nvSpPr>
          <p:cNvPr id="10" name="Text 8"/>
          <p:cNvSpPr txBox="1"/>
          <p:nvPr/>
        </p:nvSpPr>
        <p:spPr>
          <a:xfrm>
            <a:off x="8357616" y="1737360"/>
            <a:ext cx="3017520" cy="457200"/>
          </a:xfrm>
          <a:prstGeom prst="rect">
            <a:avLst/>
          </a:prstGeom>
          <a:noFill/>
          <a:ln/>
        </p:spPr>
        <p:txBody>
          <a:bodyPr wrap="square" lIns="0" tIns="0" rIns="0" bIns="0" rtlCol="0" anchor="t"/>
          <a:lstStyle/>
          <a:p>
            <a:pPr indent="0" marL="0">
              <a:buNone/>
            </a:pPr>
            <a:r>
              <a:rPr lang="en-US" sz="1800" b="1" dirty="0">
                <a:solidFill>
                  <a:schemeClr val="accent2"/>
                </a:solidFill>
                <a:latin typeface="+mj-lt" pitchFamily="34" charset="0"/>
                <a:ea typeface="+mj-lt" pitchFamily="34" charset="-122"/>
                <a:cs typeface="+mj-lt" pitchFamily="34" charset="-120"/>
              </a:rPr>
              <a:t>Safeguards</a:t>
            </a:r>
            <a:endParaRPr lang="en-US" sz="1800" dirty="0"/>
          </a:p>
        </p:txBody>
      </p:sp>
      <p:sp>
        <p:nvSpPr>
          <p:cNvPr id="11" name="Text 9"/>
          <p:cNvSpPr txBox="1"/>
          <p:nvPr/>
        </p:nvSpPr>
        <p:spPr>
          <a:xfrm>
            <a:off x="8357616" y="2286000"/>
            <a:ext cx="306324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Runs on the supplier's machines; raw data never leaves</a:t>
            </a:r>
            <a:endParaRPr lang="en-US" sz="1400" dirty="0"/>
          </a:p>
          <a:p>
            <a:pPr marL="342900" indent="-342900">
              <a:spcAft>
                <a:spcPts val="800"/>
              </a:spcAft>
              <a:buSzPct val="100000"/>
              <a:buChar char="•"/>
            </a:pPr>
            <a:r>
              <a:rPr lang="en-US" sz="1400" dirty="0">
                <a:solidFill>
                  <a:schemeClr val="tx1"/>
                </a:solidFill>
              </a:rPr>
              <a:t>Local consultant works for the supplier, under NDA</a:t>
            </a:r>
            <a:endParaRPr lang="en-US" sz="1400" dirty="0"/>
          </a:p>
          <a:p>
            <a:pPr marL="342900" indent="-342900">
              <a:spcAft>
                <a:spcPts val="800"/>
              </a:spcAft>
              <a:buSzPct val="100000"/>
              <a:buChar char="•"/>
            </a:pPr>
            <a:r>
              <a:rPr lang="en-US" sz="1400" dirty="0">
                <a:solidFill>
                  <a:schemeClr val="tx1"/>
                </a:solidFill>
              </a:rPr>
              <a:t>Every figure cites its source; consultant checks it; supplier approves the pack</a:t>
            </a:r>
            <a:endParaRPr lang="en-US" sz="1400" dirty="0"/>
          </a:p>
          <a:p>
            <a:pPr marL="342900" indent="-342900">
              <a:spcAft>
                <a:spcPts val="800"/>
              </a:spcAft>
              <a:buSzPct val="100000"/>
              <a:buChar char="•"/>
            </a:pPr>
            <a:r>
              <a:rPr lang="en-US" sz="1400" dirty="0">
                <a:solidFill>
                  <a:schemeClr val="tx1"/>
                </a:solidFill>
              </a:rPr>
              <a:t>Can't invent records: EcoVadis rejects documents made only for the questionnaire</a:t>
            </a:r>
            <a:endParaRPr lang="en-US" sz="1400" dirty="0"/>
          </a:p>
        </p:txBody>
      </p:sp>
      <p:sp>
        <p:nvSpPr>
          <p:cNvPr id="12" name="Text 10"/>
          <p:cNvSpPr txBox="1"/>
          <p:nvPr/>
        </p:nvSpPr>
        <p:spPr>
          <a:xfrm>
            <a:off x="548640" y="5669280"/>
            <a:ext cx="11064240" cy="548640"/>
          </a:xfrm>
          <a:prstGeom prst="rect">
            <a:avLst/>
          </a:prstGeom>
          <a:noFill/>
          <a:ln/>
        </p:spPr>
        <p:txBody>
          <a:bodyPr wrap="square" lIns="0" tIns="0" rIns="0" bIns="0" rtlCol="0" anchor="ctr"/>
          <a:lstStyle/>
          <a:p>
            <a:pPr indent="0" marL="0">
              <a:buNone/>
            </a:pPr>
            <a:r>
              <a:rPr lang="en-US" sz="1400" b="1" dirty="0">
                <a:solidFill>
                  <a:schemeClr val="accent1"/>
                </a:solidFill>
              </a:rPr>
              <a:t>Ownership: </a:t>
            </a:r>
            <a:pPr indent="0" marL="0">
              <a:buNone/>
            </a:pPr>
            <a:r>
              <a:rPr lang="en-US" sz="1400" dirty="0">
                <a:solidFill>
                  <a:schemeClr val="tx1"/>
                </a:solidFill>
              </a:rPr>
              <a:t>Merit owns the tool; the supplier owns its data. Build ~$150k once on an off-the-shelf AI platform (estimate; get a quote), ~$40k/yr to run.</a:t>
            </a:r>
            <a:endParaRPr lang="en-US" sz="1400" dirty="0"/>
          </a:p>
        </p:txBody>
      </p:sp>
      <p:sp>
        <p:nvSpPr>
          <p:cNvPr id="13" name="Text 11"/>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EcoVadis evidence rules; SAT CFDI; team design</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B10 · What Merit says, to whom, and when</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377440"/>
                <a:gridCol w="5760720"/>
                <a:gridCol w="2926080"/>
              </a:tblGrid>
              <a:tr h="54864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Audience</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Merit shares</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accent1"/>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Their tier, the ask, the support, the timeline, in their language</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Dec 2026</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Hospitals &amp; GPOs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Scope 1/2 + plan; coverage by spend and by critical suppliers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2027 · NHS Scope 1–3 plan by Apr 2027</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Board &amp; investors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Cost vs cap, coverage KPIs, risk</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Quarterly</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Associates</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Procurement and Quality roles in the program</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Launch + annual report</a:t>
                      </a:r>
                      <a:endParaRPr lang="en-US" sz="1300" dirty="0">
                        <a:latin typeface="Calibri" charset="0"/>
                        <a:ea typeface="Calibri" charset="0"/>
                        <a:cs typeface="Calibri" charset="0"/>
                      </a:endParaRPr>
                    </a:p>
                  </a:txBody>
                  <a:tcPr marL="91440" marR="91440" marT="54864" marB="54864"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4" name="Shape 1"/>
          <p:cNvSpPr/>
          <p:nvPr/>
        </p:nvSpPr>
        <p:spPr>
          <a:xfrm>
            <a:off x="548640" y="4526280"/>
            <a:ext cx="11064240" cy="1645920"/>
          </a:xfrm>
          <a:prstGeom prst="roundRect">
            <a:avLst>
              <a:gd name="adj" fmla="val 4444"/>
            </a:avLst>
          </a:prstGeom>
          <a:solidFill>
            <a:schemeClr val="bg2"/>
          </a:solidFill>
          <a:ln/>
        </p:spPr>
      </p:sp>
      <p:sp>
        <p:nvSpPr>
          <p:cNvPr id="5" name="Text 2"/>
          <p:cNvSpPr txBox="1"/>
          <p:nvPr/>
        </p:nvSpPr>
        <p:spPr>
          <a:xfrm>
            <a:off x="777240" y="4617720"/>
            <a:ext cx="6309360" cy="347472"/>
          </a:xfrm>
          <a:prstGeom prst="rect">
            <a:avLst/>
          </a:prstGeom>
          <a:noFill/>
          <a:ln/>
        </p:spPr>
        <p:txBody>
          <a:bodyPr wrap="square" lIns="0" tIns="0" rIns="0" bIns="0" rtlCol="0" anchor="t"/>
          <a:lstStyle/>
          <a:p>
            <a:pPr indent="0" marL="0">
              <a:buNone/>
            </a:pPr>
            <a:r>
              <a:rPr lang="en-US" sz="1500" b="1" dirty="0">
                <a:solidFill>
                  <a:schemeClr val="accent2"/>
                </a:solidFill>
              </a:rPr>
              <a:t>Guardrails</a:t>
            </a:r>
            <a:endParaRPr lang="en-US" sz="1500" dirty="0"/>
          </a:p>
        </p:txBody>
      </p:sp>
      <p:sp>
        <p:nvSpPr>
          <p:cNvPr id="6" name="Text 3"/>
          <p:cNvSpPr txBox="1"/>
          <p:nvPr/>
        </p:nvSpPr>
        <p:spPr>
          <a:xfrm>
            <a:off x="777240" y="4983480"/>
            <a:ext cx="1060704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Publish what isn't known yet (Scope 3: % supplier data vs % estimate)</a:t>
            </a:r>
            <a:endParaRPr lang="en-US" sz="1400" dirty="0"/>
          </a:p>
          <a:p>
            <a:pPr marL="342900" indent="-342900">
              <a:spcAft>
                <a:spcPts val="400"/>
              </a:spcAft>
              <a:buSzPct val="100000"/>
              <a:buChar char="•"/>
            </a:pPr>
            <a:r>
              <a:rPr lang="en-US" sz="1400" dirty="0">
                <a:solidFill>
                  <a:schemeClr val="tx1"/>
                </a:solidFill>
              </a:rPr>
              <a:t>No "climate neutral" or vague claims (EU ban, Sept 2026; FTC Green Guides)</a:t>
            </a:r>
            <a:endParaRPr lang="en-US" sz="1400" dirty="0"/>
          </a:p>
          <a:p>
            <a:pPr marL="342900" indent="-342900">
              <a:spcAft>
                <a:spcPts val="400"/>
              </a:spcAft>
              <a:buSzPct val="100000"/>
              <a:buChar char="•"/>
            </a:pPr>
            <a:r>
              <a:rPr lang="en-US" sz="1400" dirty="0">
                <a:solidFill>
                  <a:schemeClr val="tx1"/>
                </a:solidFill>
              </a:rPr>
              <a:t>"Working with our partners," never "our suppliers are sustainable"</a:t>
            </a:r>
            <a:endParaRPr lang="en-US" sz="1400" dirty="0"/>
          </a:p>
        </p:txBody>
      </p:sp>
      <p:sp>
        <p:nvSpPr>
          <p:cNvPr id="7" name="Text 4"/>
          <p:cNvSpPr txBox="1"/>
          <p:nvPr/>
        </p:nvSpPr>
        <p:spPr>
          <a:xfrm>
            <a:off x="548640" y="6419088"/>
            <a:ext cx="7132320" cy="274320"/>
          </a:xfrm>
          <a:prstGeom prst="rect">
            <a:avLst/>
          </a:prstGeom>
          <a:noFill/>
          <a:ln/>
        </p:spPr>
        <p:txBody>
          <a:bodyPr wrap="square" lIns="0" tIns="0" rIns="0" bIns="0" rtlCol="0" anchor="t"/>
          <a:lstStyle/>
          <a:p>
            <a:pPr indent="0" marL="0">
              <a:buNone/>
            </a:pPr>
            <a:r>
              <a:rPr lang="en-US" sz="1000" i="1" dirty="0">
                <a:solidFill>
                  <a:schemeClr val="accent3"/>
                </a:solidFill>
              </a:rPr>
              <a:t>Source: EU Dir. 2024/825; FTC Green Guides; NHS Net Zero Supplier Roadmap</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332720" cy="105156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B11 · Sources</a:t>
            </a:r>
            <a:endParaRPr lang="en-US" sz="2800" dirty="0"/>
          </a:p>
        </p:txBody>
      </p:sp>
      <p:sp>
        <p:nvSpPr>
          <p:cNvPr id="3" name="Text 1"/>
          <p:cNvSpPr txBox="1"/>
          <p:nvPr/>
        </p:nvSpPr>
        <p:spPr>
          <a:xfrm>
            <a:off x="548640" y="1554480"/>
            <a:ext cx="5440680" cy="4663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Merit Medical case, BFG 2026 (Exhibits 2, 3, 5)</a:t>
            </a:r>
            <a:endParaRPr lang="en-US" sz="1400" dirty="0"/>
          </a:p>
          <a:p>
            <a:pPr marL="342900" indent="-342900">
              <a:spcAft>
                <a:spcPts val="600"/>
              </a:spcAft>
              <a:buSzPct val="100000"/>
              <a:buChar char="•"/>
            </a:pPr>
            <a:r>
              <a:rPr lang="en-US" sz="1400" dirty="0">
                <a:solidFill>
                  <a:schemeClr val="tx1"/>
                </a:solidFill>
              </a:rPr>
              <a:t>Merit 2025 Sustainability Report; 2025 10-K; Q2 2026 results</a:t>
            </a:r>
            <a:endParaRPr lang="en-US" sz="1400" dirty="0"/>
          </a:p>
          <a:p>
            <a:pPr marL="342900" indent="-342900">
              <a:spcAft>
                <a:spcPts val="600"/>
              </a:spcAft>
              <a:buSzPct val="100000"/>
              <a:buChar char="•"/>
            </a:pPr>
            <a:r>
              <a:rPr lang="en-US" sz="1400" dirty="0">
                <a:solidFill>
                  <a:schemeClr val="tx1"/>
                </a:solidFill>
              </a:rPr>
              <a:t>Merit recall notice (Jun 11 2024); FDA recall record 94797</a:t>
            </a:r>
            <a:endParaRPr lang="en-US" sz="1400" dirty="0"/>
          </a:p>
          <a:p>
            <a:pPr marL="342900" indent="-342900">
              <a:spcAft>
                <a:spcPts val="600"/>
              </a:spcAft>
              <a:buSzPct val="100000"/>
              <a:buChar char="•"/>
            </a:pPr>
            <a:r>
              <a:rPr lang="en-US" sz="1400" dirty="0">
                <a:solidFill>
                  <a:schemeClr val="tx1"/>
                </a:solidFill>
              </a:rPr>
              <a:t>EU Directive 2024/825 (empowering consumers); FTC Green Guides</a:t>
            </a:r>
            <a:endParaRPr lang="en-US" sz="1400" dirty="0"/>
          </a:p>
          <a:p>
            <a:pPr marL="342900" indent="-342900">
              <a:spcAft>
                <a:spcPts val="600"/>
              </a:spcAft>
              <a:buSzPct val="100000"/>
              <a:buChar char="•"/>
            </a:pPr>
            <a:r>
              <a:rPr lang="en-US" sz="1400" dirty="0">
                <a:solidFill>
                  <a:schemeClr val="tx1"/>
                </a:solidFill>
              </a:rPr>
              <a:t>NHS Net Zero Supplier Roadmap</a:t>
            </a:r>
            <a:endParaRPr lang="en-US" sz="1400" dirty="0"/>
          </a:p>
          <a:p>
            <a:pPr marL="342900" indent="-342900">
              <a:spcAft>
                <a:spcPts val="600"/>
              </a:spcAft>
              <a:buSzPct val="100000"/>
              <a:buChar char="•"/>
            </a:pPr>
            <a:r>
              <a:rPr lang="en-US" sz="1400" dirty="0">
                <a:solidFill>
                  <a:schemeClr val="tx1"/>
                </a:solidFill>
              </a:rPr>
              <a:t>CDP/HSBC, Strengthening the Chain (2024)</a:t>
            </a:r>
            <a:endParaRPr lang="en-US" sz="1400" dirty="0"/>
          </a:p>
          <a:p>
            <a:pPr marL="342900" indent="-342900">
              <a:spcAft>
                <a:spcPts val="600"/>
              </a:spcAft>
              <a:buSzPct val="100000"/>
              <a:buChar char="•"/>
            </a:pPr>
            <a:r>
              <a:rPr lang="en-US" sz="1400" dirty="0">
                <a:solidFill>
                  <a:schemeClr val="tx1"/>
                </a:solidFill>
              </a:rPr>
              <a:t>McKinsey, medtech supply-chain resilience</a:t>
            </a:r>
            <a:endParaRPr lang="en-US" sz="1400" dirty="0"/>
          </a:p>
          <a:p>
            <a:pPr marL="342900" indent="-342900">
              <a:spcAft>
                <a:spcPts val="600"/>
              </a:spcAft>
              <a:buSzPct val="100000"/>
              <a:buChar char="•"/>
            </a:pPr>
            <a:r>
              <a:rPr lang="en-US" sz="1400" dirty="0">
                <a:solidFill>
                  <a:schemeClr val="tx1"/>
                </a:solidFill>
              </a:rPr>
              <a:t>Stryker 2024 proxy; BD, Abbott, J&amp;J, Philips, Medtronic sustainability reports</a:t>
            </a:r>
            <a:endParaRPr lang="en-US" sz="1400" dirty="0"/>
          </a:p>
        </p:txBody>
      </p:sp>
      <p:sp>
        <p:nvSpPr>
          <p:cNvPr id="4" name="Text 2"/>
          <p:cNvSpPr txBox="1"/>
          <p:nvPr/>
        </p:nvSpPr>
        <p:spPr>
          <a:xfrm>
            <a:off x="6172200" y="1554480"/>
            <a:ext cx="5440680" cy="4663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Schneider Electric Zero Carbon Project</a:t>
            </a:r>
            <a:endParaRPr lang="en-US" sz="1400" dirty="0"/>
          </a:p>
          <a:p>
            <a:pPr marL="342900" indent="-342900">
              <a:spcAft>
                <a:spcPts val="600"/>
              </a:spcAft>
              <a:buSzPct val="100000"/>
              <a:buChar char="•"/>
            </a:pPr>
            <a:r>
              <a:rPr lang="en-US" sz="1400" dirty="0">
                <a:solidFill>
                  <a:schemeClr val="tx1"/>
                </a:solidFill>
              </a:rPr>
              <a:t>GHG Protocol Scope 3 guidance</a:t>
            </a:r>
            <a:endParaRPr lang="en-US" sz="1400" dirty="0"/>
          </a:p>
          <a:p>
            <a:pPr marL="342900" indent="-342900">
              <a:spcAft>
                <a:spcPts val="600"/>
              </a:spcAft>
              <a:buSzPct val="100000"/>
              <a:buChar char="•"/>
            </a:pPr>
            <a:r>
              <a:rPr lang="en-US" sz="1400" dirty="0">
                <a:solidFill>
                  <a:schemeClr val="tx1"/>
                </a:solidFill>
              </a:rPr>
              <a:t>EcoVadis Vitals guide, rating methodology, evidence rules</a:t>
            </a:r>
            <a:endParaRPr lang="en-US" sz="1400" dirty="0"/>
          </a:p>
          <a:p>
            <a:pPr marL="342900" indent="-342900">
              <a:spcAft>
                <a:spcPts val="600"/>
              </a:spcAft>
              <a:buSzPct val="100000"/>
              <a:buChar char="•"/>
            </a:pPr>
            <a:r>
              <a:rPr lang="en-US" sz="1400" dirty="0">
                <a:solidFill>
                  <a:schemeClr val="tx1"/>
                </a:solidFill>
              </a:rPr>
              <a:t>IFC–INA–SE supplier program release (Aug 2025)</a:t>
            </a:r>
            <a:endParaRPr lang="en-US" sz="1400" dirty="0"/>
          </a:p>
          <a:p>
            <a:pPr marL="342900" indent="-342900">
              <a:spcAft>
                <a:spcPts val="600"/>
              </a:spcAft>
              <a:buSzPct val="100000"/>
              <a:buChar char="•"/>
            </a:pPr>
            <a:r>
              <a:rPr lang="en-US" sz="1400" dirty="0">
                <a:solidFill>
                  <a:schemeClr val="tx1"/>
                </a:solidFill>
              </a:rPr>
              <a:t>NAFIN Cadenas Productivas; SAT CFDI e-invoicing</a:t>
            </a:r>
            <a:endParaRPr lang="en-US" sz="1400" dirty="0"/>
          </a:p>
          <a:p>
            <a:pPr marL="342900" indent="-342900">
              <a:spcAft>
                <a:spcPts val="600"/>
              </a:spcAft>
              <a:buSzPct val="100000"/>
              <a:buChar char="•"/>
            </a:pPr>
            <a:r>
              <a:rPr lang="en-US" sz="1400" dirty="0">
                <a:solidFill>
                  <a:schemeClr val="tx1"/>
                </a:solidFill>
              </a:rPr>
              <a:t>WRAP audit-burden survey (2023); Better Work (Tufts)</a:t>
            </a:r>
            <a:endParaRPr lang="en-US" sz="1400" dirty="0"/>
          </a:p>
          <a:p>
            <a:pPr marL="342900" indent="-342900">
              <a:spcAft>
                <a:spcPts val="600"/>
              </a:spcAft>
              <a:buSzPct val="100000"/>
              <a:buChar char="•"/>
            </a:pPr>
            <a:r>
              <a:rPr lang="en-US" sz="1400" dirty="0">
                <a:solidFill>
                  <a:schemeClr val="tx1"/>
                </a:solidFill>
              </a:rPr>
              <a:t>Ballard Center Social Impact Cycle; Wharton on TOMS</a:t>
            </a:r>
            <a:endParaRPr lang="en-US" sz="1400" dirty="0"/>
          </a:p>
          <a:p>
            <a:pPr marL="342900" indent="-342900">
              <a:spcAft>
                <a:spcPts val="600"/>
              </a:spcAft>
              <a:buSzPct val="100000"/>
              <a:buChar char="•"/>
            </a:pPr>
            <a:r>
              <a:rPr lang="en-US" sz="1400" dirty="0">
                <a:solidFill>
                  <a:schemeClr val="tx1"/>
                </a:solidFill>
              </a:rPr>
              <a:t>Full list: research/sources.txt in the team repo</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Supplier Ladder">
  <a:themeElements>
    <a:clrScheme name="Supplier Ladder">
      <a:dk1>
        <a:srgbClr val="1B2A2F"/>
      </a:dk1>
      <a:lt1>
        <a:srgbClr val="FFFFFF"/>
      </a:lt1>
      <a:dk2>
        <a:srgbClr val="0B4F4C"/>
      </a:dk2>
      <a:lt2>
        <a:srgbClr val="EEF4F3"/>
      </a:lt2>
      <a:accent1>
        <a:srgbClr val="0F7C76"/>
      </a:accent1>
      <a:accent2>
        <a:srgbClr val="D98E04"/>
      </a:accent2>
      <a:accent3>
        <a:srgbClr val="8A9499"/>
      </a:accent3>
      <a:accent4>
        <a:srgbClr val="5BB5A2"/>
      </a:accent4>
      <a:accent5>
        <a:srgbClr val="B5452F"/>
      </a:accent5>
      <a:accent6>
        <a:srgbClr val="D5DEDD"/>
      </a:accent6>
      <a:hlink>
        <a:srgbClr val="0F7C76"/>
      </a:hlink>
      <a:folHlink>
        <a:srgbClr val="0B4F4C"/>
      </a:folHlink>
    </a:clrScheme>
    <a:fontScheme name="Supplier Lad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Merit Supplier Ladder</dc:title>
  <dc:subject>PptxGenJS Presentation</dc:subject>
  <dc:creator>Team 23</dc:creator>
  <cp:lastModifiedBy>Team 23</cp:lastModifiedBy>
  <cp:revision>1</cp:revision>
  <dcterms:created xsi:type="dcterms:W3CDTF">2026-10-27T22:49:44Z</dcterms:created>
  <dcterms:modified xsi:type="dcterms:W3CDTF">2026-10-27T22:49:44Z</dcterms:modified>
</cp:coreProperties>
</file>