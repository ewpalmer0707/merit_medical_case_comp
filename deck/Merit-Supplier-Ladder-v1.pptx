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243f0c-29e9-db81-7c90-abc5b414d8a7}">
          <p14:sldIdLst>
            <p14:sldId id="256"/>
            <p14:sldId id="257"/>
            <p14:sldId id="258"/>
          </p14:sldIdLst>
        </p14:section>
        <p14:section name="The plan" id="{342f7c34-b4eb-4f55-a704-c287bc12d874}">
          <p14:sldIdLst>
            <p14:sldId id="259"/>
            <p14:sldId id="260"/>
            <p14:sldId id="261"/>
            <p14:sldId id="262"/>
          </p14:sldIdLst>
        </p14:section>
        <p14:section name="Proof" id="{b71ad91a-9004-5400-a233-8ca9fd05db41}">
          <p14:sldIdLst>
            <p14:sldId id="263"/>
            <p14:sldId id="264"/>
            <p14:sldId id="265"/>
          </p14:sldIdLst>
        </p14:section>
        <p14:section name="Close" id="{0ac05fce-dfce-6101-397a-44e49f358d63}">
          <p14:sldIdLst>
            <p14:sldId id="266"/>
            <p14:sldId id="267"/>
          </p14:sldIdLst>
        </p14:section>
        <p14:section name="Backup" id="{1d79e4d2-6d39-2650-4d6b-b2348c5c3ad9}">
          <p14:sldIdLst>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4F4C"/>
                </a:solidFill>
                <a:latin typeface="+mn-lt"/>
              </a:defRPr>
            </a:pPr>
            <a:r>
              <a:rPr sz="1300" b="0" i="0" u="none" strike="noStrike">
                <a:solidFill>
                  <a:srgbClr val="0B4F4C"/>
                </a:solidFill>
                <a:latin typeface="+mn-lt"/>
              </a:rPr>
              <a:t>Annual cost build (estimate, $k)</a:t>
            </a:r>
          </a:p>
        </c:rich>
      </c:tx>
      <c:layout/>
      <c:overlay val="0"/>
    </c:title>
    <c:autoTitleDeleted val="0"/>
    <c:plotArea>
      <c:layout/>
      <c:barChart>
        <c:barDir val="bar"/>
        <c:grouping val="stacked"/>
        <c:varyColors val="0"/>
        <c:ser>
          <c:idx val="0"/>
          <c:order val="0"/>
          <c:tx>
            <c:strRef>
              <c:f>Sheet1!$B$1</c:f>
              <c:strCache>
                <c:ptCount val="1"/>
                <c:pt idx="0">
                  <c:v>Tier-2 support (50 suppliers)</c:v>
                </c:pt>
              </c:strCache>
            </c:strRef>
          </c:tx>
          <c:spPr>
            <a:solidFill>
              <a:srgbClr val="D98E04"/>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Cost build</c:v>
                  </c:pt>
                </c:lvl>
              </c:multiLvlStrCache>
            </c:multiLvlStrRef>
          </c:cat>
          <c:val>
            <c:numRef>
              <c:f>Sheet1!$B$2:$B$2</c:f>
              <c:numCache>
                <c:formatCode>General</c:formatCode>
                <c:ptCount val="1"/>
                <c:pt idx="0">
                  <c:v>225</c:v>
                </c:pt>
              </c:numCache>
            </c:numRef>
          </c:val>
        </c:ser>
        <c:ser>
          <c:idx val="1"/>
          <c:order val="1"/>
          <c:tx>
            <c:strRef>
              <c:f>Sheet1!$C$1</c:f>
              <c:strCache>
                <c:ptCount val="1"/>
                <c:pt idx="0">
                  <c:v>Coordinators</c:v>
                </c:pt>
              </c:strCache>
            </c:strRef>
          </c:tx>
          <c:spPr>
            <a:solidFill>
              <a:srgbClr val="0F7C76"/>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Cost build</c:v>
                  </c:pt>
                </c:lvl>
              </c:multiLvlStrCache>
            </c:multiLvlStrRef>
          </c:cat>
          <c:val>
            <c:numRef>
              <c:f>Sheet1!$C$2:$C$2</c:f>
              <c:numCache>
                <c:formatCode>General</c:formatCode>
                <c:ptCount val="1"/>
                <c:pt idx="0">
                  <c:v>165</c:v>
                </c:pt>
              </c:numCache>
            </c:numRef>
          </c:val>
        </c:ser>
        <c:ser>
          <c:idx val="2"/>
          <c:order val="2"/>
          <c:tx>
            <c:strRef>
              <c:f>Sheet1!$D$1</c:f>
              <c:strCache>
                <c:ptCount val="1"/>
                <c:pt idx="0">
                  <c:v>Impact measurement</c:v>
                </c:pt>
              </c:strCache>
            </c:strRef>
          </c:tx>
          <c:spPr>
            <a:solidFill>
              <a:srgbClr val="0B4F4C"/>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Cost build</c:v>
                  </c:pt>
                </c:lvl>
              </c:multiLvlStrCache>
            </c:multiLvlStrRef>
          </c:cat>
          <c:val>
            <c:numRef>
              <c:f>Sheet1!$D$2:$D$2</c:f>
              <c:numCache>
                <c:formatCode>General</c:formatCode>
                <c:ptCount val="1"/>
                <c:pt idx="0">
                  <c:v>130</c:v>
                </c:pt>
              </c:numCache>
            </c:numRef>
          </c:val>
        </c:ser>
        <c:ser>
          <c:idx val="3"/>
          <c:order val="3"/>
          <c:tx>
            <c:strRef>
              <c:f>Sheet1!$E$1</c:f>
              <c:strCache>
                <c:ptCount val="1"/>
                <c:pt idx="0">
                  <c:v>Partners + contingency</c:v>
                </c:pt>
              </c:strCache>
            </c:strRef>
          </c:tx>
          <c:spPr>
            <a:solidFill>
              <a:srgbClr val="8A9499"/>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Cost build</c:v>
                  </c:pt>
                </c:lvl>
              </c:multiLvlStrCache>
            </c:multiLvlStrRef>
          </c:cat>
          <c:val>
            <c:numRef>
              <c:f>Sheet1!$E$2:$E$2</c:f>
              <c:numCache>
                <c:formatCode>General</c:formatCode>
                <c:ptCount val="1"/>
                <c:pt idx="0">
                  <c:v>100</c:v>
                </c:pt>
              </c:numCache>
            </c:numRef>
          </c:val>
        </c:ser>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(Elijah, 0:30). In 2024 Jiangsu Shenli, a small Chinese syringe maker inside Merit's custom kits, got an FDA warning letter (March). Merit recalled the kits (Class II, June) and Cardinal Health's kits that contained them were recalled too. This was a quality/regulatory failure, not an emissions one. The point is visibility: the same blind spot that let an uncleared part into our kits also hides labor and emissions risk. 'Today we'll show how Merit catches the next one earlier.' Sources: FDA warning letter Mar 2024; FDA recall database Jun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problem (Elijah, 1:00). Big suppliers answered fast. The small single-plant makers in Mexico and China, the ones we can't replace, didn't. Requalifying a supplier takes 9–12 months, so losing one means patients wait (ECRI: about half of clinicians say shortages delay treatment). Problem 2: Scope 3 is unmeasured, Scope 1+2 is only 2% below 2020 against a −40% goal, and Merit publishes no EcoVadis coverage numbers. Merit's own 2025 report names Scope 3 from China and Mexico as a top risk. Why now: new CEO Martha Aronson lists responsible supply-chain practices as a priority; the EcoVadis rollout only started in 2025, so it's fixable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defaults fail (Elijah, 0:40). Option A gets forms, not data: unverified yes/no surveys average 89% with 40% perfect scores, and a mandate without support pushes suppliers out (56% of large Finnish firms swapped suppliers over ESG). Option B is cheap, but it leaves the critical Mexico/China makers dark for years. We keep B's speed and fix A's blind spot. Hand off to Nolan.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(Nolan, 1:00). Two tracks at once: lock in the easy ~65% of spend in month 1 (Tier 1 shares an existing EcoVadis scorecard, minimum 45; CDP/SMETA count as evidence, not a substitute rating), and put the effort into the critical few. The sorting rule is the deliverable: it scales to all 1,030. Tier 2 starts with a 5-question readiness request. Rung 0 is Merit's own spend-based estimate (GHG Protocol allows it), labeled as an estimate; suppliers replace it with real records. Two asks, never confused: the EcoVadis rating covers labor, ethics and environmental management; emissions data feeds Scope 3. Tier 3 gets Vitals only, below a spend threshold; China screened on IPE Blue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partners get (Nolan, 0:50). It starts with a 5-question readiness request: what do you already have, which sites supply Merit, who owns the data, what's blocking you, what help would get you there. We follow up on silence before assuming 'can't.' Help is matched to the barrier, from a capped fund. Suppliers keep ownership of their data; we don't fill forms for them. The NAFIN factoring is real and fee-free; tying it to completion is our design. CDP/HSBC: suppliers offered financial incentives were 52% more likely to cut emissions than with training alone. Also: their score helps them sell to other buyers (Vizient/Premier ask for emissions data; NHS and French tenders score it), and we refresh the 2018 Supplier Code of Conduct in Spanish and Mandarin.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Tijuana pilot (Cameron, 0:50). Tijuana is Merit's largest plant (over 2,000 associates bused in daily, per the 2025 report) and sits in a cluster of ~73 device companies. Merit's vendor master picks the 12 using the rule. We don't depend on outside programs: IFC's supplier development program (automotive today), the Baja California certification reimbursement and the medical-device cluster are bonuses, not load-bearing. China is phase 2 in 2027: IPE Blue Map screens for public environmental violations (it is an NGO database, not a carbon or labor audit), then EcoVadis in Chinese with local consultant hours. Philips did this with Zhejiang Haishun: collaboration over auditing, 120+ improvement opportunities found. UFLPA entity-list screening from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(Cameron, 0:35). Nov–Dec 2026: Board approves, we sort all 1,030 with the rule, name the coordinator, ask Tier 1 to share scorecards, and start listening sessions and readiness requests with the Tijuana 12. That meets 'start piloting in 2026.' H1 2027: Vitals plus matched help; first traceable packs. H2 2027: China cohort; first public coverage numbers in the 2027 sustainability report. The gate: we expand Tier 2 only if cost per accepted pack and supplier retention hit their targets. 2028: Tier 2 full EcoVadis; Tier 3 short form; rule applied across all 42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and return (Cameron, 1:00). REFRESH Thu Oct 29 after Q3 earnings (call 4:30pm ET): margin and operating income. Cost is capped at about $0.6M a year: Tier-2 subscriptions and specialist hours (~$225k at 50 suppliers), two coordinators (~$165k loaded), impact measurement (~$130k), partners and contingency. That's about 0.04% of revenue and 0.2% of non-GAAP operating income. Two independent cost builds agree: Nolan's bottom-up model (~$6k per intensive supplier) and ours (~$4.5k). Breakeven: if one sole-source failure costs ~$2.5M (our labeled assumption), the program pays for itself if it catches one earlier every ~4 years. McKinsey: supply shocks cost the average medtech company 38% of a year's earnings per decade; Merit makes ~$4.15M of revenue a day. This is visibility and early warning, not a promise to prevent recalls: no study shows higher ESG scores cause fewer disruptions.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(Nolan, 0:45). Peers anchor on spend: Stryker targets 85% of direct spend assessed by 2027. We also report the suppliers patients depend on: critical suppliers with a traceable emissions pack. Retention at 100% is the tripwire for harming suppliers. Worker outcome: share of pilot-supplier workers inside Mexico's legal week with weekly pay held, plus IMSS turnover, measured against a wait-listed comparison group so Merit can claim impact, not just activity. Patients: supplier-caused backorders and 506J shortage notices on Tier-2 parts, target zero. We also report how much of Scope 3 purchased goods comes from supplier data versus estimates, and cost per accepted pack (that gates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Impact Cycle (Cameron, 1:00). Love the Problem: small plants asked for this for the first time, facing 3–5 audits a year with no help and a 40-hour-week reform landing on them, so we start with listening sessions (Teamwork: 'we listen'). Design: sort, readiness request, help matched to the barrier. Implement: the Tijuana 12. Evaluate: outputs (packs, ratings) → outcomes (retention, worker hours and pay) → impact (devices keep reaching patients). The TOMS lesson: good intentions can create harm, so each risk has an owner and a tripwire. Also: no price-down asks tied to the program. This lands on 'socially strategic': supply continuity and Scope 3 are core business, not philanthropy. Evidence it can work: Better Work (ILO/IFC) trained supervisors and lines got 22% more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and close (Elijah, 1:00). The NHS needs a published Scope 1–3 carbon plan by April 2027 for larger contracts, and this gets Merit there honestly. Guardrails: say what we don't know yet, no 'climate neutral' or generic claims, partnership language. Three asks of the Board: approve the rule, fund a capped ~$0.6M, start Tijuana in December 2026. Close the loop: 'The next Shenli gets caught earlier.' One line on HEART: Health (devices keep reaching patients), Excellence (same bar for every partner), Agility (country risk in the rule), Responsibility (a real Scope 3 baseline), Teamwork (we listen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680960" cy="1371600"/>
          </a:xfrm>
          <a:prstGeom prst="rect">
            <a:avLst/>
          </a:prstGeom>
          <a:noFill/>
          <a:ln/>
        </p:spPr>
        <p:txBody>
          <a:bodyPr wrap="square" rtlCol="0"/>
          <a:lstStyle>
            <a:lvl1pPr algn="l" indent="0" marL="0">
              <a:buNone/>
              <a:defRPr lang="en-US" sz="4800" b="1" dirty="0">
                <a:solidFill>
                  <a:schemeClr val="bg1"/>
                </a:solidFill>
                <a:latin typeface="+mj-lt" pitchFamily="34" charset="0"/>
                <a:ea typeface="+mj-lt" pitchFamily="34" charset="-122"/>
                <a:cs typeface="+mj-lt" pitchFamily="34" charset="-120"/>
              </a:defRPr>
            </a:lvl1pPr>
          </a:lstStyle>
          <a:p>
            <a:pPr algn="l" indent="0" marL="0">
              <a:buNone/>
            </a:pPr>
            <a:endParaRPr lang="en-US" sz="4800" dirty="0"/>
          </a:p>
        </p:txBody>
      </p:sp>
      <p:sp>
        <p:nvSpPr>
          <p:cNvPr id="3" name="Text 0"/>
          <p:cNvSpPr/>
          <p:nvPr>
            <p:ph idx="101" type="body" hasCustomPrompt="1"/>
          </p:nvPr>
        </p:nvSpPr>
        <p:spPr>
          <a:xfrm>
            <a:off x="640080" y="3246120"/>
            <a:ext cx="7680960" cy="914400"/>
          </a:xfrm>
          <a:prstGeom prst="rect">
            <a:avLst/>
          </a:prstGeom>
          <a:noFill/>
          <a:ln/>
        </p:spPr>
        <p:txBody>
          <a:bodyPr wrap="square" rtlCol="0"/>
          <a:lstStyle>
            <a:lvl1pPr algn="l" indent="0" marL="0">
              <a:buNone/>
              <a:defRPr lang="en-US" sz="2200" dirty="0">
                <a:solidFill>
                  <a:schemeClr val="accent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rtlCol="0"/>
          <a:lstStyle>
            <a:lvl1pPr algn="l" indent="0" marL="0">
              <a:buNone/>
              <a:defRPr lang="en-US" sz="2800" b="1" dirty="0">
                <a:solidFill>
                  <a:schemeClr val="tx2"/>
                </a:solidFill>
                <a:latin typeface="+mj-lt" pitchFamily="34" charset="0"/>
                <a:ea typeface="+mj-lt" pitchFamily="34" charset="-122"/>
                <a:cs typeface="+mj-lt" pitchFamily="34" charset="-120"/>
              </a:defRPr>
            </a:lvl1pPr>
          </a:lstStyle>
          <a:p>
            <a:pPr algn="l" indent="0" marL="0">
              <a:buNone/>
            </a:pPr>
            <a:endParaRPr lang="en-US" sz="2800" dirty="0"/>
          </a:p>
        </p:txBody>
      </p:sp>
      <p:sp>
        <p:nvSpPr>
          <p:cNvPr id="3" name="Text 0"/>
          <p:cNvSpPr/>
          <p:nvPr/>
        </p:nvSpPr>
        <p:spPr>
          <a:xfrm>
            <a:off x="7863840" y="6419088"/>
            <a:ext cx="3291840" cy="274320"/>
          </a:xfrm>
          <a:prstGeom prst="rect">
            <a:avLst/>
          </a:prstGeom>
          <a:noFill/>
          <a:ln/>
        </p:spPr>
        <p:txBody>
          <a:bodyPr wrap="square" lIns="0" tIns="0" rIns="0" bIns="0" rtlCol="0" anchor="ctr"/>
          <a:lstStyle/>
          <a:p>
            <a:pPr algn="r" indent="0" marL="0">
              <a:buNone/>
            </a:pPr>
            <a:r>
              <a:rPr lang="en-US" sz="1000" dirty="0">
                <a:solidFill>
                  <a:schemeClr val="accent3"/>
                </a:solidFill>
              </a:rPr>
              <a:t>T_23 · Merit Supplier Ladder</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680960" cy="1371600"/>
          </a:xfrm>
          <a:prstGeom prst="rect">
            <a:avLst/>
          </a:prstGeom>
          <a:noFill/>
          <a:ln/>
        </p:spPr>
        <p:txBody>
          <a:bodyPr wrap="square" lIns="0" tIns="0" rIns="0" bIns="0" rtlCol="0" anchor="b"/>
          <a:lstStyle/>
          <a:p>
            <a:pPr algn="l" indent="0" marL="0">
              <a:buNone/>
            </a:pPr>
            <a:r>
              <a:rPr lang="en-US" sz="4800" b="1" dirty="0">
                <a:solidFill>
                  <a:schemeClr val="bg1"/>
                </a:solidFill>
                <a:latin typeface="+mj-lt" pitchFamily="34" charset="0"/>
                <a:ea typeface="+mj-lt" pitchFamily="34" charset="-122"/>
                <a:cs typeface="+mj-lt" pitchFamily="34" charset="-120"/>
              </a:rPr>
              <a:t>Merit Supplier Ladder</a:t>
            </a:r>
            <a:endParaRPr lang="en-US" sz="4800" dirty="0"/>
          </a:p>
        </p:txBody>
      </p:sp>
      <p:sp>
        <p:nvSpPr>
          <p:cNvPr id="3" name="Text 0"/>
          <p:cNvSpPr/>
          <p:nvPr>
            <p:ph idx="101" type="body" hasCustomPrompt="1"/>
          </p:nvPr>
        </p:nvSpPr>
        <p:spPr>
          <a:xfrm>
            <a:off x="640080" y="3246120"/>
            <a:ext cx="7680960" cy="914400"/>
          </a:xfrm>
          <a:prstGeom prst="rect">
            <a:avLst/>
          </a:prstGeom>
          <a:noFill/>
          <a:ln/>
        </p:spPr>
        <p:txBody>
          <a:bodyPr wrap="square" lIns="0" tIns="0" rIns="0" bIns="0" rtlCol="0" anchor="t"/>
          <a:lstStyle/>
          <a:p>
            <a:pPr algn="l" indent="0" marL="0">
              <a:buNone/>
            </a:pPr>
            <a:r>
              <a:rPr lang="en-US" sz="2200" dirty="0">
                <a:solidFill>
                  <a:schemeClr val="accent4"/>
                </a:solidFill>
              </a:rPr>
              <a:t>Credible data from the supply chain partners patients can't lose</a:t>
            </a:r>
            <a:endParaRPr lang="en-US" sz="2200" dirty="0"/>
          </a:p>
        </p:txBody>
      </p:sp>
      <p:sp>
        <p:nvSpPr>
          <p:cNvPr id="4" name="Text 2"/>
          <p:cNvSpPr txBox="1"/>
          <p:nvPr/>
        </p:nvSpPr>
        <p:spPr>
          <a:xfrm>
            <a:off x="640080" y="4343400"/>
            <a:ext cx="7132320" cy="365760"/>
          </a:xfrm>
          <a:prstGeom prst="rect">
            <a:avLst/>
          </a:prstGeom>
          <a:noFill/>
          <a:ln/>
        </p:spPr>
        <p:txBody>
          <a:bodyPr wrap="square" lIns="0" tIns="0" rIns="0" bIns="0" rtlCol="0" anchor="t"/>
          <a:lstStyle/>
          <a:p>
            <a:pPr indent="0" marL="0">
              <a:buNone/>
            </a:pPr>
            <a:r>
              <a:rPr lang="en-US" sz="1600" dirty="0">
                <a:solidFill>
                  <a:schemeClr val="bg1"/>
                </a:solidFill>
              </a:rPr>
              <a:t>Team 23 · Elijah Palmer · Nolan Ford · Cameron Boyle</a:t>
            </a:r>
            <a:endParaRPr lang="en-US" sz="1600" dirty="0"/>
          </a:p>
        </p:txBody>
      </p:sp>
      <p:sp>
        <p:nvSpPr>
          <p:cNvPr id="5" name="Shape 3"/>
          <p:cNvSpPr/>
          <p:nvPr/>
        </p:nvSpPr>
        <p:spPr>
          <a:xfrm>
            <a:off x="640080" y="5212080"/>
            <a:ext cx="6766560" cy="777240"/>
          </a:xfrm>
          <a:prstGeom prst="roundRect">
            <a:avLst>
              <a:gd name="adj" fmla="val 9412"/>
            </a:avLst>
          </a:prstGeom>
          <a:solidFill>
            <a:schemeClr val="bg1">
              <a:alpha val="10000"/>
            </a:schemeClr>
          </a:solidFill>
          <a:ln/>
        </p:spPr>
      </p:sp>
      <p:sp>
        <p:nvSpPr>
          <p:cNvPr id="6" name="Text 4"/>
          <p:cNvSpPr txBox="1"/>
          <p:nvPr/>
        </p:nvSpPr>
        <p:spPr>
          <a:xfrm>
            <a:off x="822960" y="5303520"/>
            <a:ext cx="6400800" cy="594360"/>
          </a:xfrm>
          <a:prstGeom prst="rect">
            <a:avLst/>
          </a:prstGeom>
          <a:noFill/>
          <a:ln/>
        </p:spPr>
        <p:txBody>
          <a:bodyPr wrap="square" lIns="0" tIns="0" rIns="0" bIns="0" rtlCol="0" anchor="ctr"/>
          <a:lstStyle/>
          <a:p>
            <a:pPr indent="0" marL="0">
              <a:buNone/>
            </a:pPr>
            <a:r>
              <a:rPr lang="en-US" sz="1500" b="1" dirty="0">
                <a:solidFill>
                  <a:schemeClr val="accent2"/>
                </a:solidFill>
              </a:rPr>
              <a:t>2024  </a:t>
            </a:r>
            <a:pPr indent="0" marL="0">
              <a:buNone/>
            </a:pPr>
            <a:r>
              <a:rPr lang="en-US" sz="1500" dirty="0">
                <a:solidFill>
                  <a:schemeClr val="bg1"/>
                </a:solidFill>
              </a:rPr>
              <a:t>An uncleared syringe from a supplier Merit couldn't see led to a Class II recall of Merit's custom kits.</a:t>
            </a:r>
            <a:endParaRPr lang="en-US" sz="1500" dirty="0"/>
          </a:p>
        </p:txBody>
      </p:sp>
      <p:sp>
        <p:nvSpPr>
          <p:cNvPr id="7" name="Shape 5"/>
          <p:cNvSpPr/>
          <p:nvPr/>
        </p:nvSpPr>
        <p:spPr>
          <a:xfrm>
            <a:off x="8595360" y="914400"/>
            <a:ext cx="139903" cy="5120640"/>
          </a:xfrm>
          <a:prstGeom prst="rect">
            <a:avLst/>
          </a:prstGeom>
          <a:solidFill>
            <a:schemeClr val="accent4"/>
          </a:solidFill>
          <a:ln/>
        </p:spPr>
      </p:sp>
      <p:sp>
        <p:nvSpPr>
          <p:cNvPr id="8" name="Shape 6"/>
          <p:cNvSpPr/>
          <p:nvPr/>
        </p:nvSpPr>
        <p:spPr>
          <a:xfrm>
            <a:off x="10009937" y="914400"/>
            <a:ext cx="139903" cy="5120640"/>
          </a:xfrm>
          <a:prstGeom prst="rect">
            <a:avLst/>
          </a:prstGeom>
          <a:solidFill>
            <a:schemeClr val="accent4"/>
          </a:solidFill>
          <a:ln/>
        </p:spPr>
      </p:sp>
      <p:sp>
        <p:nvSpPr>
          <p:cNvPr id="9" name="Shape 7"/>
          <p:cNvSpPr/>
          <p:nvPr/>
        </p:nvSpPr>
        <p:spPr>
          <a:xfrm>
            <a:off x="8735263" y="5305349"/>
            <a:ext cx="1274674" cy="179222"/>
          </a:xfrm>
          <a:prstGeom prst="rect">
            <a:avLst/>
          </a:prstGeom>
          <a:solidFill>
            <a:schemeClr val="accent4"/>
          </a:solidFill>
          <a:ln/>
        </p:spPr>
      </p:sp>
      <p:sp>
        <p:nvSpPr>
          <p:cNvPr id="10" name="Shape 8"/>
          <p:cNvSpPr/>
          <p:nvPr/>
        </p:nvSpPr>
        <p:spPr>
          <a:xfrm>
            <a:off x="8735263" y="4025189"/>
            <a:ext cx="1274674" cy="179222"/>
          </a:xfrm>
          <a:prstGeom prst="rect">
            <a:avLst/>
          </a:prstGeom>
          <a:solidFill>
            <a:schemeClr val="accent4"/>
          </a:solidFill>
          <a:ln/>
        </p:spPr>
      </p:sp>
      <p:sp>
        <p:nvSpPr>
          <p:cNvPr id="11" name="Shape 9"/>
          <p:cNvSpPr/>
          <p:nvPr/>
        </p:nvSpPr>
        <p:spPr>
          <a:xfrm>
            <a:off x="8735263" y="2745029"/>
            <a:ext cx="1274674" cy="179222"/>
          </a:xfrm>
          <a:prstGeom prst="rect">
            <a:avLst/>
          </a:prstGeom>
          <a:solidFill>
            <a:schemeClr val="accent4"/>
          </a:solidFill>
          <a:ln/>
        </p:spPr>
      </p:sp>
      <p:sp>
        <p:nvSpPr>
          <p:cNvPr id="12" name="Shape 10"/>
          <p:cNvSpPr/>
          <p:nvPr/>
        </p:nvSpPr>
        <p:spPr>
          <a:xfrm>
            <a:off x="8735263" y="1464869"/>
            <a:ext cx="1274674" cy="179222"/>
          </a:xfrm>
          <a:prstGeom prst="rect">
            <a:avLst/>
          </a:prstGeom>
          <a:solidFill>
            <a:schemeClr val="accent4"/>
          </a:solidFill>
          <a:ln/>
        </p:spPr>
      </p:sp>
      <p:sp>
        <p:nvSpPr>
          <p:cNvPr id="13" name="Text 11"/>
          <p:cNvSpPr txBox="1"/>
          <p:nvPr/>
        </p:nvSpPr>
        <p:spPr>
          <a:xfrm>
            <a:off x="10378440" y="5212080"/>
            <a:ext cx="1463040" cy="365760"/>
          </a:xfrm>
          <a:prstGeom prst="rect">
            <a:avLst/>
          </a:prstGeom>
          <a:noFill/>
          <a:ln/>
        </p:spPr>
        <p:txBody>
          <a:bodyPr wrap="square" lIns="0" tIns="0" rIns="0" bIns="0" rtlCol="0" anchor="ctr"/>
          <a:lstStyle/>
          <a:p>
            <a:pPr indent="0" marL="0">
              <a:buNone/>
            </a:pPr>
            <a:r>
              <a:rPr lang="en-US" sz="1400" dirty="0">
                <a:solidFill>
                  <a:schemeClr val="bg1"/>
                </a:solidFill>
              </a:rPr>
              <a:t>Estimate</a:t>
            </a:r>
            <a:endParaRPr lang="en-US" sz="1400" dirty="0"/>
          </a:p>
        </p:txBody>
      </p:sp>
      <p:sp>
        <p:nvSpPr>
          <p:cNvPr id="14" name="Text 12"/>
          <p:cNvSpPr txBox="1"/>
          <p:nvPr/>
        </p:nvSpPr>
        <p:spPr>
          <a:xfrm>
            <a:off x="10378440" y="3931920"/>
            <a:ext cx="1463040" cy="365760"/>
          </a:xfrm>
          <a:prstGeom prst="rect">
            <a:avLst/>
          </a:prstGeom>
          <a:noFill/>
          <a:ln/>
        </p:spPr>
        <p:txBody>
          <a:bodyPr wrap="square" lIns="0" tIns="0" rIns="0" bIns="0" rtlCol="0" anchor="ctr"/>
          <a:lstStyle/>
          <a:p>
            <a:pPr indent="0" marL="0">
              <a:buNone/>
            </a:pPr>
            <a:r>
              <a:rPr lang="en-US" sz="1400" dirty="0">
                <a:solidFill>
                  <a:schemeClr val="bg1"/>
                </a:solidFill>
              </a:rPr>
              <a:t>Reported</a:t>
            </a:r>
            <a:endParaRPr lang="en-US" sz="1400" dirty="0"/>
          </a:p>
        </p:txBody>
      </p:sp>
      <p:sp>
        <p:nvSpPr>
          <p:cNvPr id="15" name="Text 13"/>
          <p:cNvSpPr txBox="1"/>
          <p:nvPr/>
        </p:nvSpPr>
        <p:spPr>
          <a:xfrm>
            <a:off x="10378440" y="2651760"/>
            <a:ext cx="1463040" cy="365760"/>
          </a:xfrm>
          <a:prstGeom prst="rect">
            <a:avLst/>
          </a:prstGeom>
          <a:noFill/>
          <a:ln/>
        </p:spPr>
        <p:txBody>
          <a:bodyPr wrap="square" lIns="0" tIns="0" rIns="0" bIns="0" rtlCol="0" anchor="ctr"/>
          <a:lstStyle/>
          <a:p>
            <a:pPr indent="0" marL="0">
              <a:buNone/>
            </a:pPr>
            <a:r>
              <a:rPr lang="en-US" sz="1400" dirty="0">
                <a:solidFill>
                  <a:schemeClr val="bg1"/>
                </a:solidFill>
              </a:rPr>
              <a:t>Traceable</a:t>
            </a:r>
            <a:endParaRPr lang="en-US" sz="1400" dirty="0"/>
          </a:p>
        </p:txBody>
      </p:sp>
      <p:sp>
        <p:nvSpPr>
          <p:cNvPr id="16" name="Text 14"/>
          <p:cNvSpPr txBox="1"/>
          <p:nvPr/>
        </p:nvSpPr>
        <p:spPr>
          <a:xfrm>
            <a:off x="10378440" y="1371600"/>
            <a:ext cx="1463040" cy="365760"/>
          </a:xfrm>
          <a:prstGeom prst="rect">
            <a:avLst/>
          </a:prstGeom>
          <a:noFill/>
          <a:ln/>
        </p:spPr>
        <p:txBody>
          <a:bodyPr wrap="square" lIns="0" tIns="0" rIns="0" bIns="0" rtlCol="0" anchor="ctr"/>
          <a:lstStyle/>
          <a:p>
            <a:pPr indent="0" marL="0">
              <a:buNone/>
            </a:pPr>
            <a:r>
              <a:rPr lang="en-US" sz="1400" dirty="0">
                <a:solidFill>
                  <a:schemeClr val="bg1"/>
                </a:solidFill>
              </a:rPr>
              <a:t>Rated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Merit asks every supplier the same question, so the ones that matter most can't answer it</a:t>
            </a:r>
            <a:endParaRPr lang="en-US" sz="2800" dirty="0"/>
          </a:p>
        </p:txBody>
      </p:sp>
      <p:sp>
        <p:nvSpPr>
          <p:cNvPr id="3" name="Shape 1"/>
          <p:cNvSpPr/>
          <p:nvPr/>
        </p:nvSpPr>
        <p:spPr>
          <a:xfrm>
            <a:off x="548640" y="1554480"/>
            <a:ext cx="5394960" cy="3657600"/>
          </a:xfrm>
          <a:prstGeom prst="roundRect">
            <a:avLst>
              <a:gd name="adj" fmla="val 2000"/>
            </a:avLst>
          </a:prstGeom>
          <a:solidFill>
            <a:schemeClr val="bg2"/>
          </a:solidFill>
          <a:ln/>
        </p:spPr>
      </p:sp>
      <p:sp>
        <p:nvSpPr>
          <p:cNvPr id="4" name="Text 2"/>
          <p:cNvSpPr txBox="1"/>
          <p:nvPr/>
        </p:nvSpPr>
        <p:spPr>
          <a:xfrm>
            <a:off x="822960" y="1691640"/>
            <a:ext cx="4846320" cy="41148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The data gap sits where risk is highest</a:t>
            </a:r>
            <a:endParaRPr lang="en-US" sz="1800" dirty="0"/>
          </a:p>
        </p:txBody>
      </p:sp>
      <p:sp>
        <p:nvSpPr>
          <p:cNvPr id="5" name="Text 3"/>
          <p:cNvSpPr txBox="1"/>
          <p:nvPr/>
        </p:nvSpPr>
        <p:spPr>
          <a:xfrm>
            <a:off x="822960" y="219456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1,030</a:t>
            </a:r>
            <a:endParaRPr lang="en-US" sz="3000" dirty="0"/>
          </a:p>
        </p:txBody>
      </p:sp>
      <p:sp>
        <p:nvSpPr>
          <p:cNvPr id="6" name="Text 4"/>
          <p:cNvSpPr txBox="1"/>
          <p:nvPr/>
        </p:nvSpPr>
        <p:spPr>
          <a:xfrm>
            <a:off x="2651760" y="2194560"/>
            <a:ext cx="3063240" cy="685800"/>
          </a:xfrm>
          <a:prstGeom prst="rect">
            <a:avLst/>
          </a:prstGeom>
          <a:noFill/>
          <a:ln/>
        </p:spPr>
        <p:txBody>
          <a:bodyPr wrap="square" lIns="0" tIns="0" rIns="0" bIns="0" rtlCol="0" anchor="ctr"/>
          <a:lstStyle/>
          <a:p>
            <a:pPr indent="0" marL="0">
              <a:buNone/>
            </a:pPr>
            <a:r>
              <a:rPr lang="en-US" sz="1400" dirty="0">
                <a:solidFill>
                  <a:schemeClr val="tx1"/>
                </a:solidFill>
              </a:rPr>
              <a:t>direct suppliers in 42 countries</a:t>
            </a:r>
            <a:endParaRPr lang="en-US" sz="1400" dirty="0"/>
          </a:p>
        </p:txBody>
      </p:sp>
      <p:sp>
        <p:nvSpPr>
          <p:cNvPr id="7" name="Text 5"/>
          <p:cNvSpPr txBox="1"/>
          <p:nvPr/>
        </p:nvSpPr>
        <p:spPr>
          <a:xfrm>
            <a:off x="822960" y="297180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65%</a:t>
            </a:r>
            <a:endParaRPr lang="en-US" sz="3000" dirty="0"/>
          </a:p>
        </p:txBody>
      </p:sp>
      <p:sp>
        <p:nvSpPr>
          <p:cNvPr id="8" name="Text 6"/>
          <p:cNvSpPr txBox="1"/>
          <p:nvPr/>
        </p:nvSpPr>
        <p:spPr>
          <a:xfrm>
            <a:off x="2651760" y="2971800"/>
            <a:ext cx="3063240" cy="685800"/>
          </a:xfrm>
          <a:prstGeom prst="rect">
            <a:avLst/>
          </a:prstGeom>
          <a:noFill/>
          <a:ln/>
        </p:spPr>
        <p:txBody>
          <a:bodyPr wrap="square" lIns="0" tIns="0" rIns="0" bIns="0" rtlCol="0" anchor="ctr"/>
          <a:lstStyle/>
          <a:p>
            <a:pPr indent="0" marL="0">
              <a:buNone/>
            </a:pPr>
            <a:r>
              <a:rPr lang="en-US" sz="1400" dirty="0">
                <a:solidFill>
                  <a:schemeClr val="tx1"/>
                </a:solidFill>
              </a:rPr>
              <a:t>of spend is with the top 78, which are mostly already reporting</a:t>
            </a:r>
            <a:endParaRPr lang="en-US" sz="1400" dirty="0"/>
          </a:p>
        </p:txBody>
      </p:sp>
      <p:sp>
        <p:nvSpPr>
          <p:cNvPr id="9" name="Text 7"/>
          <p:cNvSpPr txBox="1"/>
          <p:nvPr/>
        </p:nvSpPr>
        <p:spPr>
          <a:xfrm>
            <a:off x="822960" y="374904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9–12 mo</a:t>
            </a:r>
            <a:endParaRPr lang="en-US" sz="3000" dirty="0"/>
          </a:p>
        </p:txBody>
      </p:sp>
      <p:sp>
        <p:nvSpPr>
          <p:cNvPr id="10" name="Text 8"/>
          <p:cNvSpPr txBox="1"/>
          <p:nvPr/>
        </p:nvSpPr>
        <p:spPr>
          <a:xfrm>
            <a:off x="2651760" y="3749040"/>
            <a:ext cx="3063240" cy="685800"/>
          </a:xfrm>
          <a:prstGeom prst="rect">
            <a:avLst/>
          </a:prstGeom>
          <a:noFill/>
          <a:ln/>
        </p:spPr>
        <p:txBody>
          <a:bodyPr wrap="square" lIns="0" tIns="0" rIns="0" bIns="0" rtlCol="0" anchor="ctr"/>
          <a:lstStyle/>
          <a:p>
            <a:pPr indent="0" marL="0">
              <a:buNone/>
            </a:pPr>
            <a:r>
              <a:rPr lang="en-US" sz="1400" dirty="0">
                <a:solidFill>
                  <a:schemeClr val="tx1"/>
                </a:solidFill>
              </a:rPr>
              <a:t>to requalify a supplier, so losing one means patients wait</a:t>
            </a:r>
            <a:endParaRPr lang="en-US" sz="1400" dirty="0"/>
          </a:p>
        </p:txBody>
      </p:sp>
      <p:sp>
        <p:nvSpPr>
          <p:cNvPr id="11" name="Text 9"/>
          <p:cNvSpPr txBox="1"/>
          <p:nvPr/>
        </p:nvSpPr>
        <p:spPr>
          <a:xfrm>
            <a:off x="822960" y="4617720"/>
            <a:ext cx="4937760" cy="411480"/>
          </a:xfrm>
          <a:prstGeom prst="rect">
            <a:avLst/>
          </a:prstGeom>
          <a:noFill/>
          <a:ln/>
        </p:spPr>
        <p:txBody>
          <a:bodyPr wrap="square" lIns="0" tIns="0" rIns="0" bIns="0" rtlCol="0" anchor="ctr"/>
          <a:lstStyle/>
          <a:p>
            <a:pPr indent="0" marL="0">
              <a:buNone/>
            </a:pPr>
            <a:r>
              <a:rPr lang="en-US" sz="1400" b="1" dirty="0">
                <a:solidFill>
                  <a:schemeClr val="accent2"/>
                </a:solidFill>
              </a:rPr>
              <a:t>The gap: small, single-plant makers in Mexico and China</a:t>
            </a:r>
            <a:endParaRPr lang="en-US" sz="1400" dirty="0"/>
          </a:p>
        </p:txBody>
      </p:sp>
      <p:sp>
        <p:nvSpPr>
          <p:cNvPr id="12" name="Shape 10"/>
          <p:cNvSpPr/>
          <p:nvPr/>
        </p:nvSpPr>
        <p:spPr>
          <a:xfrm>
            <a:off x="6263640" y="1554480"/>
            <a:ext cx="5394960" cy="3657600"/>
          </a:xfrm>
          <a:prstGeom prst="roundRect">
            <a:avLst>
              <a:gd name="adj" fmla="val 2000"/>
            </a:avLst>
          </a:prstGeom>
          <a:solidFill>
            <a:schemeClr val="bg2"/>
          </a:solidFill>
          <a:ln/>
        </p:spPr>
      </p:sp>
      <p:sp>
        <p:nvSpPr>
          <p:cNvPr id="13" name="Text 11"/>
          <p:cNvSpPr txBox="1"/>
          <p:nvPr/>
        </p:nvSpPr>
        <p:spPr>
          <a:xfrm>
            <a:off x="6537960" y="1691640"/>
            <a:ext cx="4846320" cy="41148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The story is ahead of the numbers</a:t>
            </a:r>
            <a:endParaRPr lang="en-US" sz="1800" dirty="0"/>
          </a:p>
        </p:txBody>
      </p:sp>
      <p:sp>
        <p:nvSpPr>
          <p:cNvPr id="14" name="Text 12"/>
          <p:cNvSpPr txBox="1"/>
          <p:nvPr/>
        </p:nvSpPr>
        <p:spPr>
          <a:xfrm>
            <a:off x="6537960" y="219456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Scope 3</a:t>
            </a:r>
            <a:endParaRPr lang="en-US" sz="3000" dirty="0"/>
          </a:p>
        </p:txBody>
      </p:sp>
      <p:sp>
        <p:nvSpPr>
          <p:cNvPr id="15" name="Text 13"/>
          <p:cNvSpPr txBox="1"/>
          <p:nvPr/>
        </p:nvSpPr>
        <p:spPr>
          <a:xfrm>
            <a:off x="8366760" y="2194560"/>
            <a:ext cx="3063240" cy="685800"/>
          </a:xfrm>
          <a:prstGeom prst="rect">
            <a:avLst/>
          </a:prstGeom>
          <a:noFill/>
          <a:ln/>
        </p:spPr>
        <p:txBody>
          <a:bodyPr wrap="square" lIns="0" tIns="0" rIns="0" bIns="0" rtlCol="0" anchor="ctr"/>
          <a:lstStyle/>
          <a:p>
            <a:pPr indent="0" marL="0">
              <a:buNone/>
            </a:pPr>
            <a:r>
              <a:rPr lang="en-US" sz="1400" dirty="0">
                <a:solidFill>
                  <a:schemeClr val="tx1"/>
                </a:solidFill>
              </a:rPr>
              <a:t>unmeasured: only a 2024 baseline exists</a:t>
            </a:r>
            <a:endParaRPr lang="en-US" sz="1400" dirty="0"/>
          </a:p>
        </p:txBody>
      </p:sp>
      <p:sp>
        <p:nvSpPr>
          <p:cNvPr id="16" name="Text 14"/>
          <p:cNvSpPr txBox="1"/>
          <p:nvPr/>
        </p:nvSpPr>
        <p:spPr>
          <a:xfrm>
            <a:off x="6537960" y="297180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−2%</a:t>
            </a:r>
            <a:endParaRPr lang="en-US" sz="3000" dirty="0"/>
          </a:p>
        </p:txBody>
      </p:sp>
      <p:sp>
        <p:nvSpPr>
          <p:cNvPr id="17" name="Text 15"/>
          <p:cNvSpPr txBox="1"/>
          <p:nvPr/>
        </p:nvSpPr>
        <p:spPr>
          <a:xfrm>
            <a:off x="8366760" y="2971800"/>
            <a:ext cx="3063240" cy="685800"/>
          </a:xfrm>
          <a:prstGeom prst="rect">
            <a:avLst/>
          </a:prstGeom>
          <a:noFill/>
          <a:ln/>
        </p:spPr>
        <p:txBody>
          <a:bodyPr wrap="square" lIns="0" tIns="0" rIns="0" bIns="0" rtlCol="0" anchor="ctr"/>
          <a:lstStyle/>
          <a:p>
            <a:pPr indent="0" marL="0">
              <a:buNone/>
            </a:pPr>
            <a:r>
              <a:rPr lang="en-US" sz="1400" dirty="0">
                <a:solidFill>
                  <a:schemeClr val="tx1"/>
                </a:solidFill>
              </a:rPr>
              <a:t>Scope 1+2 vs 2020, against a −40% goal for 2030</a:t>
            </a:r>
            <a:endParaRPr lang="en-US" sz="1400" dirty="0"/>
          </a:p>
        </p:txBody>
      </p:sp>
      <p:sp>
        <p:nvSpPr>
          <p:cNvPr id="18" name="Shape 16"/>
          <p:cNvSpPr/>
          <p:nvPr/>
        </p:nvSpPr>
        <p:spPr>
          <a:xfrm>
            <a:off x="8366760" y="3639312"/>
            <a:ext cx="3017520" cy="91440"/>
          </a:xfrm>
          <a:prstGeom prst="rect">
            <a:avLst/>
          </a:prstGeom>
          <a:solidFill>
            <a:schemeClr val="accent6"/>
          </a:solidFill>
          <a:ln/>
        </p:spPr>
      </p:sp>
      <p:sp>
        <p:nvSpPr>
          <p:cNvPr id="19" name="Shape 17"/>
          <p:cNvSpPr/>
          <p:nvPr/>
        </p:nvSpPr>
        <p:spPr>
          <a:xfrm>
            <a:off x="8366760" y="3639312"/>
            <a:ext cx="150876" cy="91440"/>
          </a:xfrm>
          <a:prstGeom prst="rect">
            <a:avLst/>
          </a:prstGeom>
          <a:solidFill>
            <a:schemeClr val="accent1"/>
          </a:solidFill>
          <a:ln/>
        </p:spPr>
      </p:sp>
      <p:sp>
        <p:nvSpPr>
          <p:cNvPr id="20" name="Text 18"/>
          <p:cNvSpPr txBox="1"/>
          <p:nvPr/>
        </p:nvSpPr>
        <p:spPr>
          <a:xfrm>
            <a:off x="6537960" y="374904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0</a:t>
            </a:r>
            <a:endParaRPr lang="en-US" sz="3000" dirty="0"/>
          </a:p>
        </p:txBody>
      </p:sp>
      <p:sp>
        <p:nvSpPr>
          <p:cNvPr id="21" name="Text 19"/>
          <p:cNvSpPr txBox="1"/>
          <p:nvPr/>
        </p:nvSpPr>
        <p:spPr>
          <a:xfrm>
            <a:off x="8366760" y="3749040"/>
            <a:ext cx="3063240" cy="685800"/>
          </a:xfrm>
          <a:prstGeom prst="rect">
            <a:avLst/>
          </a:prstGeom>
          <a:noFill/>
          <a:ln/>
        </p:spPr>
        <p:txBody>
          <a:bodyPr wrap="square" lIns="0" tIns="0" rIns="0" bIns="0" rtlCol="0" anchor="ctr"/>
          <a:lstStyle/>
          <a:p>
            <a:pPr indent="0" marL="0">
              <a:buNone/>
            </a:pPr>
            <a:r>
              <a:rPr lang="en-US" sz="1400" dirty="0">
                <a:solidFill>
                  <a:schemeClr val="tx1"/>
                </a:solidFill>
              </a:rPr>
              <a:t>EcoVadis coverage numbers published</a:t>
            </a:r>
            <a:endParaRPr lang="en-US" sz="1400" dirty="0"/>
          </a:p>
        </p:txBody>
      </p:sp>
      <p:sp>
        <p:nvSpPr>
          <p:cNvPr id="22" name="Text 20"/>
          <p:cNvSpPr txBox="1"/>
          <p:nvPr/>
        </p:nvSpPr>
        <p:spPr>
          <a:xfrm>
            <a:off x="6537960" y="4617720"/>
            <a:ext cx="4937760" cy="411480"/>
          </a:xfrm>
          <a:prstGeom prst="rect">
            <a:avLst/>
          </a:prstGeom>
          <a:noFill/>
          <a:ln/>
        </p:spPr>
        <p:txBody>
          <a:bodyPr wrap="square" lIns="0" tIns="0" rIns="0" bIns="0" rtlCol="0" anchor="ctr"/>
          <a:lstStyle/>
          <a:p>
            <a:pPr indent="0" marL="0">
              <a:buNone/>
            </a:pPr>
            <a:r>
              <a:rPr lang="en-US" sz="1400" b="1" dirty="0">
                <a:solidFill>
                  <a:schemeClr val="accent2"/>
                </a:solidFill>
              </a:rPr>
              <a:t>Merit's own 2025 report: Scope 3 from China and Mexico is a top risk</a:t>
            </a:r>
            <a:endParaRPr lang="en-US" sz="1400" dirty="0"/>
          </a:p>
        </p:txBody>
      </p:sp>
      <p:sp>
        <p:nvSpPr>
          <p:cNvPr id="23" name="Text 21"/>
          <p:cNvSpPr txBox="1"/>
          <p:nvPr/>
        </p:nvSpPr>
        <p:spPr>
          <a:xfrm>
            <a:off x="548640" y="5486400"/>
            <a:ext cx="1097280" cy="548640"/>
          </a:xfrm>
          <a:prstGeom prst="rect">
            <a:avLst/>
          </a:prstGeom>
          <a:noFill/>
          <a:ln/>
        </p:spPr>
        <p:txBody>
          <a:bodyPr wrap="square" lIns="0" tIns="0" rIns="0" bIns="0" rtlCol="0" anchor="ctr"/>
          <a:lstStyle/>
          <a:p>
            <a:pPr indent="0" marL="0">
              <a:buNone/>
            </a:pPr>
            <a:r>
              <a:rPr lang="en-US" sz="1600" b="1" dirty="0">
                <a:solidFill>
                  <a:schemeClr val="accent1"/>
                </a:solidFill>
              </a:rPr>
              <a:t>Why now</a:t>
            </a:r>
            <a:endParaRPr lang="en-US" sz="1600" dirty="0"/>
          </a:p>
        </p:txBody>
      </p:sp>
      <p:sp>
        <p:nvSpPr>
          <p:cNvPr id="24" name="Shape 22"/>
          <p:cNvSpPr/>
          <p:nvPr/>
        </p:nvSpPr>
        <p:spPr>
          <a:xfrm>
            <a:off x="1691640" y="5486400"/>
            <a:ext cx="2359152" cy="548640"/>
          </a:xfrm>
          <a:prstGeom prst="roundRect">
            <a:avLst>
              <a:gd name="adj" fmla="val 13333"/>
            </a:avLst>
          </a:prstGeom>
          <a:solidFill>
            <a:schemeClr val="bg1"/>
          </a:solidFill>
          <a:ln w="12700">
            <a:solidFill>
              <a:schemeClr val="accent6"/>
            </a:solidFill>
            <a:prstDash val="solid"/>
          </a:ln>
        </p:spPr>
      </p:sp>
      <p:sp>
        <p:nvSpPr>
          <p:cNvPr id="25" name="Text 23"/>
          <p:cNvSpPr txBox="1"/>
          <p:nvPr/>
        </p:nvSpPr>
        <p:spPr>
          <a:xfrm>
            <a:off x="1783080"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New CEO: "responsible supply-chain practices"</a:t>
            </a:r>
            <a:endParaRPr lang="en-US" sz="1200" dirty="0"/>
          </a:p>
        </p:txBody>
      </p:sp>
      <p:sp>
        <p:nvSpPr>
          <p:cNvPr id="26" name="Shape 24"/>
          <p:cNvSpPr/>
          <p:nvPr/>
        </p:nvSpPr>
        <p:spPr>
          <a:xfrm>
            <a:off x="4178808" y="5486400"/>
            <a:ext cx="2359152" cy="548640"/>
          </a:xfrm>
          <a:prstGeom prst="roundRect">
            <a:avLst>
              <a:gd name="adj" fmla="val 13333"/>
            </a:avLst>
          </a:prstGeom>
          <a:solidFill>
            <a:schemeClr val="bg1"/>
          </a:solidFill>
          <a:ln w="12700">
            <a:solidFill>
              <a:schemeClr val="accent6"/>
            </a:solidFill>
            <a:prstDash val="solid"/>
          </a:ln>
        </p:spPr>
      </p:sp>
      <p:sp>
        <p:nvSpPr>
          <p:cNvPr id="27" name="Text 25"/>
          <p:cNvSpPr txBox="1"/>
          <p:nvPr/>
        </p:nvSpPr>
        <p:spPr>
          <a:xfrm>
            <a:off x="4270248"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EcoVadis rollout is only a year old</a:t>
            </a:r>
            <a:endParaRPr lang="en-US" sz="1200" dirty="0"/>
          </a:p>
        </p:txBody>
      </p:sp>
      <p:sp>
        <p:nvSpPr>
          <p:cNvPr id="28" name="Shape 26"/>
          <p:cNvSpPr/>
          <p:nvPr/>
        </p:nvSpPr>
        <p:spPr>
          <a:xfrm>
            <a:off x="6665976" y="5486400"/>
            <a:ext cx="2359152" cy="548640"/>
          </a:xfrm>
          <a:prstGeom prst="roundRect">
            <a:avLst>
              <a:gd name="adj" fmla="val 13333"/>
            </a:avLst>
          </a:prstGeom>
          <a:solidFill>
            <a:schemeClr val="bg1"/>
          </a:solidFill>
          <a:ln w="12700">
            <a:solidFill>
              <a:schemeClr val="accent6"/>
            </a:solidFill>
            <a:prstDash val="solid"/>
          </a:ln>
        </p:spPr>
      </p:sp>
      <p:sp>
        <p:nvSpPr>
          <p:cNvPr id="29" name="Text 27"/>
          <p:cNvSpPr txBox="1"/>
          <p:nvPr/>
        </p:nvSpPr>
        <p:spPr>
          <a:xfrm>
            <a:off x="6757416"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EU vague-claims ban: Sept 2026</a:t>
            </a:r>
            <a:endParaRPr lang="en-US" sz="1200" dirty="0"/>
          </a:p>
        </p:txBody>
      </p:sp>
      <p:sp>
        <p:nvSpPr>
          <p:cNvPr id="30" name="Shape 28"/>
          <p:cNvSpPr/>
          <p:nvPr/>
        </p:nvSpPr>
        <p:spPr>
          <a:xfrm>
            <a:off x="9153144" y="5486400"/>
            <a:ext cx="2359152" cy="548640"/>
          </a:xfrm>
          <a:prstGeom prst="roundRect">
            <a:avLst>
              <a:gd name="adj" fmla="val 13333"/>
            </a:avLst>
          </a:prstGeom>
          <a:solidFill>
            <a:schemeClr val="bg1"/>
          </a:solidFill>
          <a:ln w="12700">
            <a:solidFill>
              <a:schemeClr val="accent6"/>
            </a:solidFill>
            <a:prstDash val="solid"/>
          </a:ln>
        </p:spPr>
      </p:sp>
      <p:sp>
        <p:nvSpPr>
          <p:cNvPr id="31" name="Text 29"/>
          <p:cNvSpPr txBox="1"/>
          <p:nvPr/>
        </p:nvSpPr>
        <p:spPr>
          <a:xfrm>
            <a:off x="9244584"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NHS Scope 1–3 plan: Apr 2027</a:t>
            </a:r>
            <a:endParaRPr lang="en-US" sz="1200" dirty="0"/>
          </a:p>
        </p:txBody>
      </p:sp>
      <p:sp>
        <p:nvSpPr>
          <p:cNvPr id="32" name="Text 30"/>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2; Merit 2025 Sustainability Report; EU Dir. 2024/825; NHS Net Zero Supplier Roadmap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Neither default fixes the blind spot without breaking something</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286000"/>
                <a:gridCol w="2926080"/>
                <a:gridCol w="2926080"/>
                <a:gridCol w="2926080"/>
              </a:tblGrid>
              <a:tr h="548640">
                <a:tc>
                  <a:txBody>
                    <a:bodyPr/>
                    <a:lstStyle/>
                    <a:p>
                      <a:pPr indent="0" marL="0">
                        <a:buNone/>
                      </a:pPr>
                      <a:endParaRPr lang="en-US" sz="1200" dirty="0">
                        <a:latin typeface="Calibri" charset="0"/>
                        <a:ea typeface="Calibri" charset="0"/>
                        <a:cs typeface="Calibri" charset="0"/>
                      </a:endParaRPr>
                    </a:p>
                  </a:txBody>
                  <a:tcPr marL="91440" marR="91440" marT="54864" marB="54864">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A · Mandate everyone</a:t>
                      </a:r>
                      <a:endParaRPr lang="en-US" sz="16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B · Top 78 first</a:t>
                      </a:r>
                      <a:endParaRPr lang="en-US" sz="16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Ladder (ours)</a:t>
                      </a:r>
                      <a:endParaRPr lang="en-US" sz="16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Spend coverage</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Fast on paper</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65% fast</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65% in month 1</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Risk coverage</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5"/>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Shallow, unverified answers</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5"/>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Mexico/China dark for years</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Critical suppliers in year 1</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Supplier strain</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5"/>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High, so suppliers exit</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Matched to need</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HEART fit</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Excellence only</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Weak on Health and Responsibility</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All five values</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5440680"/>
            <a:ext cx="5440680" cy="731520"/>
          </a:xfrm>
          <a:prstGeom prst="roundRect">
            <a:avLst>
              <a:gd name="adj" fmla="val 10000"/>
            </a:avLst>
          </a:prstGeom>
          <a:solidFill>
            <a:schemeClr val="bg2"/>
          </a:solidFill>
          <a:ln/>
        </p:spPr>
      </p:sp>
      <p:sp>
        <p:nvSpPr>
          <p:cNvPr id="5" name="Text 2"/>
          <p:cNvSpPr txBox="1"/>
          <p:nvPr/>
        </p:nvSpPr>
        <p:spPr>
          <a:xfrm>
            <a:off x="777240" y="5440680"/>
            <a:ext cx="1005840" cy="73152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89%</a:t>
            </a:r>
            <a:endParaRPr lang="en-US" sz="2400" dirty="0"/>
          </a:p>
        </p:txBody>
      </p:sp>
      <p:sp>
        <p:nvSpPr>
          <p:cNvPr id="6" name="Text 3"/>
          <p:cNvSpPr txBox="1"/>
          <p:nvPr/>
        </p:nvSpPr>
        <p:spPr>
          <a:xfrm>
            <a:off x="1828800" y="5440680"/>
            <a:ext cx="4023360" cy="731520"/>
          </a:xfrm>
          <a:prstGeom prst="rect">
            <a:avLst/>
          </a:prstGeom>
          <a:noFill/>
          <a:ln/>
        </p:spPr>
        <p:txBody>
          <a:bodyPr wrap="square" lIns="0" tIns="0" rIns="0" bIns="0" rtlCol="0" anchor="ctr"/>
          <a:lstStyle/>
          <a:p>
            <a:pPr indent="0" marL="0">
              <a:buNone/>
            </a:pPr>
            <a:r>
              <a:rPr lang="en-US" sz="1400" dirty="0">
                <a:solidFill>
                  <a:schemeClr val="tx1"/>
                </a:solidFill>
              </a:rPr>
              <a:t>average on unverified yes/no supplier surveys, with 40% perfect scores</a:t>
            </a:r>
            <a:endParaRPr lang="en-US" sz="1400" dirty="0"/>
          </a:p>
        </p:txBody>
      </p:sp>
      <p:sp>
        <p:nvSpPr>
          <p:cNvPr id="7" name="Shape 4"/>
          <p:cNvSpPr/>
          <p:nvPr/>
        </p:nvSpPr>
        <p:spPr>
          <a:xfrm>
            <a:off x="6172200" y="5440680"/>
            <a:ext cx="5440680" cy="731520"/>
          </a:xfrm>
          <a:prstGeom prst="roundRect">
            <a:avLst>
              <a:gd name="adj" fmla="val 10000"/>
            </a:avLst>
          </a:prstGeom>
          <a:solidFill>
            <a:schemeClr val="bg2"/>
          </a:solidFill>
          <a:ln/>
        </p:spPr>
      </p:sp>
      <p:sp>
        <p:nvSpPr>
          <p:cNvPr id="8" name="Text 5"/>
          <p:cNvSpPr txBox="1"/>
          <p:nvPr/>
        </p:nvSpPr>
        <p:spPr>
          <a:xfrm>
            <a:off x="6400800" y="5440680"/>
            <a:ext cx="1005840" cy="73152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56%</a:t>
            </a:r>
            <a:endParaRPr lang="en-US" sz="2400" dirty="0"/>
          </a:p>
        </p:txBody>
      </p:sp>
      <p:sp>
        <p:nvSpPr>
          <p:cNvPr id="9" name="Text 6"/>
          <p:cNvSpPr txBox="1"/>
          <p:nvPr/>
        </p:nvSpPr>
        <p:spPr>
          <a:xfrm>
            <a:off x="7452360" y="5440680"/>
            <a:ext cx="4023360" cy="731520"/>
          </a:xfrm>
          <a:prstGeom prst="rect">
            <a:avLst/>
          </a:prstGeom>
          <a:noFill/>
          <a:ln/>
        </p:spPr>
        <p:txBody>
          <a:bodyPr wrap="square" lIns="0" tIns="0" rIns="0" bIns="0" rtlCol="0" anchor="ctr"/>
          <a:lstStyle/>
          <a:p>
            <a:pPr indent="0" marL="0">
              <a:buNone/>
            </a:pPr>
            <a:r>
              <a:rPr lang="en-US" sz="1400" dirty="0">
                <a:solidFill>
                  <a:schemeClr val="tx1"/>
                </a:solidFill>
              </a:rPr>
              <a:t>of large Finnish firms dropped suppliers over ESG demands</a:t>
            </a:r>
            <a:endParaRPr lang="en-US" sz="1400" dirty="0"/>
          </a:p>
        </p:txBody>
      </p:sp>
      <p:sp>
        <p:nvSpPr>
          <p:cNvPr id="10" name="Text 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5; research/analogues-buyer-programs.md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Sort every supplier with one rule, then help each one climb</a:t>
            </a:r>
            <a:endParaRPr lang="en-US" sz="2800" dirty="0"/>
          </a:p>
        </p:txBody>
      </p:sp>
      <p:sp>
        <p:nvSpPr>
          <p:cNvPr id="3" name="Text 1"/>
          <p:cNvSpPr txBox="1"/>
          <p:nvPr/>
        </p:nvSpPr>
        <p:spPr>
          <a:xfrm>
            <a:off x="548640" y="1463040"/>
            <a:ext cx="5760720" cy="411480"/>
          </a:xfrm>
          <a:prstGeom prst="rect">
            <a:avLst/>
          </a:prstGeom>
          <a:noFill/>
          <a:ln/>
        </p:spPr>
        <p:txBody>
          <a:bodyPr wrap="square" lIns="0" tIns="0" rIns="0" bIns="0" rtlCol="0" anchor="ctr"/>
          <a:lstStyle/>
          <a:p>
            <a:pPr indent="0" marL="0">
              <a:buNone/>
            </a:pPr>
            <a:r>
              <a:rPr lang="en-US" sz="1600" b="1" dirty="0">
                <a:solidFill>
                  <a:schemeClr val="accent1"/>
                </a:solidFill>
              </a:rPr>
              <a:t>Sort:  </a:t>
            </a:r>
            <a:pPr indent="0" marL="0">
              <a:buNone/>
            </a:pPr>
            <a:r>
              <a:rPr lang="en-US" sz="1600" dirty="0">
                <a:solidFill>
                  <a:schemeClr val="tx1"/>
                </a:solidFill>
              </a:rPr>
              <a:t>Switching difficulty × Spend × Country risk × Readiness</a:t>
            </a:r>
            <a:endParaRPr lang="en-US" sz="1600" dirty="0"/>
          </a:p>
        </p:txBody>
      </p:sp>
      <p:sp>
        <p:nvSpPr>
          <p:cNvPr id="4" name="Text 2"/>
          <p:cNvSpPr/>
          <p:nvPr/>
        </p:nvSpPr>
        <p:spPr>
          <a:xfrm>
            <a:off x="1325880" y="2011680"/>
            <a:ext cx="1545336" cy="1271016"/>
          </a:xfrm>
          <a:prstGeom prst="rect">
            <a:avLst/>
          </a:prstGeom>
          <a:solidFill>
            <a:schemeClr val="accent2"/>
          </a:solidFill>
          <a:ln/>
        </p:spPr>
        <p:txBody>
          <a:bodyPr wrap="square" lIns="1016" tIns="1016" rIns="1016" bIns="1016" rtlCol="0" anchor="ctr"/>
          <a:lstStyle/>
          <a:p>
            <a:pPr algn="ctr" indent="0" marL="0">
              <a:buNone/>
            </a:pPr>
            <a:r>
              <a:rPr lang="en-US" sz="1300" b="1" dirty="0">
                <a:solidFill>
                  <a:schemeClr val="bg1"/>
                </a:solidFill>
              </a:rPr>
              <a:t>Critical single-plant makers (MX/CN)</a:t>
            </a:r>
            <a:endParaRPr lang="en-US" sz="1300" dirty="0"/>
          </a:p>
        </p:txBody>
      </p:sp>
      <p:sp>
        <p:nvSpPr>
          <p:cNvPr id="5" name="Text 3"/>
          <p:cNvSpPr/>
          <p:nvPr/>
        </p:nvSpPr>
        <p:spPr>
          <a:xfrm>
            <a:off x="2926080" y="2011680"/>
            <a:ext cx="1545336" cy="1271016"/>
          </a:xfrm>
          <a:prstGeom prst="rect">
            <a:avLst/>
          </a:prstGeom>
          <a:solidFill>
            <a:schemeClr val="accent2"/>
          </a:solidFill>
          <a:ln/>
        </p:spPr>
        <p:txBody>
          <a:bodyPr wrap="square" lIns="1016" tIns="1016" rIns="1016" bIns="1016" rtlCol="0" anchor="ctr"/>
          <a:lstStyle/>
          <a:p>
            <a:pPr algn="ctr" indent="0" marL="0">
              <a:buNone/>
            </a:pPr>
            <a:r>
              <a:rPr lang="en-US" sz="1300" b="1" dirty="0">
                <a:solidFill>
                  <a:schemeClr val="bg1"/>
                </a:solidFill>
              </a:rPr>
              <a:t>Mid-size specialty, partial reporting</a:t>
            </a:r>
            <a:endParaRPr lang="en-US" sz="1300" dirty="0"/>
          </a:p>
        </p:txBody>
      </p:sp>
      <p:sp>
        <p:nvSpPr>
          <p:cNvPr id="6" name="Text 4"/>
          <p:cNvSpPr/>
          <p:nvPr/>
        </p:nvSpPr>
        <p:spPr>
          <a:xfrm>
            <a:off x="4526280" y="2011680"/>
            <a:ext cx="1545336" cy="1271016"/>
          </a:xfrm>
          <a:prstGeom prst="rect">
            <a:avLst/>
          </a:prstGeom>
          <a:solidFill>
            <a:schemeClr val="accent1"/>
          </a:solidFill>
          <a:ln/>
        </p:spPr>
        <p:txBody>
          <a:bodyPr wrap="square" lIns="1016" tIns="1016" rIns="1016" bIns="1016" rtlCol="0" anchor="ctr"/>
          <a:lstStyle/>
          <a:p>
            <a:pPr algn="ctr" indent="0" marL="0">
              <a:buNone/>
            </a:pPr>
            <a:r>
              <a:rPr lang="en-US" sz="1300" b="1" dirty="0">
                <a:solidFill>
                  <a:schemeClr val="bg1"/>
                </a:solidFill>
              </a:rPr>
              <a:t>Anchor partners, already reporting</a:t>
            </a:r>
            <a:endParaRPr lang="en-US" sz="1300" dirty="0"/>
          </a:p>
        </p:txBody>
      </p:sp>
      <p:sp>
        <p:nvSpPr>
          <p:cNvPr id="7" name="Text 5"/>
          <p:cNvSpPr/>
          <p:nvPr/>
        </p:nvSpPr>
        <p:spPr>
          <a:xfrm>
            <a:off x="1325880" y="3337560"/>
            <a:ext cx="1545336" cy="1271016"/>
          </a:xfrm>
          <a:prstGeom prst="rect">
            <a:avLst/>
          </a:prstGeom>
          <a:solidFill>
            <a:schemeClr val="accent3"/>
          </a:solidFill>
          <a:ln/>
        </p:spPr>
        <p:txBody>
          <a:bodyPr wrap="square" lIns="1016" tIns="1016" rIns="1016" bIns="1016" rtlCol="0" anchor="ctr"/>
          <a:lstStyle/>
          <a:p>
            <a:pPr algn="ctr" indent="0" marL="0">
              <a:buNone/>
            </a:pPr>
            <a:r>
              <a:rPr lang="en-US" sz="1300" b="1" dirty="0">
                <a:solidFill>
                  <a:schemeClr val="bg1"/>
                </a:solidFill>
              </a:rPr>
              <a:t>Small commodity inputs</a:t>
            </a:r>
            <a:endParaRPr lang="en-US" sz="1300" dirty="0"/>
          </a:p>
        </p:txBody>
      </p:sp>
      <p:sp>
        <p:nvSpPr>
          <p:cNvPr id="8" name="Text 6"/>
          <p:cNvSpPr/>
          <p:nvPr/>
        </p:nvSpPr>
        <p:spPr>
          <a:xfrm>
            <a:off x="2926080" y="3337560"/>
            <a:ext cx="1545336" cy="1271016"/>
          </a:xfrm>
          <a:prstGeom prst="rect">
            <a:avLst/>
          </a:prstGeom>
          <a:solidFill>
            <a:schemeClr val="accent3"/>
          </a:solidFill>
          <a:ln/>
        </p:spPr>
        <p:txBody>
          <a:bodyPr wrap="square" lIns="1016" tIns="1016" rIns="1016" bIns="1016" rtlCol="0" anchor="ctr"/>
          <a:lstStyle/>
          <a:p>
            <a:pPr algn="ctr" indent="0" marL="0">
              <a:buNone/>
            </a:pPr>
            <a:r>
              <a:rPr lang="en-US" sz="1300" b="1" dirty="0">
                <a:solidFill>
                  <a:schemeClr val="bg1"/>
                </a:solidFill>
              </a:rPr>
              <a:t>Regional distributors, packaging</a:t>
            </a:r>
            <a:endParaRPr lang="en-US" sz="1300" dirty="0"/>
          </a:p>
        </p:txBody>
      </p:sp>
      <p:sp>
        <p:nvSpPr>
          <p:cNvPr id="9" name="Text 7"/>
          <p:cNvSpPr/>
          <p:nvPr/>
        </p:nvSpPr>
        <p:spPr>
          <a:xfrm>
            <a:off x="4526280" y="3337560"/>
            <a:ext cx="1545336" cy="1271016"/>
          </a:xfrm>
          <a:prstGeom prst="rect">
            <a:avLst/>
          </a:prstGeom>
          <a:solidFill>
            <a:schemeClr val="accent3"/>
          </a:solidFill>
          <a:ln/>
        </p:spPr>
        <p:txBody>
          <a:bodyPr wrap="square" lIns="1016" tIns="1016" rIns="1016" bIns="1016" rtlCol="0" anchor="ctr"/>
          <a:lstStyle/>
          <a:p>
            <a:pPr algn="ctr" indent="0" marL="0">
              <a:buNone/>
            </a:pPr>
            <a:r>
              <a:rPr lang="en-US" sz="1300" b="1" dirty="0">
                <a:solidFill>
                  <a:schemeClr val="bg1"/>
                </a:solidFill>
              </a:rPr>
              <a:t>Small, certified via other buyers</a:t>
            </a:r>
            <a:endParaRPr lang="en-US" sz="1300" dirty="0"/>
          </a:p>
        </p:txBody>
      </p:sp>
      <p:sp>
        <p:nvSpPr>
          <p:cNvPr id="10" name="Text 8"/>
          <p:cNvSpPr txBox="1"/>
          <p:nvPr/>
        </p:nvSpPr>
        <p:spPr>
          <a:xfrm>
            <a:off x="548640" y="2011680"/>
            <a:ext cx="731520" cy="1325880"/>
          </a:xfrm>
          <a:prstGeom prst="rect">
            <a:avLst/>
          </a:prstGeom>
          <a:noFill/>
          <a:ln/>
        </p:spPr>
        <p:txBody>
          <a:bodyPr wrap="square" lIns="0" tIns="0" rIns="0" bIns="0" rtlCol="0" anchor="ctr"/>
          <a:lstStyle/>
          <a:p>
            <a:pPr indent="0" marL="0">
              <a:buNone/>
            </a:pPr>
            <a:r>
              <a:rPr lang="en-US" sz="1200" b="1" dirty="0">
                <a:solidFill>
                  <a:schemeClr val="tx2"/>
                </a:solidFill>
              </a:rPr>
              <a:t>High power</a:t>
            </a:r>
            <a:endParaRPr lang="en-US" sz="1200" dirty="0"/>
          </a:p>
        </p:txBody>
      </p:sp>
      <p:sp>
        <p:nvSpPr>
          <p:cNvPr id="11" name="Text 9"/>
          <p:cNvSpPr txBox="1"/>
          <p:nvPr/>
        </p:nvSpPr>
        <p:spPr>
          <a:xfrm>
            <a:off x="548640" y="3337560"/>
            <a:ext cx="731520" cy="1325880"/>
          </a:xfrm>
          <a:prstGeom prst="rect">
            <a:avLst/>
          </a:prstGeom>
          <a:noFill/>
          <a:ln/>
        </p:spPr>
        <p:txBody>
          <a:bodyPr wrap="square" lIns="0" tIns="0" rIns="0" bIns="0" rtlCol="0" anchor="ctr"/>
          <a:lstStyle/>
          <a:p>
            <a:pPr indent="0" marL="0">
              <a:buNone/>
            </a:pPr>
            <a:r>
              <a:rPr lang="en-US" sz="1200" b="1" dirty="0">
                <a:solidFill>
                  <a:schemeClr val="tx2"/>
                </a:solidFill>
              </a:rPr>
              <a:t>Low power</a:t>
            </a:r>
            <a:endParaRPr lang="en-US" sz="1200" dirty="0"/>
          </a:p>
        </p:txBody>
      </p:sp>
      <p:sp>
        <p:nvSpPr>
          <p:cNvPr id="12" name="Text 10"/>
          <p:cNvSpPr txBox="1"/>
          <p:nvPr/>
        </p:nvSpPr>
        <p:spPr>
          <a:xfrm>
            <a:off x="1325880" y="4681728"/>
            <a:ext cx="1545336" cy="320040"/>
          </a:xfrm>
          <a:prstGeom prst="rect">
            <a:avLst/>
          </a:prstGeom>
          <a:noFill/>
          <a:ln/>
        </p:spPr>
        <p:txBody>
          <a:bodyPr wrap="square" lIns="0" tIns="0" rIns="0" bIns="0" rtlCol="0" anchor="t"/>
          <a:lstStyle/>
          <a:p>
            <a:pPr algn="ctr" indent="0" marL="0">
              <a:buNone/>
            </a:pPr>
            <a:r>
              <a:rPr lang="en-US" sz="1200" b="1" dirty="0">
                <a:solidFill>
                  <a:schemeClr val="tx2"/>
                </a:solidFill>
              </a:rPr>
              <a:t>Low readiness</a:t>
            </a:r>
            <a:endParaRPr lang="en-US" sz="1200" dirty="0"/>
          </a:p>
        </p:txBody>
      </p:sp>
      <p:sp>
        <p:nvSpPr>
          <p:cNvPr id="13" name="Text 11"/>
          <p:cNvSpPr txBox="1"/>
          <p:nvPr/>
        </p:nvSpPr>
        <p:spPr>
          <a:xfrm>
            <a:off x="2926080" y="4681728"/>
            <a:ext cx="1545336" cy="320040"/>
          </a:xfrm>
          <a:prstGeom prst="rect">
            <a:avLst/>
          </a:prstGeom>
          <a:noFill/>
          <a:ln/>
        </p:spPr>
        <p:txBody>
          <a:bodyPr wrap="square" lIns="0" tIns="0" rIns="0" bIns="0" rtlCol="0" anchor="t"/>
          <a:lstStyle/>
          <a:p>
            <a:pPr algn="ctr" indent="0" marL="0">
              <a:buNone/>
            </a:pPr>
            <a:r>
              <a:rPr lang="en-US" sz="1200" b="1" dirty="0">
                <a:solidFill>
                  <a:schemeClr val="tx2"/>
                </a:solidFill>
              </a:rPr>
              <a:t>Moderate</a:t>
            </a:r>
            <a:endParaRPr lang="en-US" sz="1200" dirty="0"/>
          </a:p>
        </p:txBody>
      </p:sp>
      <p:sp>
        <p:nvSpPr>
          <p:cNvPr id="14" name="Text 12"/>
          <p:cNvSpPr txBox="1"/>
          <p:nvPr/>
        </p:nvSpPr>
        <p:spPr>
          <a:xfrm>
            <a:off x="4526280" y="4681728"/>
            <a:ext cx="1545336" cy="320040"/>
          </a:xfrm>
          <a:prstGeom prst="rect">
            <a:avLst/>
          </a:prstGeom>
          <a:noFill/>
          <a:ln/>
        </p:spPr>
        <p:txBody>
          <a:bodyPr wrap="square" lIns="0" tIns="0" rIns="0" bIns="0" rtlCol="0" anchor="t"/>
          <a:lstStyle/>
          <a:p>
            <a:pPr algn="ctr" indent="0" marL="0">
              <a:buNone/>
            </a:pPr>
            <a:r>
              <a:rPr lang="en-US" sz="1200" b="1" dirty="0">
                <a:solidFill>
                  <a:schemeClr val="tx2"/>
                </a:solidFill>
              </a:rPr>
              <a:t>High readiness</a:t>
            </a:r>
            <a:endParaRPr lang="en-US" sz="1200" dirty="0"/>
          </a:p>
        </p:txBody>
      </p:sp>
      <p:sp>
        <p:nvSpPr>
          <p:cNvPr id="15" name="Shape 13"/>
          <p:cNvSpPr/>
          <p:nvPr/>
        </p:nvSpPr>
        <p:spPr>
          <a:xfrm>
            <a:off x="594360" y="5230368"/>
            <a:ext cx="182880" cy="182880"/>
          </a:xfrm>
          <a:prstGeom prst="ellipse">
            <a:avLst/>
          </a:prstGeom>
          <a:solidFill>
            <a:schemeClr val="accent1"/>
          </a:solidFill>
          <a:ln/>
        </p:spPr>
      </p:sp>
      <p:sp>
        <p:nvSpPr>
          <p:cNvPr id="16" name="Text 14"/>
          <p:cNvSpPr txBox="1"/>
          <p:nvPr/>
        </p:nvSpPr>
        <p:spPr>
          <a:xfrm>
            <a:off x="868680" y="5175504"/>
            <a:ext cx="4206240" cy="292608"/>
          </a:xfrm>
          <a:prstGeom prst="rect">
            <a:avLst/>
          </a:prstGeom>
          <a:noFill/>
          <a:ln/>
        </p:spPr>
        <p:txBody>
          <a:bodyPr wrap="square" lIns="0" tIns="0" rIns="0" bIns="0" rtlCol="0" anchor="ctr"/>
          <a:lstStyle/>
          <a:p>
            <a:pPr indent="0" marL="0">
              <a:buNone/>
            </a:pPr>
            <a:r>
              <a:rPr lang="en-US" sz="1300" dirty="0">
                <a:solidFill>
                  <a:schemeClr val="tx1"/>
                </a:solidFill>
              </a:rPr>
              <a:t>Tier 1 · Anchors (~65)</a:t>
            </a:r>
            <a:endParaRPr lang="en-US" sz="1300" dirty="0"/>
          </a:p>
        </p:txBody>
      </p:sp>
      <p:sp>
        <p:nvSpPr>
          <p:cNvPr id="17" name="Shape 15"/>
          <p:cNvSpPr/>
          <p:nvPr/>
        </p:nvSpPr>
        <p:spPr>
          <a:xfrm>
            <a:off x="594360" y="5559552"/>
            <a:ext cx="182880" cy="182880"/>
          </a:xfrm>
          <a:prstGeom prst="ellipse">
            <a:avLst/>
          </a:prstGeom>
          <a:solidFill>
            <a:schemeClr val="accent2"/>
          </a:solidFill>
          <a:ln/>
        </p:spPr>
      </p:sp>
      <p:sp>
        <p:nvSpPr>
          <p:cNvPr id="18" name="Text 16"/>
          <p:cNvSpPr txBox="1"/>
          <p:nvPr/>
        </p:nvSpPr>
        <p:spPr>
          <a:xfrm>
            <a:off x="868680" y="5504688"/>
            <a:ext cx="4206240" cy="292608"/>
          </a:xfrm>
          <a:prstGeom prst="rect">
            <a:avLst/>
          </a:prstGeom>
          <a:noFill/>
          <a:ln/>
        </p:spPr>
        <p:txBody>
          <a:bodyPr wrap="square" lIns="0" tIns="0" rIns="0" bIns="0" rtlCol="0" anchor="ctr"/>
          <a:lstStyle/>
          <a:p>
            <a:pPr indent="0" marL="0">
              <a:buNone/>
            </a:pPr>
            <a:r>
              <a:rPr lang="en-US" sz="1300" dirty="0">
                <a:solidFill>
                  <a:schemeClr val="tx1"/>
                </a:solidFill>
              </a:rPr>
              <a:t>Tier 2 · Critical &amp; stuck (~30–50)</a:t>
            </a:r>
            <a:endParaRPr lang="en-US" sz="1300" dirty="0"/>
          </a:p>
        </p:txBody>
      </p:sp>
      <p:sp>
        <p:nvSpPr>
          <p:cNvPr id="19" name="Shape 17"/>
          <p:cNvSpPr/>
          <p:nvPr/>
        </p:nvSpPr>
        <p:spPr>
          <a:xfrm>
            <a:off x="594360" y="5888736"/>
            <a:ext cx="182880" cy="182880"/>
          </a:xfrm>
          <a:prstGeom prst="ellipse">
            <a:avLst/>
          </a:prstGeom>
          <a:solidFill>
            <a:schemeClr val="accent3"/>
          </a:solidFill>
          <a:ln/>
        </p:spPr>
      </p:sp>
      <p:sp>
        <p:nvSpPr>
          <p:cNvPr id="20" name="Text 18"/>
          <p:cNvSpPr txBox="1"/>
          <p:nvPr/>
        </p:nvSpPr>
        <p:spPr>
          <a:xfrm>
            <a:off x="868680" y="5833872"/>
            <a:ext cx="4206240" cy="292608"/>
          </a:xfrm>
          <a:prstGeom prst="rect">
            <a:avLst/>
          </a:prstGeom>
          <a:noFill/>
          <a:ln/>
        </p:spPr>
        <p:txBody>
          <a:bodyPr wrap="square" lIns="0" tIns="0" rIns="0" bIns="0" rtlCol="0" anchor="ctr"/>
          <a:lstStyle/>
          <a:p>
            <a:pPr indent="0" marL="0">
              <a:buNone/>
            </a:pPr>
            <a:r>
              <a:rPr lang="en-US" sz="1300" dirty="0">
                <a:solidFill>
                  <a:schemeClr val="tx1"/>
                </a:solidFill>
              </a:rPr>
              <a:t>Tier 3 · Long tail (~900)</a:t>
            </a:r>
            <a:endParaRPr lang="en-US" sz="1300" dirty="0"/>
          </a:p>
        </p:txBody>
      </p:sp>
      <p:sp>
        <p:nvSpPr>
          <p:cNvPr id="21" name="Text 19"/>
          <p:cNvSpPr txBox="1"/>
          <p:nvPr/>
        </p:nvSpPr>
        <p:spPr>
          <a:xfrm>
            <a:off x="3657600" y="5833872"/>
            <a:ext cx="2743200" cy="292608"/>
          </a:xfrm>
          <a:prstGeom prst="rect">
            <a:avLst/>
          </a:prstGeom>
          <a:noFill/>
          <a:ln/>
        </p:spPr>
        <p:txBody>
          <a:bodyPr wrap="square" lIns="0" tIns="0" rIns="0" bIns="0" rtlCol="0" anchor="ctr"/>
          <a:lstStyle/>
          <a:p>
            <a:pPr indent="0" marL="0">
              <a:buNone/>
            </a:pPr>
            <a:r>
              <a:rPr lang="en-US" sz="1000" i="1" dirty="0">
                <a:solidFill>
                  <a:schemeClr val="accent3"/>
                </a:solidFill>
              </a:rPr>
              <a:t>Counts are estimates; Merit's vendor master sets them</a:t>
            </a:r>
            <a:endParaRPr lang="en-US" sz="1000" dirty="0"/>
          </a:p>
        </p:txBody>
      </p:sp>
      <p:sp>
        <p:nvSpPr>
          <p:cNvPr id="22" name="Text 20"/>
          <p:cNvSpPr txBox="1"/>
          <p:nvPr/>
        </p:nvSpPr>
        <p:spPr>
          <a:xfrm>
            <a:off x="6858000" y="1463040"/>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Climb:  </a:t>
            </a:r>
            <a:pPr indent="0" marL="0">
              <a:buNone/>
            </a:pPr>
            <a:r>
              <a:rPr lang="en-US" sz="1600" dirty="0">
                <a:solidFill>
                  <a:schemeClr val="tx1"/>
                </a:solidFill>
              </a:rPr>
              <a:t>four rungs of evidence</a:t>
            </a:r>
            <a:endParaRPr lang="en-US" sz="1600" dirty="0"/>
          </a:p>
        </p:txBody>
      </p:sp>
      <p:sp>
        <p:nvSpPr>
          <p:cNvPr id="23" name="Shape 21"/>
          <p:cNvSpPr/>
          <p:nvPr/>
        </p:nvSpPr>
        <p:spPr>
          <a:xfrm>
            <a:off x="6949440" y="2011680"/>
            <a:ext cx="90526" cy="3931920"/>
          </a:xfrm>
          <a:prstGeom prst="rect">
            <a:avLst/>
          </a:prstGeom>
          <a:solidFill>
            <a:schemeClr val="accent3"/>
          </a:solidFill>
          <a:ln/>
        </p:spPr>
      </p:sp>
      <p:sp>
        <p:nvSpPr>
          <p:cNvPr id="24" name="Shape 22"/>
          <p:cNvSpPr/>
          <p:nvPr/>
        </p:nvSpPr>
        <p:spPr>
          <a:xfrm>
            <a:off x="7864754" y="2011680"/>
            <a:ext cx="90526" cy="3931920"/>
          </a:xfrm>
          <a:prstGeom prst="rect">
            <a:avLst/>
          </a:prstGeom>
          <a:solidFill>
            <a:schemeClr val="accent3"/>
          </a:solidFill>
          <a:ln/>
        </p:spPr>
      </p:sp>
      <p:sp>
        <p:nvSpPr>
          <p:cNvPr id="25" name="Shape 23"/>
          <p:cNvSpPr/>
          <p:nvPr/>
        </p:nvSpPr>
        <p:spPr>
          <a:xfrm>
            <a:off x="7039966" y="5383301"/>
            <a:ext cx="824789" cy="137617"/>
          </a:xfrm>
          <a:prstGeom prst="rect">
            <a:avLst/>
          </a:prstGeom>
          <a:solidFill>
            <a:schemeClr val="accent1"/>
          </a:solidFill>
          <a:ln/>
        </p:spPr>
      </p:sp>
      <p:sp>
        <p:nvSpPr>
          <p:cNvPr id="26" name="Shape 24"/>
          <p:cNvSpPr/>
          <p:nvPr/>
        </p:nvSpPr>
        <p:spPr>
          <a:xfrm>
            <a:off x="7039966" y="4400321"/>
            <a:ext cx="824789" cy="137617"/>
          </a:xfrm>
          <a:prstGeom prst="rect">
            <a:avLst/>
          </a:prstGeom>
          <a:solidFill>
            <a:schemeClr val="accent1"/>
          </a:solidFill>
          <a:ln/>
        </p:spPr>
      </p:sp>
      <p:sp>
        <p:nvSpPr>
          <p:cNvPr id="27" name="Shape 25"/>
          <p:cNvSpPr/>
          <p:nvPr/>
        </p:nvSpPr>
        <p:spPr>
          <a:xfrm>
            <a:off x="7039966" y="3417341"/>
            <a:ext cx="824789" cy="137617"/>
          </a:xfrm>
          <a:prstGeom prst="rect">
            <a:avLst/>
          </a:prstGeom>
          <a:solidFill>
            <a:schemeClr val="accent1"/>
          </a:solidFill>
          <a:ln/>
        </p:spPr>
      </p:sp>
      <p:sp>
        <p:nvSpPr>
          <p:cNvPr id="28" name="Shape 26"/>
          <p:cNvSpPr/>
          <p:nvPr/>
        </p:nvSpPr>
        <p:spPr>
          <a:xfrm>
            <a:off x="7039966" y="2434361"/>
            <a:ext cx="824789" cy="137617"/>
          </a:xfrm>
          <a:prstGeom prst="rect">
            <a:avLst/>
          </a:prstGeom>
          <a:solidFill>
            <a:schemeClr val="accent1"/>
          </a:solidFill>
          <a:ln/>
        </p:spPr>
      </p:sp>
      <p:sp>
        <p:nvSpPr>
          <p:cNvPr id="29" name="Text 27"/>
          <p:cNvSpPr txBox="1"/>
          <p:nvPr/>
        </p:nvSpPr>
        <p:spPr>
          <a:xfrm>
            <a:off x="8183880" y="5068062"/>
            <a:ext cx="3474720" cy="768096"/>
          </a:xfrm>
          <a:prstGeom prst="rect">
            <a:avLst/>
          </a:prstGeom>
          <a:noFill/>
          <a:ln/>
        </p:spPr>
        <p:txBody>
          <a:bodyPr wrap="square" lIns="0" tIns="0" rIns="0" bIns="0" rtlCol="0" anchor="ctr"/>
          <a:lstStyle/>
          <a:p>
            <a:pPr indent="0" marL="0">
              <a:buNone/>
            </a:pPr>
            <a:r>
              <a:rPr lang="en-US" sz="1500" b="1" dirty="0">
                <a:solidFill>
                  <a:schemeClr val="tx2"/>
                </a:solidFill>
              </a:rPr>
              <a:t>0 · Estimate</a:t>
            </a:r>
            <a:endParaRPr lang="en-US" sz="1500" dirty="0"/>
          </a:p>
          <a:p>
            <a:pPr indent="0" marL="0">
              <a:buNone/>
            </a:pPr>
            <a:r>
              <a:rPr lang="en-US" sz="1300" dirty="0">
                <a:solidFill>
                  <a:schemeClr val="tx1"/>
                </a:solidFill>
              </a:rPr>
              <a:t>Merit's spend-based Scope 3 estimate, labeled as one</a:t>
            </a:r>
            <a:endParaRPr lang="en-US" sz="1500" dirty="0"/>
          </a:p>
        </p:txBody>
      </p:sp>
      <p:sp>
        <p:nvSpPr>
          <p:cNvPr id="30" name="Text 28"/>
          <p:cNvSpPr txBox="1"/>
          <p:nvPr/>
        </p:nvSpPr>
        <p:spPr>
          <a:xfrm>
            <a:off x="8183880" y="4085082"/>
            <a:ext cx="3474720" cy="768096"/>
          </a:xfrm>
          <a:prstGeom prst="rect">
            <a:avLst/>
          </a:prstGeom>
          <a:noFill/>
          <a:ln/>
        </p:spPr>
        <p:txBody>
          <a:bodyPr wrap="square" lIns="0" tIns="0" rIns="0" bIns="0" rtlCol="0" anchor="ctr"/>
          <a:lstStyle/>
          <a:p>
            <a:pPr indent="0" marL="0">
              <a:buNone/>
            </a:pPr>
            <a:r>
              <a:rPr lang="en-US" sz="1500" b="1" dirty="0">
                <a:solidFill>
                  <a:schemeClr val="tx2"/>
                </a:solidFill>
              </a:rPr>
              <a:t>1 · Reported</a:t>
            </a:r>
            <a:endParaRPr lang="en-US" sz="1500" dirty="0"/>
          </a:p>
          <a:p>
            <a:pPr indent="0" marL="0">
              <a:buNone/>
            </a:pPr>
            <a:r>
              <a:rPr lang="en-US" sz="1300" dirty="0">
                <a:solidFill>
                  <a:schemeClr val="tx1"/>
                </a:solidFill>
              </a:rPr>
              <a:t>Vitals (a ≤30-min questionnaire) plus first figures</a:t>
            </a:r>
            <a:endParaRPr lang="en-US" sz="1500" dirty="0"/>
          </a:p>
        </p:txBody>
      </p:sp>
      <p:sp>
        <p:nvSpPr>
          <p:cNvPr id="31" name="Text 29"/>
          <p:cNvSpPr txBox="1"/>
          <p:nvPr/>
        </p:nvSpPr>
        <p:spPr>
          <a:xfrm>
            <a:off x="8183880" y="3102102"/>
            <a:ext cx="3474720" cy="768096"/>
          </a:xfrm>
          <a:prstGeom prst="rect">
            <a:avLst/>
          </a:prstGeom>
          <a:noFill/>
          <a:ln/>
        </p:spPr>
        <p:txBody>
          <a:bodyPr wrap="square" lIns="0" tIns="0" rIns="0" bIns="0" rtlCol="0" anchor="ctr"/>
          <a:lstStyle/>
          <a:p>
            <a:pPr indent="0" marL="0">
              <a:buNone/>
            </a:pPr>
            <a:r>
              <a:rPr lang="en-US" sz="1500" b="1" dirty="0">
                <a:solidFill>
                  <a:schemeClr val="tx2"/>
                </a:solidFill>
              </a:rPr>
              <a:t>2 · Traceable</a:t>
            </a:r>
            <a:endParaRPr lang="en-US" sz="1500" dirty="0"/>
          </a:p>
          <a:p>
            <a:pPr indent="0" marL="0">
              <a:buNone/>
            </a:pPr>
            <a:r>
              <a:rPr lang="en-US" sz="1300" dirty="0">
                <a:solidFill>
                  <a:schemeClr val="tx1"/>
                </a:solidFill>
              </a:rPr>
              <a:t>Emissions pack: records, method, gaps; supplier signs off</a:t>
            </a:r>
            <a:endParaRPr lang="en-US" sz="1500" dirty="0"/>
          </a:p>
        </p:txBody>
      </p:sp>
      <p:sp>
        <p:nvSpPr>
          <p:cNvPr id="32" name="Text 30"/>
          <p:cNvSpPr txBox="1"/>
          <p:nvPr/>
        </p:nvSpPr>
        <p:spPr>
          <a:xfrm>
            <a:off x="8183880" y="2119122"/>
            <a:ext cx="3474720" cy="768096"/>
          </a:xfrm>
          <a:prstGeom prst="rect">
            <a:avLst/>
          </a:prstGeom>
          <a:noFill/>
          <a:ln/>
        </p:spPr>
        <p:txBody>
          <a:bodyPr wrap="square" lIns="0" tIns="0" rIns="0" bIns="0" rtlCol="0" anchor="ctr"/>
          <a:lstStyle/>
          <a:p>
            <a:pPr indent="0" marL="0">
              <a:buNone/>
            </a:pPr>
            <a:r>
              <a:rPr lang="en-US" sz="1500" b="1" dirty="0">
                <a:solidFill>
                  <a:schemeClr val="tx2"/>
                </a:solidFill>
              </a:rPr>
              <a:t>3 · Rated</a:t>
            </a:r>
            <a:endParaRPr lang="en-US" sz="1500" dirty="0"/>
          </a:p>
          <a:p>
            <a:pPr indent="0" marL="0">
              <a:buNone/>
            </a:pPr>
            <a:r>
              <a:rPr lang="en-US" sz="1300" dirty="0">
                <a:solidFill>
                  <a:schemeClr val="tx1"/>
                </a:solidFill>
              </a:rPr>
              <a:t>Full EcoVadis score by year 2, third-party reviewed</a:t>
            </a:r>
            <a:endParaRPr lang="en-US" sz="1500" dirty="0"/>
          </a:p>
        </p:txBody>
      </p:sp>
      <p:sp>
        <p:nvSpPr>
          <p:cNvPr id="33" name="Text 31"/>
          <p:cNvSpPr txBox="1"/>
          <p:nvPr/>
        </p:nvSpPr>
        <p:spPr>
          <a:xfrm>
            <a:off x="6858000" y="5943600"/>
            <a:ext cx="4754880" cy="411480"/>
          </a:xfrm>
          <a:prstGeom prst="rect">
            <a:avLst/>
          </a:prstGeom>
          <a:noFill/>
          <a:ln/>
        </p:spPr>
        <p:txBody>
          <a:bodyPr wrap="square" lIns="0" tIns="0" rIns="0" bIns="0" rtlCol="0" anchor="t"/>
          <a:lstStyle/>
          <a:p>
            <a:pPr indent="0" marL="0">
              <a:buNone/>
            </a:pPr>
            <a:r>
              <a:rPr lang="en-US" sz="1100" i="1" dirty="0">
                <a:solidFill>
                  <a:schemeClr val="accent3"/>
                </a:solidFill>
              </a:rPr>
              <a:t>A rating covers labor, ethics and environmental management. Emissions data feeds Scope 3. Two asks, never confused.</a:t>
            </a:r>
            <a:endParaRPr lang="en-US" sz="1100" dirty="0"/>
          </a:p>
        </p:txBody>
      </p:sp>
      <p:sp>
        <p:nvSpPr>
          <p:cNvPr id="34" name="Text 3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3; GHG Protocol Scope 3 Cat. 1; EcoVadis Vitals guide</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 ask what's blocking each supplier, then remove that barrier</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6"/>
          </a:solidFill>
          <a:ln/>
        </p:spPr>
      </p:sp>
      <p:sp>
        <p:nvSpPr>
          <p:cNvPr id="9" name="Text 7"/>
          <p:cNvSpPr txBox="1"/>
          <p:nvPr/>
        </p:nvSpPr>
        <p:spPr>
          <a:xfrm>
            <a:off x="548640" y="1417320"/>
            <a:ext cx="3840480" cy="320040"/>
          </a:xfrm>
          <a:prstGeom prst="rect">
            <a:avLst/>
          </a:prstGeom>
          <a:noFill/>
          <a:ln/>
        </p:spPr>
        <p:txBody>
          <a:bodyPr wrap="square" lIns="0" tIns="0" rIns="0" bIns="0" rtlCol="0" anchor="t"/>
          <a:lstStyle/>
          <a:p>
            <a:pPr indent="0" marL="0">
              <a:buNone/>
            </a:pPr>
            <a:r>
              <a:rPr lang="en-US" sz="1200" b="1" dirty="0">
                <a:solidFill>
                  <a:schemeClr val="accent3"/>
                </a:solidFill>
              </a:rPr>
              <a:t>Barrier found by the readiness request</a:t>
            </a:r>
            <a:endParaRPr lang="en-US" sz="1200" dirty="0"/>
          </a:p>
        </p:txBody>
      </p:sp>
      <p:sp>
        <p:nvSpPr>
          <p:cNvPr id="10" name="Text 8"/>
          <p:cNvSpPr txBox="1"/>
          <p:nvPr/>
        </p:nvSpPr>
        <p:spPr>
          <a:xfrm>
            <a:off x="4754880" y="1417320"/>
            <a:ext cx="5486400" cy="320040"/>
          </a:xfrm>
          <a:prstGeom prst="rect">
            <a:avLst/>
          </a:prstGeom>
          <a:noFill/>
          <a:ln/>
        </p:spPr>
        <p:txBody>
          <a:bodyPr wrap="square" lIns="0" tIns="0" rIns="0" bIns="0" rtlCol="0" anchor="t"/>
          <a:lstStyle/>
          <a:p>
            <a:pPr indent="0" marL="0">
              <a:buNone/>
            </a:pPr>
            <a:r>
              <a:rPr lang="en-US" sz="1200" b="1" dirty="0">
                <a:solidFill>
                  <a:schemeClr val="accent3"/>
                </a:solidFill>
              </a:rPr>
              <a:t>Merit's help (from a capped fund)</a:t>
            </a:r>
            <a:endParaRPr lang="en-US" sz="1200" dirty="0"/>
          </a:p>
        </p:txBody>
      </p:sp>
      <p:sp>
        <p:nvSpPr>
          <p:cNvPr id="11" name="Text 9"/>
          <p:cNvSpPr/>
          <p:nvPr/>
        </p:nvSpPr>
        <p:spPr>
          <a:xfrm>
            <a:off x="548640" y="1783080"/>
            <a:ext cx="3840480" cy="457200"/>
          </a:xfrm>
          <a:prstGeom prst="roundRect">
            <a:avLst>
              <a:gd name="adj" fmla="val 16000"/>
            </a:avLst>
          </a:prstGeom>
          <a:solidFill>
            <a:schemeClr val="bg2"/>
          </a:solidFill>
          <a:ln/>
        </p:spPr>
        <p:txBody>
          <a:bodyPr wrap="square" lIns="76200" tIns="76200" rIns="76200" bIns="76200" rtlCol="0" anchor="ctr"/>
          <a:lstStyle/>
          <a:p>
            <a:pPr indent="0" marL="0">
              <a:buNone/>
            </a:pPr>
            <a:r>
              <a:rPr lang="en-US" sz="1400" dirty="0">
                <a:solidFill>
                  <a:schemeClr val="tx1"/>
                </a:solidFill>
              </a:rPr>
              <a:t>Reports already exist</a:t>
            </a:r>
            <a:endParaRPr lang="en-US" sz="1400" dirty="0"/>
          </a:p>
        </p:txBody>
      </p:sp>
      <p:sp>
        <p:nvSpPr>
          <p:cNvPr id="12" name="Shape 10"/>
          <p:cNvSpPr/>
          <p:nvPr/>
        </p:nvSpPr>
        <p:spPr>
          <a:xfrm>
            <a:off x="4434840" y="1901952"/>
            <a:ext cx="274320" cy="219456"/>
          </a:xfrm>
          <a:prstGeom prst="rightArrow">
            <a:avLst/>
          </a:prstGeom>
          <a:solidFill>
            <a:schemeClr val="accent3"/>
          </a:solidFill>
          <a:ln/>
        </p:spPr>
      </p:sp>
      <p:sp>
        <p:nvSpPr>
          <p:cNvPr id="13" name="Text 11"/>
          <p:cNvSpPr/>
          <p:nvPr/>
        </p:nvSpPr>
        <p:spPr>
          <a:xfrm>
            <a:off x="4754880" y="1783080"/>
            <a:ext cx="6858000" cy="457200"/>
          </a:xfrm>
          <a:prstGeom prst="roundRect">
            <a:avLst>
              <a:gd name="adj" fmla="val 16000"/>
            </a:avLst>
          </a:prstGeom>
          <a:solidFill>
            <a:schemeClr val="accent1"/>
          </a:solidFill>
          <a:ln/>
        </p:spPr>
        <p:txBody>
          <a:bodyPr wrap="square" lIns="76200" tIns="76200" rIns="76200" bIns="76200" rtlCol="0" anchor="ctr"/>
          <a:lstStyle/>
          <a:p>
            <a:pPr indent="0" marL="0">
              <a:buNone/>
            </a:pPr>
            <a:r>
              <a:rPr lang="en-US" sz="1400" b="1" dirty="0">
                <a:solidFill>
                  <a:schemeClr val="bg1"/>
                </a:solidFill>
              </a:rPr>
              <a:t>Permission to share + desk review</a:t>
            </a:r>
            <a:endParaRPr lang="en-US" sz="1400" dirty="0"/>
          </a:p>
        </p:txBody>
      </p:sp>
      <p:sp>
        <p:nvSpPr>
          <p:cNvPr id="14" name="Text 12"/>
          <p:cNvSpPr/>
          <p:nvPr/>
        </p:nvSpPr>
        <p:spPr>
          <a:xfrm>
            <a:off x="548640" y="2331720"/>
            <a:ext cx="3840480" cy="457200"/>
          </a:xfrm>
          <a:prstGeom prst="roundRect">
            <a:avLst>
              <a:gd name="adj" fmla="val 16000"/>
            </a:avLst>
          </a:prstGeom>
          <a:solidFill>
            <a:schemeClr val="bg2"/>
          </a:solidFill>
          <a:ln/>
        </p:spPr>
        <p:txBody>
          <a:bodyPr wrap="square" lIns="76200" tIns="76200" rIns="76200" bIns="76200" rtlCol="0" anchor="ctr"/>
          <a:lstStyle/>
          <a:p>
            <a:pPr indent="0" marL="0">
              <a:buNone/>
            </a:pPr>
            <a:r>
              <a:rPr lang="en-US" sz="1400" dirty="0">
                <a:solidFill>
                  <a:schemeClr val="tx1"/>
                </a:solidFill>
              </a:rPr>
              <a:t>Records exist, format unclear</a:t>
            </a:r>
            <a:endParaRPr lang="en-US" sz="1400" dirty="0"/>
          </a:p>
        </p:txBody>
      </p:sp>
      <p:sp>
        <p:nvSpPr>
          <p:cNvPr id="15" name="Shape 13"/>
          <p:cNvSpPr/>
          <p:nvPr/>
        </p:nvSpPr>
        <p:spPr>
          <a:xfrm>
            <a:off x="4434840" y="2450592"/>
            <a:ext cx="274320" cy="219456"/>
          </a:xfrm>
          <a:prstGeom prst="rightArrow">
            <a:avLst/>
          </a:prstGeom>
          <a:solidFill>
            <a:schemeClr val="accent3"/>
          </a:solidFill>
          <a:ln/>
        </p:spPr>
      </p:sp>
      <p:sp>
        <p:nvSpPr>
          <p:cNvPr id="16" name="Text 14"/>
          <p:cNvSpPr/>
          <p:nvPr/>
        </p:nvSpPr>
        <p:spPr>
          <a:xfrm>
            <a:off x="4754880" y="2331720"/>
            <a:ext cx="6858000" cy="457200"/>
          </a:xfrm>
          <a:prstGeom prst="roundRect">
            <a:avLst>
              <a:gd name="adj" fmla="val 16000"/>
            </a:avLst>
          </a:prstGeom>
          <a:solidFill>
            <a:schemeClr val="accent1"/>
          </a:solidFill>
          <a:ln/>
        </p:spPr>
        <p:txBody>
          <a:bodyPr wrap="square" lIns="76200" tIns="76200" rIns="76200" bIns="76200" rtlCol="0" anchor="ctr"/>
          <a:lstStyle/>
          <a:p>
            <a:pPr indent="0" marL="0">
              <a:buNone/>
            </a:pPr>
            <a:r>
              <a:rPr lang="en-US" sz="1400" b="1" dirty="0">
                <a:solidFill>
                  <a:schemeClr val="bg1"/>
                </a:solidFill>
              </a:rPr>
              <a:t>Bilingual templates and instructions</a:t>
            </a:r>
            <a:endParaRPr lang="en-US" sz="1400" dirty="0"/>
          </a:p>
        </p:txBody>
      </p:sp>
      <p:sp>
        <p:nvSpPr>
          <p:cNvPr id="17" name="Text 15"/>
          <p:cNvSpPr/>
          <p:nvPr/>
        </p:nvSpPr>
        <p:spPr>
          <a:xfrm>
            <a:off x="548640" y="2880360"/>
            <a:ext cx="3840480" cy="457200"/>
          </a:xfrm>
          <a:prstGeom prst="roundRect">
            <a:avLst>
              <a:gd name="adj" fmla="val 16000"/>
            </a:avLst>
          </a:prstGeom>
          <a:solidFill>
            <a:schemeClr val="bg2"/>
          </a:solidFill>
          <a:ln/>
        </p:spPr>
        <p:txBody>
          <a:bodyPr wrap="square" lIns="76200" tIns="76200" rIns="76200" bIns="76200" rtlCol="0" anchor="ctr"/>
          <a:lstStyle/>
          <a:p>
            <a:pPr indent="0" marL="0">
              <a:buNone/>
            </a:pPr>
            <a:r>
              <a:rPr lang="en-US" sz="1400" dirty="0">
                <a:solidFill>
                  <a:schemeClr val="tx1"/>
                </a:solidFill>
              </a:rPr>
              <a:t>Calculations are hard</a:t>
            </a:r>
            <a:endParaRPr lang="en-US" sz="1400" dirty="0"/>
          </a:p>
        </p:txBody>
      </p:sp>
      <p:sp>
        <p:nvSpPr>
          <p:cNvPr id="18" name="Shape 16"/>
          <p:cNvSpPr/>
          <p:nvPr/>
        </p:nvSpPr>
        <p:spPr>
          <a:xfrm>
            <a:off x="4434840" y="2999232"/>
            <a:ext cx="274320" cy="219456"/>
          </a:xfrm>
          <a:prstGeom prst="rightArrow">
            <a:avLst/>
          </a:prstGeom>
          <a:solidFill>
            <a:schemeClr val="accent3"/>
          </a:solidFill>
          <a:ln/>
        </p:spPr>
      </p:sp>
      <p:sp>
        <p:nvSpPr>
          <p:cNvPr id="19" name="Text 17"/>
          <p:cNvSpPr/>
          <p:nvPr/>
        </p:nvSpPr>
        <p:spPr>
          <a:xfrm>
            <a:off x="4754880" y="2880360"/>
            <a:ext cx="6858000" cy="457200"/>
          </a:xfrm>
          <a:prstGeom prst="roundRect">
            <a:avLst>
              <a:gd name="adj" fmla="val 16000"/>
            </a:avLst>
          </a:prstGeom>
          <a:solidFill>
            <a:schemeClr val="accent1"/>
          </a:solidFill>
          <a:ln/>
        </p:spPr>
        <p:txBody>
          <a:bodyPr wrap="square" lIns="76200" tIns="76200" rIns="76200" bIns="76200" rtlCol="0" anchor="ctr"/>
          <a:lstStyle/>
          <a:p>
            <a:pPr indent="0" marL="0">
              <a:buNone/>
            </a:pPr>
            <a:r>
              <a:rPr lang="en-US" sz="1400" b="1" dirty="0">
                <a:solidFill>
                  <a:schemeClr val="bg1"/>
                </a:solidFill>
              </a:rPr>
              <a:t>Time-boxed hours from an accredited specialist</a:t>
            </a:r>
            <a:endParaRPr lang="en-US" sz="1400" dirty="0"/>
          </a:p>
        </p:txBody>
      </p:sp>
      <p:sp>
        <p:nvSpPr>
          <p:cNvPr id="20" name="Text 18"/>
          <p:cNvSpPr/>
          <p:nvPr/>
        </p:nvSpPr>
        <p:spPr>
          <a:xfrm>
            <a:off x="548640" y="3429000"/>
            <a:ext cx="3840480" cy="457200"/>
          </a:xfrm>
          <a:prstGeom prst="roundRect">
            <a:avLst>
              <a:gd name="adj" fmla="val 16000"/>
            </a:avLst>
          </a:prstGeom>
          <a:solidFill>
            <a:schemeClr val="bg2"/>
          </a:solidFill>
          <a:ln/>
        </p:spPr>
        <p:txBody>
          <a:bodyPr wrap="square" lIns="76200" tIns="76200" rIns="76200" bIns="76200" rtlCol="0" anchor="ctr"/>
          <a:lstStyle/>
          <a:p>
            <a:pPr indent="0" marL="0">
              <a:buNone/>
            </a:pPr>
            <a:r>
              <a:rPr lang="en-US" sz="1400" dirty="0">
                <a:solidFill>
                  <a:schemeClr val="tx1"/>
                </a:solidFill>
              </a:rPr>
              <a:t>Big gaps at a critical supplier</a:t>
            </a:r>
            <a:endParaRPr lang="en-US" sz="1400" dirty="0"/>
          </a:p>
        </p:txBody>
      </p:sp>
      <p:sp>
        <p:nvSpPr>
          <p:cNvPr id="21" name="Shape 19"/>
          <p:cNvSpPr/>
          <p:nvPr/>
        </p:nvSpPr>
        <p:spPr>
          <a:xfrm>
            <a:off x="4434840" y="3547872"/>
            <a:ext cx="274320" cy="219456"/>
          </a:xfrm>
          <a:prstGeom prst="rightArrow">
            <a:avLst/>
          </a:prstGeom>
          <a:solidFill>
            <a:schemeClr val="accent3"/>
          </a:solidFill>
          <a:ln/>
        </p:spPr>
      </p:sp>
      <p:sp>
        <p:nvSpPr>
          <p:cNvPr id="22" name="Text 20"/>
          <p:cNvSpPr/>
          <p:nvPr/>
        </p:nvSpPr>
        <p:spPr>
          <a:xfrm>
            <a:off x="4754880" y="3429000"/>
            <a:ext cx="6858000" cy="457200"/>
          </a:xfrm>
          <a:prstGeom prst="roundRect">
            <a:avLst>
              <a:gd name="adj" fmla="val 16000"/>
            </a:avLst>
          </a:prstGeom>
          <a:solidFill>
            <a:schemeClr val="accent1"/>
          </a:solidFill>
          <a:ln/>
        </p:spPr>
        <p:txBody>
          <a:bodyPr wrap="square" lIns="76200" tIns="76200" rIns="76200" bIns="76200" rtlCol="0" anchor="ctr"/>
          <a:lstStyle/>
          <a:p>
            <a:pPr indent="0" marL="0">
              <a:buNone/>
            </a:pPr>
            <a:r>
              <a:rPr lang="en-US" sz="1400" b="1" dirty="0">
                <a:solidFill>
                  <a:schemeClr val="bg1"/>
                </a:solidFill>
              </a:rPr>
              <a:t>Named Merit relationship owner + targeted visit</a:t>
            </a:r>
            <a:endParaRPr lang="en-US" sz="1400" dirty="0"/>
          </a:p>
        </p:txBody>
      </p:sp>
      <p:sp>
        <p:nvSpPr>
          <p:cNvPr id="23" name="Shape 21"/>
          <p:cNvSpPr/>
          <p:nvPr/>
        </p:nvSpPr>
        <p:spPr>
          <a:xfrm>
            <a:off x="548640" y="4160520"/>
            <a:ext cx="2651760" cy="1965960"/>
          </a:xfrm>
          <a:prstGeom prst="roundRect">
            <a:avLst>
              <a:gd name="adj" fmla="val 3721"/>
            </a:avLst>
          </a:prstGeom>
          <a:solidFill>
            <a:schemeClr val="bg1"/>
          </a:solidFill>
          <a:ln w="12700">
            <a:solidFill>
              <a:schemeClr val="accent6"/>
            </a:solidFill>
            <a:prstDash val="solid"/>
          </a:ln>
        </p:spPr>
      </p:sp>
      <p:sp>
        <p:nvSpPr>
          <p:cNvPr id="24" name="Shape 22"/>
          <p:cNvSpPr/>
          <p:nvPr/>
        </p:nvSpPr>
        <p:spPr>
          <a:xfrm>
            <a:off x="777240" y="4343400"/>
            <a:ext cx="640080" cy="640080"/>
          </a:xfrm>
          <a:prstGeom prst="ellipse">
            <a:avLst/>
          </a:prstGeom>
          <a:solidFill>
            <a:schemeClr val="accent1"/>
          </a:solidFill>
          <a:ln/>
        </p:spPr>
      </p:sp>
      <p:pic>
        <p:nvPicPr>
          <p:cNvPr id="25" name="Image 0" descr="preencoded.png">    </p:cNvPr>
          <p:cNvPicPr>
            <a:picLocks noChangeAspect="1"/>
          </p:cNvPicPr>
          <p:nvPr/>
        </p:nvPicPr>
        <p:blipFill>
          <a:blip r:embed="rId1"/>
          <a:stretch>
            <a:fillRect/>
          </a:stretch>
        </p:blipFill>
        <p:spPr>
          <a:xfrm>
            <a:off x="918058" y="4484218"/>
            <a:ext cx="358445" cy="358445"/>
          </a:xfrm>
          <a:prstGeom prst="rect">
            <a:avLst/>
          </a:prstGeom>
        </p:spPr>
      </p:pic>
      <p:sp>
        <p:nvSpPr>
          <p:cNvPr id="26" name="Text 23"/>
          <p:cNvSpPr txBox="1"/>
          <p:nvPr/>
        </p:nvSpPr>
        <p:spPr>
          <a:xfrm>
            <a:off x="777240" y="5074920"/>
            <a:ext cx="2240280" cy="365760"/>
          </a:xfrm>
          <a:prstGeom prst="rect">
            <a:avLst/>
          </a:prstGeom>
          <a:noFill/>
          <a:ln/>
        </p:spPr>
        <p:txBody>
          <a:bodyPr wrap="square" lIns="0" tIns="0" rIns="0" bIns="0" rtlCol="0" anchor="t"/>
          <a:lstStyle/>
          <a:p>
            <a:pPr indent="0" marL="0">
              <a:buNone/>
            </a:pPr>
            <a:r>
              <a:rPr lang="en-US" sz="1500" b="1" dirty="0">
                <a:solidFill>
                  <a:schemeClr val="tx2"/>
                </a:solidFill>
              </a:rPr>
              <a:t>Merit pays the assessment</a:t>
            </a:r>
            <a:endParaRPr lang="en-US" sz="1500" dirty="0"/>
          </a:p>
        </p:txBody>
      </p:sp>
      <p:sp>
        <p:nvSpPr>
          <p:cNvPr id="27" name="Text 24"/>
          <p:cNvSpPr txBox="1"/>
          <p:nvPr/>
        </p:nvSpPr>
        <p:spPr>
          <a:xfrm>
            <a:off x="777240" y="5440680"/>
            <a:ext cx="2240280" cy="594360"/>
          </a:xfrm>
          <a:prstGeom prst="rect">
            <a:avLst/>
          </a:prstGeom>
          <a:noFill/>
          <a:ln/>
        </p:spPr>
        <p:txBody>
          <a:bodyPr wrap="square" lIns="0" tIns="0" rIns="0" bIns="0" rtlCol="0" anchor="t"/>
          <a:lstStyle/>
          <a:p>
            <a:pPr indent="0" marL="0">
              <a:buNone/>
            </a:pPr>
            <a:r>
              <a:rPr lang="en-US" sz="1300" dirty="0">
                <a:solidFill>
                  <a:schemeClr val="tx1"/>
                </a:solidFill>
              </a:rPr>
              <a:t>Tier 2 invitation and subscription covered</a:t>
            </a:r>
            <a:endParaRPr lang="en-US" sz="1300" dirty="0"/>
          </a:p>
        </p:txBody>
      </p:sp>
      <p:sp>
        <p:nvSpPr>
          <p:cNvPr id="28" name="Shape 25"/>
          <p:cNvSpPr/>
          <p:nvPr/>
        </p:nvSpPr>
        <p:spPr>
          <a:xfrm>
            <a:off x="3364992" y="4160520"/>
            <a:ext cx="2651760" cy="1965960"/>
          </a:xfrm>
          <a:prstGeom prst="roundRect">
            <a:avLst>
              <a:gd name="adj" fmla="val 3721"/>
            </a:avLst>
          </a:prstGeom>
          <a:solidFill>
            <a:schemeClr val="bg1"/>
          </a:solidFill>
          <a:ln w="12700">
            <a:solidFill>
              <a:schemeClr val="accent6"/>
            </a:solidFill>
            <a:prstDash val="solid"/>
          </a:ln>
        </p:spPr>
      </p:sp>
      <p:sp>
        <p:nvSpPr>
          <p:cNvPr id="29" name="Shape 26"/>
          <p:cNvSpPr/>
          <p:nvPr/>
        </p:nvSpPr>
        <p:spPr>
          <a:xfrm>
            <a:off x="3593592" y="4343400"/>
            <a:ext cx="640080" cy="640080"/>
          </a:xfrm>
          <a:prstGeom prst="ellipse">
            <a:avLst/>
          </a:prstGeom>
          <a:solidFill>
            <a:schemeClr val="accent1"/>
          </a:solidFill>
          <a:ln/>
        </p:spPr>
      </p:sp>
      <p:pic>
        <p:nvPicPr>
          <p:cNvPr id="30" name="Image 1" descr="preencoded.png">    </p:cNvPr>
          <p:cNvPicPr>
            <a:picLocks noChangeAspect="1"/>
          </p:cNvPicPr>
          <p:nvPr/>
        </p:nvPicPr>
        <p:blipFill>
          <a:blip r:embed="rId2"/>
          <a:stretch>
            <a:fillRect/>
          </a:stretch>
        </p:blipFill>
        <p:spPr>
          <a:xfrm>
            <a:off x="3734410" y="4484218"/>
            <a:ext cx="358445" cy="358445"/>
          </a:xfrm>
          <a:prstGeom prst="rect">
            <a:avLst/>
          </a:prstGeom>
        </p:spPr>
      </p:pic>
      <p:sp>
        <p:nvSpPr>
          <p:cNvPr id="31" name="Text 27"/>
          <p:cNvSpPr txBox="1"/>
          <p:nvPr/>
        </p:nvSpPr>
        <p:spPr>
          <a:xfrm>
            <a:off x="3593592" y="5074920"/>
            <a:ext cx="2240280" cy="365760"/>
          </a:xfrm>
          <a:prstGeom prst="rect">
            <a:avLst/>
          </a:prstGeom>
          <a:noFill/>
          <a:ln/>
        </p:spPr>
        <p:txBody>
          <a:bodyPr wrap="square" lIns="0" tIns="0" rIns="0" bIns="0" rtlCol="0" anchor="t"/>
          <a:lstStyle/>
          <a:p>
            <a:pPr indent="0" marL="0">
              <a:buNone/>
            </a:pPr>
            <a:r>
              <a:rPr lang="en-US" sz="1500" b="1" dirty="0">
                <a:solidFill>
                  <a:schemeClr val="tx2"/>
                </a:solidFill>
              </a:rPr>
              <a:t>One scorecard for all</a:t>
            </a:r>
            <a:endParaRPr lang="en-US" sz="1500" dirty="0"/>
          </a:p>
        </p:txBody>
      </p:sp>
      <p:sp>
        <p:nvSpPr>
          <p:cNvPr id="32" name="Text 28"/>
          <p:cNvSpPr txBox="1"/>
          <p:nvPr/>
        </p:nvSpPr>
        <p:spPr>
          <a:xfrm>
            <a:off x="3593592" y="5440680"/>
            <a:ext cx="2240280" cy="594360"/>
          </a:xfrm>
          <a:prstGeom prst="rect">
            <a:avLst/>
          </a:prstGeom>
          <a:noFill/>
          <a:ln/>
        </p:spPr>
        <p:txBody>
          <a:bodyPr wrap="square" lIns="0" tIns="0" rIns="0" bIns="0" rtlCol="0" anchor="t"/>
          <a:lstStyle/>
          <a:p>
            <a:pPr indent="0" marL="0">
              <a:buNone/>
            </a:pPr>
            <a:r>
              <a:rPr lang="en-US" sz="1300" dirty="0">
                <a:solidFill>
                  <a:schemeClr val="tx1"/>
                </a:solidFill>
              </a:rPr>
              <a:t>Cuts the 3–5 audits a year they already face</a:t>
            </a:r>
            <a:endParaRPr lang="en-US" sz="1300" dirty="0"/>
          </a:p>
        </p:txBody>
      </p:sp>
      <p:sp>
        <p:nvSpPr>
          <p:cNvPr id="33" name="Shape 29"/>
          <p:cNvSpPr/>
          <p:nvPr/>
        </p:nvSpPr>
        <p:spPr>
          <a:xfrm>
            <a:off x="6181344" y="4160520"/>
            <a:ext cx="2651760" cy="1965960"/>
          </a:xfrm>
          <a:prstGeom prst="roundRect">
            <a:avLst>
              <a:gd name="adj" fmla="val 3721"/>
            </a:avLst>
          </a:prstGeom>
          <a:solidFill>
            <a:schemeClr val="bg1"/>
          </a:solidFill>
          <a:ln w="12700">
            <a:solidFill>
              <a:schemeClr val="accent6"/>
            </a:solidFill>
            <a:prstDash val="solid"/>
          </a:ln>
        </p:spPr>
      </p:sp>
      <p:sp>
        <p:nvSpPr>
          <p:cNvPr id="34" name="Shape 30"/>
          <p:cNvSpPr/>
          <p:nvPr/>
        </p:nvSpPr>
        <p:spPr>
          <a:xfrm>
            <a:off x="6409944" y="4343400"/>
            <a:ext cx="640080" cy="640080"/>
          </a:xfrm>
          <a:prstGeom prst="ellipse">
            <a:avLst/>
          </a:prstGeom>
          <a:solidFill>
            <a:schemeClr val="accent1"/>
          </a:solidFill>
          <a:ln/>
        </p:spPr>
      </p:sp>
      <p:pic>
        <p:nvPicPr>
          <p:cNvPr id="35" name="Image 2" descr="preencoded.png">    </p:cNvPr>
          <p:cNvPicPr>
            <a:picLocks noChangeAspect="1"/>
          </p:cNvPicPr>
          <p:nvPr/>
        </p:nvPicPr>
        <p:blipFill>
          <a:blip r:embed="rId3"/>
          <a:stretch>
            <a:fillRect/>
          </a:stretch>
        </p:blipFill>
        <p:spPr>
          <a:xfrm>
            <a:off x="6550762" y="4484218"/>
            <a:ext cx="358445" cy="358445"/>
          </a:xfrm>
          <a:prstGeom prst="rect">
            <a:avLst/>
          </a:prstGeom>
        </p:spPr>
      </p:pic>
      <p:sp>
        <p:nvSpPr>
          <p:cNvPr id="36" name="Text 31"/>
          <p:cNvSpPr txBox="1"/>
          <p:nvPr/>
        </p:nvSpPr>
        <p:spPr>
          <a:xfrm>
            <a:off x="6409944" y="5074920"/>
            <a:ext cx="2240280" cy="365760"/>
          </a:xfrm>
          <a:prstGeom prst="rect">
            <a:avLst/>
          </a:prstGeom>
          <a:noFill/>
          <a:ln/>
        </p:spPr>
        <p:txBody>
          <a:bodyPr wrap="square" lIns="0" tIns="0" rIns="0" bIns="0" rtlCol="0" anchor="t"/>
          <a:lstStyle/>
          <a:p>
            <a:pPr indent="0" marL="0">
              <a:buNone/>
            </a:pPr>
            <a:r>
              <a:rPr lang="en-US" sz="1500" b="1" dirty="0">
                <a:solidFill>
                  <a:schemeClr val="tx2"/>
                </a:solidFill>
              </a:rPr>
              <a:t>Earlier payment</a:t>
            </a:r>
            <a:endParaRPr lang="en-US" sz="1500" dirty="0"/>
          </a:p>
        </p:txBody>
      </p:sp>
      <p:sp>
        <p:nvSpPr>
          <p:cNvPr id="37" name="Text 32"/>
          <p:cNvSpPr txBox="1"/>
          <p:nvPr/>
        </p:nvSpPr>
        <p:spPr>
          <a:xfrm>
            <a:off x="6409944" y="5440680"/>
            <a:ext cx="2240280" cy="594360"/>
          </a:xfrm>
          <a:prstGeom prst="rect">
            <a:avLst/>
          </a:prstGeom>
          <a:noFill/>
          <a:ln/>
        </p:spPr>
        <p:txBody>
          <a:bodyPr wrap="square" lIns="0" tIns="0" rIns="0" bIns="0" rtlCol="0" anchor="t"/>
          <a:lstStyle/>
          <a:p>
            <a:pPr indent="0" marL="0">
              <a:buNone/>
            </a:pPr>
            <a:r>
              <a:rPr lang="en-US" sz="1300" dirty="0">
                <a:solidFill>
                  <a:schemeClr val="tx1"/>
                </a:solidFill>
              </a:rPr>
              <a:t>Fee-free NAFIN reverse factoring for completers</a:t>
            </a:r>
            <a:endParaRPr lang="en-US" sz="1300" dirty="0"/>
          </a:p>
        </p:txBody>
      </p:sp>
      <p:sp>
        <p:nvSpPr>
          <p:cNvPr id="38" name="Shape 33"/>
          <p:cNvSpPr/>
          <p:nvPr/>
        </p:nvSpPr>
        <p:spPr>
          <a:xfrm>
            <a:off x="8997696" y="4160520"/>
            <a:ext cx="2651760" cy="1965960"/>
          </a:xfrm>
          <a:prstGeom prst="roundRect">
            <a:avLst>
              <a:gd name="adj" fmla="val 3721"/>
            </a:avLst>
          </a:prstGeom>
          <a:solidFill>
            <a:schemeClr val="bg1"/>
          </a:solidFill>
          <a:ln w="12700">
            <a:solidFill>
              <a:schemeClr val="accent6"/>
            </a:solidFill>
            <a:prstDash val="solid"/>
          </a:ln>
        </p:spPr>
      </p:sp>
      <p:sp>
        <p:nvSpPr>
          <p:cNvPr id="39" name="Shape 34"/>
          <p:cNvSpPr/>
          <p:nvPr/>
        </p:nvSpPr>
        <p:spPr>
          <a:xfrm>
            <a:off x="9226296" y="4343400"/>
            <a:ext cx="640080" cy="640080"/>
          </a:xfrm>
          <a:prstGeom prst="ellipse">
            <a:avLst/>
          </a:prstGeom>
          <a:solidFill>
            <a:schemeClr val="accent1"/>
          </a:solidFill>
          <a:ln/>
        </p:spPr>
      </p:sp>
      <p:pic>
        <p:nvPicPr>
          <p:cNvPr id="40" name="Image 3" descr="preencoded.png">    </p:cNvPr>
          <p:cNvPicPr>
            <a:picLocks noChangeAspect="1"/>
          </p:cNvPicPr>
          <p:nvPr/>
        </p:nvPicPr>
        <p:blipFill>
          <a:blip r:embed="rId4"/>
          <a:stretch>
            <a:fillRect/>
          </a:stretch>
        </p:blipFill>
        <p:spPr>
          <a:xfrm>
            <a:off x="9367114" y="4484218"/>
            <a:ext cx="358445" cy="358445"/>
          </a:xfrm>
          <a:prstGeom prst="rect">
            <a:avLst/>
          </a:prstGeom>
        </p:spPr>
      </p:pic>
      <p:sp>
        <p:nvSpPr>
          <p:cNvPr id="41" name="Text 35"/>
          <p:cNvSpPr txBox="1"/>
          <p:nvPr/>
        </p:nvSpPr>
        <p:spPr>
          <a:xfrm>
            <a:off x="9226296" y="5074920"/>
            <a:ext cx="2240280" cy="365760"/>
          </a:xfrm>
          <a:prstGeom prst="rect">
            <a:avLst/>
          </a:prstGeom>
          <a:noFill/>
          <a:ln/>
        </p:spPr>
        <p:txBody>
          <a:bodyPr wrap="square" lIns="0" tIns="0" rIns="0" bIns="0" rtlCol="0" anchor="t"/>
          <a:lstStyle/>
          <a:p>
            <a:pPr indent="0" marL="0">
              <a:buNone/>
            </a:pPr>
            <a:r>
              <a:rPr lang="en-US" sz="1500" b="1" dirty="0">
                <a:solidFill>
                  <a:schemeClr val="tx2"/>
                </a:solidFill>
              </a:rPr>
              <a:t>40-hour reform help</a:t>
            </a:r>
            <a:endParaRPr lang="en-US" sz="1500" dirty="0"/>
          </a:p>
        </p:txBody>
      </p:sp>
      <p:sp>
        <p:nvSpPr>
          <p:cNvPr id="42" name="Text 36"/>
          <p:cNvSpPr txBox="1"/>
          <p:nvPr/>
        </p:nvSpPr>
        <p:spPr>
          <a:xfrm>
            <a:off x="9226296" y="5440680"/>
            <a:ext cx="2240280" cy="594360"/>
          </a:xfrm>
          <a:prstGeom prst="rect">
            <a:avLst/>
          </a:prstGeom>
          <a:noFill/>
          <a:ln/>
        </p:spPr>
        <p:txBody>
          <a:bodyPr wrap="square" lIns="0" tIns="0" rIns="0" bIns="0" rtlCol="0" anchor="t"/>
          <a:lstStyle/>
          <a:p>
            <a:pPr indent="0" marL="0">
              <a:buNone/>
            </a:pPr>
            <a:r>
              <a:rPr lang="en-US" sz="1300" dirty="0">
                <a:solidFill>
                  <a:schemeClr val="tx1"/>
                </a:solidFill>
              </a:rPr>
              <a:t>Mexico's 48→40-hour week is their 2026 problem</a:t>
            </a:r>
            <a:endParaRPr lang="en-US" sz="1300" dirty="0"/>
          </a:p>
        </p:txBody>
      </p:sp>
      <p:sp>
        <p:nvSpPr>
          <p:cNvPr id="43" name="Text 3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CDP/HSBC 2024; WRAP 2023 audit survey; NAFIN Cadenas Productivas</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 start in Tijuana in December 2026, where Merit is strongest</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6"/>
          </a:solidFill>
          <a:ln/>
        </p:spPr>
      </p:sp>
      <p:sp>
        <p:nvSpPr>
          <p:cNvPr id="8" name="Shape 6"/>
          <p:cNvSpPr/>
          <p:nvPr/>
        </p:nvSpPr>
        <p:spPr>
          <a:xfrm>
            <a:off x="11256264" y="465201"/>
            <a:ext cx="301752" cy="54864"/>
          </a:xfrm>
          <a:prstGeom prst="rect">
            <a:avLst/>
          </a:prstGeom>
          <a:solidFill>
            <a:schemeClr val="accent6"/>
          </a:solidFill>
          <a:ln/>
        </p:spPr>
      </p:sp>
      <p:sp>
        <p:nvSpPr>
          <p:cNvPr id="9" name="Shape 7"/>
          <p:cNvSpPr/>
          <p:nvPr/>
        </p:nvSpPr>
        <p:spPr>
          <a:xfrm>
            <a:off x="1005840" y="1691640"/>
            <a:ext cx="4023360" cy="4023360"/>
          </a:xfrm>
          <a:prstGeom prst="ellipse">
            <a:avLst/>
          </a:prstGeom>
          <a:solidFill>
            <a:schemeClr val="bg2"/>
          </a:solidFill>
          <a:ln/>
        </p:spPr>
      </p:sp>
      <p:sp>
        <p:nvSpPr>
          <p:cNvPr id="10" name="Shape 8"/>
          <p:cNvSpPr/>
          <p:nvPr/>
        </p:nvSpPr>
        <p:spPr>
          <a:xfrm>
            <a:off x="2423160" y="2788920"/>
            <a:ext cx="1188720" cy="1188720"/>
          </a:xfrm>
          <a:prstGeom prst="ellipse">
            <a:avLst/>
          </a:prstGeom>
          <a:solidFill>
            <a:schemeClr val="tx2"/>
          </a:solidFill>
          <a:ln/>
        </p:spPr>
      </p:sp>
      <p:pic>
        <p:nvPicPr>
          <p:cNvPr id="11" name="Image 0" descr="preencoded.png">    </p:cNvPr>
          <p:cNvPicPr>
            <a:picLocks noChangeAspect="1"/>
          </p:cNvPicPr>
          <p:nvPr/>
        </p:nvPicPr>
        <p:blipFill>
          <a:blip r:embed="rId1"/>
          <a:stretch>
            <a:fillRect/>
          </a:stretch>
        </p:blipFill>
        <p:spPr>
          <a:xfrm>
            <a:off x="2684678" y="3050438"/>
            <a:ext cx="665683" cy="665683"/>
          </a:xfrm>
          <a:prstGeom prst="rect">
            <a:avLst/>
          </a:prstGeom>
        </p:spPr>
      </p:pic>
      <p:sp>
        <p:nvSpPr>
          <p:cNvPr id="12" name="Text 9"/>
          <p:cNvSpPr txBox="1"/>
          <p:nvPr/>
        </p:nvSpPr>
        <p:spPr>
          <a:xfrm>
            <a:off x="1828800" y="4023360"/>
            <a:ext cx="2377440" cy="548640"/>
          </a:xfrm>
          <a:prstGeom prst="rect">
            <a:avLst/>
          </a:prstGeom>
          <a:noFill/>
          <a:ln/>
        </p:spPr>
        <p:txBody>
          <a:bodyPr wrap="square" lIns="0" tIns="0" rIns="0" bIns="0" rtlCol="0" anchor="t"/>
          <a:lstStyle/>
          <a:p>
            <a:pPr algn="ctr" indent="0" marL="0">
              <a:buNone/>
            </a:pPr>
            <a:r>
              <a:rPr lang="en-US" sz="1300" b="1" dirty="0">
                <a:solidFill>
                  <a:schemeClr val="tx2"/>
                </a:solidFill>
              </a:rPr>
              <a:t>Merit Tijuana</a:t>
            </a:r>
            <a:endParaRPr lang="en-US" sz="1300" dirty="0"/>
          </a:p>
          <a:p>
            <a:pPr algn="ctr" indent="0" marL="0">
              <a:buNone/>
            </a:pPr>
            <a:r>
              <a:rPr lang="en-US" sz="1300" b="1" dirty="0">
                <a:solidFill>
                  <a:schemeClr val="tx2"/>
                </a:solidFill>
              </a:rPr>
              <a:t>2,000+ associates</a:t>
            </a:r>
            <a:endParaRPr lang="en-US" sz="1300" dirty="0"/>
          </a:p>
        </p:txBody>
      </p:sp>
      <p:sp>
        <p:nvSpPr>
          <p:cNvPr id="13" name="Shape 10"/>
          <p:cNvSpPr/>
          <p:nvPr/>
        </p:nvSpPr>
        <p:spPr>
          <a:xfrm>
            <a:off x="2880360" y="1874520"/>
            <a:ext cx="274320" cy="274320"/>
          </a:xfrm>
          <a:prstGeom prst="ellipse">
            <a:avLst/>
          </a:prstGeom>
          <a:solidFill>
            <a:schemeClr val="accent2"/>
          </a:solidFill>
          <a:ln w="19050">
            <a:solidFill>
              <a:schemeClr val="bg1"/>
            </a:solidFill>
            <a:prstDash val="solid"/>
          </a:ln>
        </p:spPr>
      </p:sp>
      <p:sp>
        <p:nvSpPr>
          <p:cNvPr id="14" name="Shape 11"/>
          <p:cNvSpPr/>
          <p:nvPr/>
        </p:nvSpPr>
        <p:spPr>
          <a:xfrm>
            <a:off x="3726180" y="2101157"/>
            <a:ext cx="274320" cy="274320"/>
          </a:xfrm>
          <a:prstGeom prst="ellipse">
            <a:avLst/>
          </a:prstGeom>
          <a:solidFill>
            <a:schemeClr val="accent2"/>
          </a:solidFill>
          <a:ln w="19050">
            <a:solidFill>
              <a:schemeClr val="bg1"/>
            </a:solidFill>
            <a:prstDash val="solid"/>
          </a:ln>
        </p:spPr>
      </p:sp>
      <p:sp>
        <p:nvSpPr>
          <p:cNvPr id="15" name="Shape 12"/>
          <p:cNvSpPr/>
          <p:nvPr/>
        </p:nvSpPr>
        <p:spPr>
          <a:xfrm>
            <a:off x="4345363" y="2720340"/>
            <a:ext cx="274320" cy="274320"/>
          </a:xfrm>
          <a:prstGeom prst="ellipse">
            <a:avLst/>
          </a:prstGeom>
          <a:solidFill>
            <a:schemeClr val="accent2"/>
          </a:solidFill>
          <a:ln w="19050">
            <a:solidFill>
              <a:schemeClr val="bg1"/>
            </a:solidFill>
            <a:prstDash val="solid"/>
          </a:ln>
        </p:spPr>
      </p:sp>
      <p:sp>
        <p:nvSpPr>
          <p:cNvPr id="16" name="Shape 13"/>
          <p:cNvSpPr/>
          <p:nvPr/>
        </p:nvSpPr>
        <p:spPr>
          <a:xfrm>
            <a:off x="4572000" y="3566160"/>
            <a:ext cx="274320" cy="274320"/>
          </a:xfrm>
          <a:prstGeom prst="ellipse">
            <a:avLst/>
          </a:prstGeom>
          <a:solidFill>
            <a:schemeClr val="accent2"/>
          </a:solidFill>
          <a:ln w="19050">
            <a:solidFill>
              <a:schemeClr val="bg1"/>
            </a:solidFill>
            <a:prstDash val="solid"/>
          </a:ln>
        </p:spPr>
      </p:sp>
      <p:sp>
        <p:nvSpPr>
          <p:cNvPr id="17" name="Shape 14"/>
          <p:cNvSpPr/>
          <p:nvPr/>
        </p:nvSpPr>
        <p:spPr>
          <a:xfrm>
            <a:off x="4345363" y="4411980"/>
            <a:ext cx="274320" cy="274320"/>
          </a:xfrm>
          <a:prstGeom prst="ellipse">
            <a:avLst/>
          </a:prstGeom>
          <a:solidFill>
            <a:schemeClr val="accent2"/>
          </a:solidFill>
          <a:ln w="19050">
            <a:solidFill>
              <a:schemeClr val="bg1"/>
            </a:solidFill>
            <a:prstDash val="solid"/>
          </a:ln>
        </p:spPr>
      </p:sp>
      <p:sp>
        <p:nvSpPr>
          <p:cNvPr id="18" name="Shape 15"/>
          <p:cNvSpPr/>
          <p:nvPr/>
        </p:nvSpPr>
        <p:spPr>
          <a:xfrm>
            <a:off x="3726180" y="5031163"/>
            <a:ext cx="274320" cy="274320"/>
          </a:xfrm>
          <a:prstGeom prst="ellipse">
            <a:avLst/>
          </a:prstGeom>
          <a:solidFill>
            <a:schemeClr val="accent2"/>
          </a:solidFill>
          <a:ln w="19050">
            <a:solidFill>
              <a:schemeClr val="bg1"/>
            </a:solidFill>
            <a:prstDash val="solid"/>
          </a:ln>
        </p:spPr>
      </p:sp>
      <p:sp>
        <p:nvSpPr>
          <p:cNvPr id="19" name="Shape 16"/>
          <p:cNvSpPr/>
          <p:nvPr/>
        </p:nvSpPr>
        <p:spPr>
          <a:xfrm>
            <a:off x="2880360" y="5257800"/>
            <a:ext cx="274320" cy="274320"/>
          </a:xfrm>
          <a:prstGeom prst="ellipse">
            <a:avLst/>
          </a:prstGeom>
          <a:solidFill>
            <a:schemeClr val="accent2"/>
          </a:solidFill>
          <a:ln w="19050">
            <a:solidFill>
              <a:schemeClr val="bg1"/>
            </a:solidFill>
            <a:prstDash val="solid"/>
          </a:ln>
        </p:spPr>
      </p:sp>
      <p:sp>
        <p:nvSpPr>
          <p:cNvPr id="20" name="Shape 17"/>
          <p:cNvSpPr/>
          <p:nvPr/>
        </p:nvSpPr>
        <p:spPr>
          <a:xfrm>
            <a:off x="2034540" y="5031163"/>
            <a:ext cx="274320" cy="274320"/>
          </a:xfrm>
          <a:prstGeom prst="ellipse">
            <a:avLst/>
          </a:prstGeom>
          <a:solidFill>
            <a:schemeClr val="accent2"/>
          </a:solidFill>
          <a:ln w="19050">
            <a:solidFill>
              <a:schemeClr val="bg1"/>
            </a:solidFill>
            <a:prstDash val="solid"/>
          </a:ln>
        </p:spPr>
      </p:sp>
      <p:sp>
        <p:nvSpPr>
          <p:cNvPr id="21" name="Shape 18"/>
          <p:cNvSpPr/>
          <p:nvPr/>
        </p:nvSpPr>
        <p:spPr>
          <a:xfrm>
            <a:off x="1415357" y="4411980"/>
            <a:ext cx="274320" cy="274320"/>
          </a:xfrm>
          <a:prstGeom prst="ellipse">
            <a:avLst/>
          </a:prstGeom>
          <a:solidFill>
            <a:schemeClr val="accent2"/>
          </a:solidFill>
          <a:ln w="19050">
            <a:solidFill>
              <a:schemeClr val="bg1"/>
            </a:solidFill>
            <a:prstDash val="solid"/>
          </a:ln>
        </p:spPr>
      </p:sp>
      <p:sp>
        <p:nvSpPr>
          <p:cNvPr id="22" name="Shape 19"/>
          <p:cNvSpPr/>
          <p:nvPr/>
        </p:nvSpPr>
        <p:spPr>
          <a:xfrm>
            <a:off x="1188720" y="3566160"/>
            <a:ext cx="274320" cy="274320"/>
          </a:xfrm>
          <a:prstGeom prst="ellipse">
            <a:avLst/>
          </a:prstGeom>
          <a:solidFill>
            <a:schemeClr val="accent2"/>
          </a:solidFill>
          <a:ln w="19050">
            <a:solidFill>
              <a:schemeClr val="bg1"/>
            </a:solidFill>
            <a:prstDash val="solid"/>
          </a:ln>
        </p:spPr>
      </p:sp>
      <p:sp>
        <p:nvSpPr>
          <p:cNvPr id="23" name="Shape 20"/>
          <p:cNvSpPr/>
          <p:nvPr/>
        </p:nvSpPr>
        <p:spPr>
          <a:xfrm>
            <a:off x="1415357" y="2720340"/>
            <a:ext cx="274320" cy="274320"/>
          </a:xfrm>
          <a:prstGeom prst="ellipse">
            <a:avLst/>
          </a:prstGeom>
          <a:solidFill>
            <a:schemeClr val="accent2"/>
          </a:solidFill>
          <a:ln w="19050">
            <a:solidFill>
              <a:schemeClr val="bg1"/>
            </a:solidFill>
            <a:prstDash val="solid"/>
          </a:ln>
        </p:spPr>
      </p:sp>
      <p:sp>
        <p:nvSpPr>
          <p:cNvPr id="24" name="Shape 21"/>
          <p:cNvSpPr/>
          <p:nvPr/>
        </p:nvSpPr>
        <p:spPr>
          <a:xfrm>
            <a:off x="2034540" y="2101157"/>
            <a:ext cx="274320" cy="274320"/>
          </a:xfrm>
          <a:prstGeom prst="ellipse">
            <a:avLst/>
          </a:prstGeom>
          <a:solidFill>
            <a:schemeClr val="accent2"/>
          </a:solidFill>
          <a:ln w="19050">
            <a:solidFill>
              <a:schemeClr val="bg1"/>
            </a:solidFill>
            <a:prstDash val="solid"/>
          </a:ln>
        </p:spPr>
      </p:sp>
      <p:sp>
        <p:nvSpPr>
          <p:cNvPr id="25" name="Text 22"/>
          <p:cNvSpPr txBox="1"/>
          <p:nvPr/>
        </p:nvSpPr>
        <p:spPr>
          <a:xfrm>
            <a:off x="822960" y="5806440"/>
            <a:ext cx="4572000" cy="320040"/>
          </a:xfrm>
          <a:prstGeom prst="rect">
            <a:avLst/>
          </a:prstGeom>
          <a:noFill/>
          <a:ln/>
        </p:spPr>
        <p:txBody>
          <a:bodyPr wrap="square" lIns="0" tIns="0" rIns="0" bIns="0" rtlCol="0" anchor="t"/>
          <a:lstStyle/>
          <a:p>
            <a:pPr indent="0" marL="0">
              <a:buNone/>
            </a:pPr>
            <a:r>
              <a:rPr lang="en-US" sz="1100" dirty="0">
                <a:solidFill>
                  <a:schemeClr val="accent3"/>
                </a:solidFill>
              </a:rPr>
              <a:t>● 12 pilot suppliers, chosen by the rule (positions illustrative)</a:t>
            </a:r>
            <a:endParaRPr lang="en-US" sz="1100" dirty="0"/>
          </a:p>
        </p:txBody>
      </p:sp>
      <p:sp>
        <p:nvSpPr>
          <p:cNvPr id="26" name="Shape 23"/>
          <p:cNvSpPr/>
          <p:nvPr/>
        </p:nvSpPr>
        <p:spPr>
          <a:xfrm>
            <a:off x="6035040" y="1691640"/>
            <a:ext cx="548640" cy="548640"/>
          </a:xfrm>
          <a:prstGeom prst="ellipse">
            <a:avLst/>
          </a:prstGeom>
          <a:solidFill>
            <a:schemeClr val="accent1"/>
          </a:solidFill>
          <a:ln/>
        </p:spPr>
      </p:sp>
      <p:pic>
        <p:nvPicPr>
          <p:cNvPr id="27" name="Image 1" descr="preencoded.png">    </p:cNvPr>
          <p:cNvPicPr>
            <a:picLocks noChangeAspect="1"/>
          </p:cNvPicPr>
          <p:nvPr/>
        </p:nvPicPr>
        <p:blipFill>
          <a:blip r:embed="rId2"/>
          <a:stretch>
            <a:fillRect/>
          </a:stretch>
        </p:blipFill>
        <p:spPr>
          <a:xfrm>
            <a:off x="6155741" y="1812341"/>
            <a:ext cx="307238" cy="307238"/>
          </a:xfrm>
          <a:prstGeom prst="rect">
            <a:avLst/>
          </a:prstGeom>
        </p:spPr>
      </p:pic>
      <p:sp>
        <p:nvSpPr>
          <p:cNvPr id="28" name="Text 24"/>
          <p:cNvSpPr txBox="1"/>
          <p:nvPr/>
        </p:nvSpPr>
        <p:spPr>
          <a:xfrm>
            <a:off x="6766560" y="1645920"/>
            <a:ext cx="4846320" cy="960120"/>
          </a:xfrm>
          <a:prstGeom prst="rect">
            <a:avLst/>
          </a:prstGeom>
          <a:noFill/>
          <a:ln/>
        </p:spPr>
        <p:txBody>
          <a:bodyPr wrap="square" lIns="0" tIns="0" rIns="0" bIns="0" rtlCol="0" anchor="t"/>
          <a:lstStyle/>
          <a:p>
            <a:pPr indent="0" marL="0">
              <a:buNone/>
            </a:pPr>
            <a:r>
              <a:rPr lang="en-US" sz="1600" b="1" dirty="0">
                <a:solidFill>
                  <a:schemeClr val="tx2"/>
                </a:solidFill>
              </a:rPr>
              <a:t>Who</a:t>
            </a:r>
            <a:endParaRPr lang="en-US" sz="1400" dirty="0"/>
          </a:p>
          <a:p>
            <a:pPr indent="0" marL="0">
              <a:buNone/>
            </a:pPr>
            <a:r>
              <a:rPr lang="en-US" sz="1400" dirty="0">
                <a:solidFill>
                  <a:schemeClr val="tx1"/>
                </a:solidFill>
              </a:rPr>
              <a:t>12 sole-source suppliers near Merit's largest plant</a:t>
            </a:r>
            <a:endParaRPr lang="en-US" sz="1400" dirty="0"/>
          </a:p>
        </p:txBody>
      </p:sp>
      <p:sp>
        <p:nvSpPr>
          <p:cNvPr id="29" name="Shape 25"/>
          <p:cNvSpPr/>
          <p:nvPr/>
        </p:nvSpPr>
        <p:spPr>
          <a:xfrm>
            <a:off x="6035040" y="2788920"/>
            <a:ext cx="548640" cy="548640"/>
          </a:xfrm>
          <a:prstGeom prst="ellipse">
            <a:avLst/>
          </a:prstGeom>
          <a:solidFill>
            <a:schemeClr val="accent1"/>
          </a:solidFill>
          <a:ln/>
        </p:spPr>
      </p:sp>
      <p:pic>
        <p:nvPicPr>
          <p:cNvPr id="30" name="Image 2" descr="preencoded.png">    </p:cNvPr>
          <p:cNvPicPr>
            <a:picLocks noChangeAspect="1"/>
          </p:cNvPicPr>
          <p:nvPr/>
        </p:nvPicPr>
        <p:blipFill>
          <a:blip r:embed="rId3"/>
          <a:stretch>
            <a:fillRect/>
          </a:stretch>
        </p:blipFill>
        <p:spPr>
          <a:xfrm>
            <a:off x="6155741" y="2909621"/>
            <a:ext cx="307238" cy="307238"/>
          </a:xfrm>
          <a:prstGeom prst="rect">
            <a:avLst/>
          </a:prstGeom>
        </p:spPr>
      </p:pic>
      <p:sp>
        <p:nvSpPr>
          <p:cNvPr id="31" name="Text 26"/>
          <p:cNvSpPr txBox="1"/>
          <p:nvPr/>
        </p:nvSpPr>
        <p:spPr>
          <a:xfrm>
            <a:off x="6766560" y="2743200"/>
            <a:ext cx="4846320" cy="960120"/>
          </a:xfrm>
          <a:prstGeom prst="rect">
            <a:avLst/>
          </a:prstGeom>
          <a:noFill/>
          <a:ln/>
        </p:spPr>
        <p:txBody>
          <a:bodyPr wrap="square" lIns="0" tIns="0" rIns="0" bIns="0" rtlCol="0" anchor="t"/>
          <a:lstStyle/>
          <a:p>
            <a:pPr indent="0" marL="0">
              <a:buNone/>
            </a:pPr>
            <a:r>
              <a:rPr lang="en-US" sz="1600" b="1" dirty="0">
                <a:solidFill>
                  <a:schemeClr val="tx2"/>
                </a:solidFill>
              </a:rPr>
              <a:t>Delivery</a:t>
            </a:r>
            <a:endParaRPr lang="en-US" sz="1400" dirty="0"/>
          </a:p>
          <a:p>
            <a:pPr indent="0" marL="0">
              <a:buNone/>
            </a:pPr>
            <a:r>
              <a:rPr lang="en-US" sz="1400" dirty="0">
                <a:solidFill>
                  <a:schemeClr val="tx1"/>
                </a:solidFill>
              </a:rPr>
              <a:t>A coordinator in Procurement, plus accredited consultants for specialist hours</a:t>
            </a:r>
            <a:endParaRPr lang="en-US" sz="1400" dirty="0"/>
          </a:p>
        </p:txBody>
      </p:sp>
      <p:sp>
        <p:nvSpPr>
          <p:cNvPr id="32" name="Shape 27"/>
          <p:cNvSpPr/>
          <p:nvPr/>
        </p:nvSpPr>
        <p:spPr>
          <a:xfrm>
            <a:off x="6035040" y="3886200"/>
            <a:ext cx="548640" cy="548640"/>
          </a:xfrm>
          <a:prstGeom prst="ellipse">
            <a:avLst/>
          </a:prstGeom>
          <a:solidFill>
            <a:schemeClr val="accent1"/>
          </a:solidFill>
          <a:ln/>
        </p:spPr>
      </p:sp>
      <p:pic>
        <p:nvPicPr>
          <p:cNvPr id="33" name="Image 3" descr="preencoded.png">    </p:cNvPr>
          <p:cNvPicPr>
            <a:picLocks noChangeAspect="1"/>
          </p:cNvPicPr>
          <p:nvPr/>
        </p:nvPicPr>
        <p:blipFill>
          <a:blip r:embed="rId4"/>
          <a:stretch>
            <a:fillRect/>
          </a:stretch>
        </p:blipFill>
        <p:spPr>
          <a:xfrm>
            <a:off x="6155741" y="4006901"/>
            <a:ext cx="307238" cy="307238"/>
          </a:xfrm>
          <a:prstGeom prst="rect">
            <a:avLst/>
          </a:prstGeom>
        </p:spPr>
      </p:pic>
      <p:sp>
        <p:nvSpPr>
          <p:cNvPr id="34" name="Text 28"/>
          <p:cNvSpPr txBox="1"/>
          <p:nvPr/>
        </p:nvSpPr>
        <p:spPr>
          <a:xfrm>
            <a:off x="6766560" y="3840480"/>
            <a:ext cx="4846320" cy="960120"/>
          </a:xfrm>
          <a:prstGeom prst="rect">
            <a:avLst/>
          </a:prstGeom>
          <a:noFill/>
          <a:ln/>
        </p:spPr>
        <p:txBody>
          <a:bodyPr wrap="square" lIns="0" tIns="0" rIns="0" bIns="0" rtlCol="0" anchor="t"/>
          <a:lstStyle/>
          <a:p>
            <a:pPr indent="0" marL="0">
              <a:buNone/>
            </a:pPr>
            <a:r>
              <a:rPr lang="en-US" sz="1600" b="1" dirty="0">
                <a:solidFill>
                  <a:schemeClr val="tx2"/>
                </a:solidFill>
              </a:rPr>
              <a:t>Model</a:t>
            </a:r>
            <a:endParaRPr lang="en-US" sz="1400" dirty="0"/>
          </a:p>
          <a:p>
            <a:pPr indent="0" marL="0">
              <a:buNone/>
            </a:pPr>
            <a:r>
              <a:rPr lang="en-US" sz="1400" dirty="0">
                <a:solidFill>
                  <a:schemeClr val="tx1"/>
                </a:solidFill>
              </a:rPr>
              <a:t>IFC's Mexico supplier development program (automotive today; we ask for a medtech track)</a:t>
            </a:r>
            <a:endParaRPr lang="en-US" sz="1400" dirty="0"/>
          </a:p>
        </p:txBody>
      </p:sp>
      <p:sp>
        <p:nvSpPr>
          <p:cNvPr id="35" name="Shape 29"/>
          <p:cNvSpPr/>
          <p:nvPr/>
        </p:nvSpPr>
        <p:spPr>
          <a:xfrm>
            <a:off x="6035040" y="4983480"/>
            <a:ext cx="548640" cy="548640"/>
          </a:xfrm>
          <a:prstGeom prst="ellipse">
            <a:avLst/>
          </a:prstGeom>
          <a:solidFill>
            <a:schemeClr val="accent3"/>
          </a:solidFill>
          <a:ln/>
        </p:spPr>
      </p:sp>
      <p:pic>
        <p:nvPicPr>
          <p:cNvPr id="36" name="Image 4" descr="preencoded.png">    </p:cNvPr>
          <p:cNvPicPr>
            <a:picLocks noChangeAspect="1"/>
          </p:cNvPicPr>
          <p:nvPr/>
        </p:nvPicPr>
        <p:blipFill>
          <a:blip r:embed="rId5"/>
          <a:stretch>
            <a:fillRect/>
          </a:stretch>
        </p:blipFill>
        <p:spPr>
          <a:xfrm>
            <a:off x="6155741" y="5104181"/>
            <a:ext cx="307238" cy="307238"/>
          </a:xfrm>
          <a:prstGeom prst="rect">
            <a:avLst/>
          </a:prstGeom>
        </p:spPr>
      </p:pic>
      <p:sp>
        <p:nvSpPr>
          <p:cNvPr id="37" name="Text 30"/>
          <p:cNvSpPr txBox="1"/>
          <p:nvPr/>
        </p:nvSpPr>
        <p:spPr>
          <a:xfrm>
            <a:off x="6766560" y="4937760"/>
            <a:ext cx="4846320" cy="960120"/>
          </a:xfrm>
          <a:prstGeom prst="rect">
            <a:avLst/>
          </a:prstGeom>
          <a:noFill/>
          <a:ln/>
        </p:spPr>
        <p:txBody>
          <a:bodyPr wrap="square" lIns="0" tIns="0" rIns="0" bIns="0" rtlCol="0" anchor="t"/>
          <a:lstStyle/>
          <a:p>
            <a:pPr indent="0" marL="0">
              <a:buNone/>
            </a:pPr>
            <a:r>
              <a:rPr lang="en-US" sz="1600" b="1" dirty="0">
                <a:solidFill>
                  <a:schemeClr val="tx2"/>
                </a:solidFill>
              </a:rPr>
              <a:t>China · 2027</a:t>
            </a:r>
            <a:endParaRPr lang="en-US" sz="1400" dirty="0"/>
          </a:p>
          <a:p>
            <a:pPr indent="0" marL="0">
              <a:buNone/>
            </a:pPr>
            <a:r>
              <a:rPr lang="en-US" sz="1400" dirty="0">
                <a:solidFill>
                  <a:schemeClr val="tx1"/>
                </a:solidFill>
              </a:rPr>
              <a:t>IPE Blue Map screen, then EcoVadis in Chinese. Philips × Zhejiang Haishun shows the way</a:t>
            </a:r>
            <a:endParaRPr lang="en-US" sz="1400" dirty="0"/>
          </a:p>
        </p:txBody>
      </p:sp>
      <p:sp>
        <p:nvSpPr>
          <p:cNvPr id="38" name="Text 3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Merit 2025 Sustainability Report p.23; IFC–INA–SE release Aug 2025; Philips Dec 2021</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Pilot in 2026, full coverage by 2028, expanding only when results hold</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6"/>
          </a:solidFill>
          <a:ln/>
        </p:spPr>
      </p:sp>
      <p:sp>
        <p:nvSpPr>
          <p:cNvPr id="9" name="Shape 7"/>
          <p:cNvSpPr/>
          <p:nvPr/>
        </p:nvSpPr>
        <p:spPr>
          <a:xfrm>
            <a:off x="2514600" y="1554480"/>
            <a:ext cx="2203704" cy="411480"/>
          </a:xfrm>
          <a:prstGeom prst="roundRect">
            <a:avLst>
              <a:gd name="adj" fmla="val 17778"/>
            </a:avLst>
          </a:prstGeom>
          <a:solidFill>
            <a:schemeClr val="tx2"/>
          </a:solidFill>
          <a:ln/>
        </p:spPr>
      </p:sp>
      <p:sp>
        <p:nvSpPr>
          <p:cNvPr id="10" name="Text 8"/>
          <p:cNvSpPr txBox="1"/>
          <p:nvPr/>
        </p:nvSpPr>
        <p:spPr>
          <a:xfrm>
            <a:off x="2514600" y="1554480"/>
            <a:ext cx="2203704" cy="411480"/>
          </a:xfrm>
          <a:prstGeom prst="rect">
            <a:avLst/>
          </a:prstGeom>
          <a:noFill/>
          <a:ln/>
        </p:spPr>
        <p:txBody>
          <a:bodyPr wrap="square" lIns="0" tIns="0" rIns="0" bIns="0" rtlCol="0" anchor="ctr"/>
          <a:lstStyle/>
          <a:p>
            <a:pPr algn="ctr" indent="0" marL="0">
              <a:buNone/>
            </a:pPr>
            <a:r>
              <a:rPr lang="en-US" sz="1400" b="1" dirty="0">
                <a:solidFill>
                  <a:schemeClr val="bg1"/>
                </a:solidFill>
              </a:rPr>
              <a:t>Nov–Dec 2026</a:t>
            </a:r>
            <a:endParaRPr lang="en-US" sz="1400" dirty="0"/>
          </a:p>
        </p:txBody>
      </p:sp>
      <p:sp>
        <p:nvSpPr>
          <p:cNvPr id="11" name="Shape 9"/>
          <p:cNvSpPr/>
          <p:nvPr/>
        </p:nvSpPr>
        <p:spPr>
          <a:xfrm>
            <a:off x="4791456" y="1554480"/>
            <a:ext cx="2203704" cy="411480"/>
          </a:xfrm>
          <a:prstGeom prst="roundRect">
            <a:avLst>
              <a:gd name="adj" fmla="val 17778"/>
            </a:avLst>
          </a:prstGeom>
          <a:solidFill>
            <a:schemeClr val="tx2"/>
          </a:solidFill>
          <a:ln/>
        </p:spPr>
      </p:sp>
      <p:sp>
        <p:nvSpPr>
          <p:cNvPr id="12" name="Text 10"/>
          <p:cNvSpPr txBox="1"/>
          <p:nvPr/>
        </p:nvSpPr>
        <p:spPr>
          <a:xfrm>
            <a:off x="4791456" y="1554480"/>
            <a:ext cx="2203704" cy="411480"/>
          </a:xfrm>
          <a:prstGeom prst="rect">
            <a:avLst/>
          </a:prstGeom>
          <a:noFill/>
          <a:ln/>
        </p:spPr>
        <p:txBody>
          <a:bodyPr wrap="square" lIns="0" tIns="0" rIns="0" bIns="0" rtlCol="0" anchor="ctr"/>
          <a:lstStyle/>
          <a:p>
            <a:pPr algn="ctr" indent="0" marL="0">
              <a:buNone/>
            </a:pPr>
            <a:r>
              <a:rPr lang="en-US" sz="1400" b="1" dirty="0">
                <a:solidFill>
                  <a:schemeClr val="bg1"/>
                </a:solidFill>
              </a:rPr>
              <a:t>H1 2027</a:t>
            </a:r>
            <a:endParaRPr lang="en-US" sz="1400" dirty="0"/>
          </a:p>
        </p:txBody>
      </p:sp>
      <p:sp>
        <p:nvSpPr>
          <p:cNvPr id="13" name="Shape 11"/>
          <p:cNvSpPr/>
          <p:nvPr/>
        </p:nvSpPr>
        <p:spPr>
          <a:xfrm>
            <a:off x="7068312" y="1554480"/>
            <a:ext cx="2203704" cy="411480"/>
          </a:xfrm>
          <a:prstGeom prst="roundRect">
            <a:avLst>
              <a:gd name="adj" fmla="val 17778"/>
            </a:avLst>
          </a:prstGeom>
          <a:solidFill>
            <a:schemeClr val="tx2"/>
          </a:solidFill>
          <a:ln/>
        </p:spPr>
      </p:sp>
      <p:sp>
        <p:nvSpPr>
          <p:cNvPr id="14" name="Text 12"/>
          <p:cNvSpPr txBox="1"/>
          <p:nvPr/>
        </p:nvSpPr>
        <p:spPr>
          <a:xfrm>
            <a:off x="7068312" y="1554480"/>
            <a:ext cx="2203704" cy="411480"/>
          </a:xfrm>
          <a:prstGeom prst="rect">
            <a:avLst/>
          </a:prstGeom>
          <a:noFill/>
          <a:ln/>
        </p:spPr>
        <p:txBody>
          <a:bodyPr wrap="square" lIns="0" tIns="0" rIns="0" bIns="0" rtlCol="0" anchor="ctr"/>
          <a:lstStyle/>
          <a:p>
            <a:pPr algn="ctr" indent="0" marL="0">
              <a:buNone/>
            </a:pPr>
            <a:r>
              <a:rPr lang="en-US" sz="1400" b="1" dirty="0">
                <a:solidFill>
                  <a:schemeClr val="bg1"/>
                </a:solidFill>
              </a:rPr>
              <a:t>H2 2027</a:t>
            </a:r>
            <a:endParaRPr lang="en-US" sz="1400" dirty="0"/>
          </a:p>
        </p:txBody>
      </p:sp>
      <p:sp>
        <p:nvSpPr>
          <p:cNvPr id="15" name="Shape 13"/>
          <p:cNvSpPr/>
          <p:nvPr/>
        </p:nvSpPr>
        <p:spPr>
          <a:xfrm>
            <a:off x="9345168" y="1554480"/>
            <a:ext cx="2203704" cy="411480"/>
          </a:xfrm>
          <a:prstGeom prst="roundRect">
            <a:avLst>
              <a:gd name="adj" fmla="val 17778"/>
            </a:avLst>
          </a:prstGeom>
          <a:solidFill>
            <a:schemeClr val="tx2"/>
          </a:solidFill>
          <a:ln/>
        </p:spPr>
      </p:sp>
      <p:sp>
        <p:nvSpPr>
          <p:cNvPr id="16" name="Text 14"/>
          <p:cNvSpPr txBox="1"/>
          <p:nvPr/>
        </p:nvSpPr>
        <p:spPr>
          <a:xfrm>
            <a:off x="9345168" y="1554480"/>
            <a:ext cx="2203704" cy="411480"/>
          </a:xfrm>
          <a:prstGeom prst="rect">
            <a:avLst/>
          </a:prstGeom>
          <a:noFill/>
          <a:ln/>
        </p:spPr>
        <p:txBody>
          <a:bodyPr wrap="square" lIns="0" tIns="0" rIns="0" bIns="0" rtlCol="0" anchor="ctr"/>
          <a:lstStyle/>
          <a:p>
            <a:pPr algn="ctr" indent="0" marL="0">
              <a:buNone/>
            </a:pPr>
            <a:r>
              <a:rPr lang="en-US" sz="1400" b="1" dirty="0">
                <a:solidFill>
                  <a:schemeClr val="bg1"/>
                </a:solidFill>
              </a:rPr>
              <a:t>2028</a:t>
            </a:r>
            <a:endParaRPr lang="en-US" sz="1400" dirty="0"/>
          </a:p>
        </p:txBody>
      </p:sp>
      <p:sp>
        <p:nvSpPr>
          <p:cNvPr id="17" name="Text 15"/>
          <p:cNvSpPr txBox="1"/>
          <p:nvPr/>
        </p:nvSpPr>
        <p:spPr>
          <a:xfrm>
            <a:off x="548640" y="2103120"/>
            <a:ext cx="1874520" cy="438912"/>
          </a:xfrm>
          <a:prstGeom prst="rect">
            <a:avLst/>
          </a:prstGeom>
          <a:noFill/>
          <a:ln/>
        </p:spPr>
        <p:txBody>
          <a:bodyPr wrap="square" lIns="0" tIns="0" rIns="0" bIns="0" rtlCol="0" anchor="ctr"/>
          <a:lstStyle/>
          <a:p>
            <a:pPr indent="0" marL="0">
              <a:buNone/>
            </a:pPr>
            <a:r>
              <a:rPr lang="en-US" sz="1400" b="1" dirty="0">
                <a:solidFill>
                  <a:schemeClr val="tx2"/>
                </a:solidFill>
              </a:rPr>
              <a:t>Setup</a:t>
            </a:r>
            <a:endParaRPr lang="en-US" sz="1400" dirty="0"/>
          </a:p>
        </p:txBody>
      </p:sp>
      <p:sp>
        <p:nvSpPr>
          <p:cNvPr id="18" name="Shape 16"/>
          <p:cNvSpPr/>
          <p:nvPr/>
        </p:nvSpPr>
        <p:spPr>
          <a:xfrm>
            <a:off x="2514600" y="2596896"/>
            <a:ext cx="9034272" cy="0"/>
          </a:xfrm>
          <a:prstGeom prst="line">
            <a:avLst/>
          </a:prstGeom>
          <a:noFill/>
          <a:ln w="9525">
            <a:solidFill>
              <a:schemeClr val="accent6"/>
            </a:solidFill>
            <a:prstDash val="solid"/>
          </a:ln>
        </p:spPr>
      </p:sp>
      <p:sp>
        <p:nvSpPr>
          <p:cNvPr id="19" name="Text 17"/>
          <p:cNvSpPr/>
          <p:nvPr/>
        </p:nvSpPr>
        <p:spPr>
          <a:xfrm>
            <a:off x="2551176" y="2139696"/>
            <a:ext cx="2130552" cy="384048"/>
          </a:xfrm>
          <a:prstGeom prst="roundRect">
            <a:avLst>
              <a:gd name="adj" fmla="val 14286"/>
            </a:avLst>
          </a:prstGeom>
          <a:solidFill>
            <a:schemeClr val="tx2"/>
          </a:solidFill>
          <a:ln/>
        </p:spPr>
        <p:txBody>
          <a:bodyPr wrap="square" lIns="0" tIns="635" rIns="635" bIns="0" rtlCol="0" anchor="ctr"/>
          <a:lstStyle/>
          <a:p>
            <a:pPr algn="ctr" indent="0" marL="0">
              <a:buNone/>
            </a:pPr>
            <a:r>
              <a:rPr lang="en-US" sz="1200" b="1" dirty="0">
                <a:solidFill>
                  <a:schemeClr val="bg1"/>
                </a:solidFill>
              </a:rPr>
              <a:t>Approve · sort all 1,030 · hire</a:t>
            </a:r>
            <a:endParaRPr lang="en-US" sz="1200" dirty="0"/>
          </a:p>
        </p:txBody>
      </p:sp>
      <p:sp>
        <p:nvSpPr>
          <p:cNvPr id="20" name="Text 18"/>
          <p:cNvSpPr txBox="1"/>
          <p:nvPr/>
        </p:nvSpPr>
        <p:spPr>
          <a:xfrm>
            <a:off x="548640" y="2651760"/>
            <a:ext cx="1874520" cy="438912"/>
          </a:xfrm>
          <a:prstGeom prst="rect">
            <a:avLst/>
          </a:prstGeom>
          <a:noFill/>
          <a:ln/>
        </p:spPr>
        <p:txBody>
          <a:bodyPr wrap="square" lIns="0" tIns="0" rIns="0" bIns="0" rtlCol="0" anchor="ctr"/>
          <a:lstStyle/>
          <a:p>
            <a:pPr indent="0" marL="0">
              <a:buNone/>
            </a:pPr>
            <a:r>
              <a:rPr lang="en-US" sz="1400" b="1" dirty="0">
                <a:solidFill>
                  <a:schemeClr val="tx2"/>
                </a:solidFill>
              </a:rPr>
              <a:t>Tier 1 anchors</a:t>
            </a:r>
            <a:endParaRPr lang="en-US" sz="1400" dirty="0"/>
          </a:p>
        </p:txBody>
      </p:sp>
      <p:sp>
        <p:nvSpPr>
          <p:cNvPr id="21" name="Shape 19"/>
          <p:cNvSpPr/>
          <p:nvPr/>
        </p:nvSpPr>
        <p:spPr>
          <a:xfrm>
            <a:off x="2514600" y="3145536"/>
            <a:ext cx="9034272" cy="0"/>
          </a:xfrm>
          <a:prstGeom prst="line">
            <a:avLst/>
          </a:prstGeom>
          <a:noFill/>
          <a:ln w="9525">
            <a:solidFill>
              <a:schemeClr val="accent6"/>
            </a:solidFill>
            <a:prstDash val="solid"/>
          </a:ln>
        </p:spPr>
      </p:sp>
      <p:sp>
        <p:nvSpPr>
          <p:cNvPr id="22" name="Text 20"/>
          <p:cNvSpPr/>
          <p:nvPr/>
        </p:nvSpPr>
        <p:spPr>
          <a:xfrm>
            <a:off x="2551176" y="2688336"/>
            <a:ext cx="4407408" cy="384048"/>
          </a:xfrm>
          <a:prstGeom prst="roundRect">
            <a:avLst>
              <a:gd name="adj" fmla="val 14286"/>
            </a:avLst>
          </a:prstGeom>
          <a:solidFill>
            <a:schemeClr val="accent1"/>
          </a:solidFill>
          <a:ln/>
        </p:spPr>
        <p:txBody>
          <a:bodyPr wrap="square" lIns="0" tIns="635" rIns="635" bIns="0" rtlCol="0" anchor="ctr"/>
          <a:lstStyle/>
          <a:p>
            <a:pPr algn="ctr" indent="0" marL="0">
              <a:buNone/>
            </a:pPr>
            <a:r>
              <a:rPr lang="en-US" sz="1200" b="1" dirty="0">
                <a:solidFill>
                  <a:schemeClr val="bg1"/>
                </a:solidFill>
              </a:rPr>
              <a:t>Share existing EcoVadis scores (min 45)</a:t>
            </a:r>
            <a:endParaRPr lang="en-US" sz="1200" dirty="0"/>
          </a:p>
        </p:txBody>
      </p:sp>
      <p:sp>
        <p:nvSpPr>
          <p:cNvPr id="23" name="Text 21"/>
          <p:cNvSpPr txBox="1"/>
          <p:nvPr/>
        </p:nvSpPr>
        <p:spPr>
          <a:xfrm>
            <a:off x="548640" y="3200400"/>
            <a:ext cx="1874520" cy="438912"/>
          </a:xfrm>
          <a:prstGeom prst="rect">
            <a:avLst/>
          </a:prstGeom>
          <a:noFill/>
          <a:ln/>
        </p:spPr>
        <p:txBody>
          <a:bodyPr wrap="square" lIns="0" tIns="0" rIns="0" bIns="0" rtlCol="0" anchor="ctr"/>
          <a:lstStyle/>
          <a:p>
            <a:pPr indent="0" marL="0">
              <a:buNone/>
            </a:pPr>
            <a:r>
              <a:rPr lang="en-US" sz="1400" b="1" dirty="0">
                <a:solidFill>
                  <a:schemeClr val="tx2"/>
                </a:solidFill>
              </a:rPr>
              <a:t>Tier 2 · Tijuana</a:t>
            </a:r>
            <a:endParaRPr lang="en-US" sz="1400" dirty="0"/>
          </a:p>
        </p:txBody>
      </p:sp>
      <p:sp>
        <p:nvSpPr>
          <p:cNvPr id="24" name="Shape 22"/>
          <p:cNvSpPr/>
          <p:nvPr/>
        </p:nvSpPr>
        <p:spPr>
          <a:xfrm>
            <a:off x="2514600" y="3694176"/>
            <a:ext cx="9034272" cy="0"/>
          </a:xfrm>
          <a:prstGeom prst="line">
            <a:avLst/>
          </a:prstGeom>
          <a:noFill/>
          <a:ln w="9525">
            <a:solidFill>
              <a:schemeClr val="accent6"/>
            </a:solidFill>
            <a:prstDash val="solid"/>
          </a:ln>
        </p:spPr>
      </p:sp>
      <p:sp>
        <p:nvSpPr>
          <p:cNvPr id="25" name="Text 23"/>
          <p:cNvSpPr/>
          <p:nvPr/>
        </p:nvSpPr>
        <p:spPr>
          <a:xfrm>
            <a:off x="2551176" y="3236976"/>
            <a:ext cx="2130552" cy="384048"/>
          </a:xfrm>
          <a:prstGeom prst="roundRect">
            <a:avLst>
              <a:gd name="adj" fmla="val 14286"/>
            </a:avLst>
          </a:prstGeom>
          <a:solidFill>
            <a:schemeClr val="accent2"/>
          </a:solidFill>
          <a:ln/>
        </p:spPr>
        <p:txBody>
          <a:bodyPr wrap="square" lIns="0" tIns="635" rIns="635" bIns="0" rtlCol="0" anchor="ctr"/>
          <a:lstStyle/>
          <a:p>
            <a:pPr algn="ctr" indent="0" marL="0">
              <a:buNone/>
            </a:pPr>
            <a:r>
              <a:rPr lang="en-US" sz="1200" b="1" dirty="0">
                <a:solidFill>
                  <a:schemeClr val="bg1"/>
                </a:solidFill>
              </a:rPr>
              <a:t>Listen + readiness</a:t>
            </a:r>
            <a:endParaRPr lang="en-US" sz="1200" dirty="0"/>
          </a:p>
        </p:txBody>
      </p:sp>
      <p:sp>
        <p:nvSpPr>
          <p:cNvPr id="26" name="Text 24"/>
          <p:cNvSpPr/>
          <p:nvPr/>
        </p:nvSpPr>
        <p:spPr>
          <a:xfrm>
            <a:off x="4828032" y="3236976"/>
            <a:ext cx="2130552" cy="384048"/>
          </a:xfrm>
          <a:prstGeom prst="roundRect">
            <a:avLst>
              <a:gd name="adj" fmla="val 14286"/>
            </a:avLst>
          </a:prstGeom>
          <a:solidFill>
            <a:schemeClr val="accent2"/>
          </a:solidFill>
          <a:ln/>
        </p:spPr>
        <p:txBody>
          <a:bodyPr wrap="square" lIns="0" tIns="635" rIns="635" bIns="0" rtlCol="0" anchor="ctr"/>
          <a:lstStyle/>
          <a:p>
            <a:pPr algn="ctr" indent="0" marL="0">
              <a:buNone/>
            </a:pPr>
            <a:r>
              <a:rPr lang="en-US" sz="1200" b="1" dirty="0">
                <a:solidFill>
                  <a:schemeClr val="bg1"/>
                </a:solidFill>
              </a:rPr>
              <a:t>Vitals + help · first packs</a:t>
            </a:r>
            <a:endParaRPr lang="en-US" sz="1200" dirty="0"/>
          </a:p>
        </p:txBody>
      </p:sp>
      <p:sp>
        <p:nvSpPr>
          <p:cNvPr id="27" name="Text 25"/>
          <p:cNvSpPr/>
          <p:nvPr/>
        </p:nvSpPr>
        <p:spPr>
          <a:xfrm>
            <a:off x="9381744" y="3236976"/>
            <a:ext cx="2130552" cy="384048"/>
          </a:xfrm>
          <a:prstGeom prst="roundRect">
            <a:avLst>
              <a:gd name="adj" fmla="val 14286"/>
            </a:avLst>
          </a:prstGeom>
          <a:solidFill>
            <a:schemeClr val="accent2"/>
          </a:solidFill>
          <a:ln/>
        </p:spPr>
        <p:txBody>
          <a:bodyPr wrap="square" lIns="0" tIns="635" rIns="635" bIns="0" rtlCol="0" anchor="ctr"/>
          <a:lstStyle/>
          <a:p>
            <a:pPr algn="ctr" indent="0" marL="0">
              <a:buNone/>
            </a:pPr>
            <a:r>
              <a:rPr lang="en-US" sz="1200" b="1" dirty="0">
                <a:solidFill>
                  <a:schemeClr val="bg1"/>
                </a:solidFill>
              </a:rPr>
              <a:t>Full EcoVadis</a:t>
            </a:r>
            <a:endParaRPr lang="en-US" sz="1200" dirty="0"/>
          </a:p>
        </p:txBody>
      </p:sp>
      <p:sp>
        <p:nvSpPr>
          <p:cNvPr id="28" name="Text 26"/>
          <p:cNvSpPr txBox="1"/>
          <p:nvPr/>
        </p:nvSpPr>
        <p:spPr>
          <a:xfrm>
            <a:off x="548640" y="3749040"/>
            <a:ext cx="1874520" cy="438912"/>
          </a:xfrm>
          <a:prstGeom prst="rect">
            <a:avLst/>
          </a:prstGeom>
          <a:noFill/>
          <a:ln/>
        </p:spPr>
        <p:txBody>
          <a:bodyPr wrap="square" lIns="0" tIns="0" rIns="0" bIns="0" rtlCol="0" anchor="ctr"/>
          <a:lstStyle/>
          <a:p>
            <a:pPr indent="0" marL="0">
              <a:buNone/>
            </a:pPr>
            <a:r>
              <a:rPr lang="en-US" sz="1400" b="1" dirty="0">
                <a:solidFill>
                  <a:schemeClr val="tx2"/>
                </a:solidFill>
              </a:rPr>
              <a:t>China</a:t>
            </a:r>
            <a:endParaRPr lang="en-US" sz="1400" dirty="0"/>
          </a:p>
        </p:txBody>
      </p:sp>
      <p:sp>
        <p:nvSpPr>
          <p:cNvPr id="29" name="Shape 27"/>
          <p:cNvSpPr/>
          <p:nvPr/>
        </p:nvSpPr>
        <p:spPr>
          <a:xfrm>
            <a:off x="2514600" y="4242816"/>
            <a:ext cx="9034272" cy="0"/>
          </a:xfrm>
          <a:prstGeom prst="line">
            <a:avLst/>
          </a:prstGeom>
          <a:noFill/>
          <a:ln w="9525">
            <a:solidFill>
              <a:schemeClr val="accent6"/>
            </a:solidFill>
            <a:prstDash val="solid"/>
          </a:ln>
        </p:spPr>
      </p:sp>
      <p:sp>
        <p:nvSpPr>
          <p:cNvPr id="30" name="Text 28"/>
          <p:cNvSpPr/>
          <p:nvPr/>
        </p:nvSpPr>
        <p:spPr>
          <a:xfrm>
            <a:off x="7104888" y="3785616"/>
            <a:ext cx="4407408" cy="384048"/>
          </a:xfrm>
          <a:prstGeom prst="roundRect">
            <a:avLst>
              <a:gd name="adj" fmla="val 14286"/>
            </a:avLst>
          </a:prstGeom>
          <a:solidFill>
            <a:schemeClr val="accent4"/>
          </a:solidFill>
          <a:ln/>
        </p:spPr>
        <p:txBody>
          <a:bodyPr wrap="square" lIns="0" tIns="635" rIns="635" bIns="0" rtlCol="0" anchor="ctr"/>
          <a:lstStyle/>
          <a:p>
            <a:pPr algn="ctr" indent="0" marL="0">
              <a:buNone/>
            </a:pPr>
            <a:r>
              <a:rPr lang="en-US" sz="1200" b="1" dirty="0">
                <a:solidFill>
                  <a:schemeClr val="bg1"/>
                </a:solidFill>
              </a:rPr>
              <a:t>IPE screen → EcoVadis in Chinese</a:t>
            </a:r>
            <a:endParaRPr lang="en-US" sz="1200" dirty="0"/>
          </a:p>
        </p:txBody>
      </p:sp>
      <p:sp>
        <p:nvSpPr>
          <p:cNvPr id="31" name="Text 29"/>
          <p:cNvSpPr txBox="1"/>
          <p:nvPr/>
        </p:nvSpPr>
        <p:spPr>
          <a:xfrm>
            <a:off x="548640" y="4297680"/>
            <a:ext cx="1874520" cy="438912"/>
          </a:xfrm>
          <a:prstGeom prst="rect">
            <a:avLst/>
          </a:prstGeom>
          <a:noFill/>
          <a:ln/>
        </p:spPr>
        <p:txBody>
          <a:bodyPr wrap="square" lIns="0" tIns="0" rIns="0" bIns="0" rtlCol="0" anchor="ctr"/>
          <a:lstStyle/>
          <a:p>
            <a:pPr indent="0" marL="0">
              <a:buNone/>
            </a:pPr>
            <a:r>
              <a:rPr lang="en-US" sz="1400" b="1" dirty="0">
                <a:solidFill>
                  <a:schemeClr val="tx2"/>
                </a:solidFill>
              </a:rPr>
              <a:t>Scale</a:t>
            </a:r>
            <a:endParaRPr lang="en-US" sz="1400" dirty="0"/>
          </a:p>
        </p:txBody>
      </p:sp>
      <p:sp>
        <p:nvSpPr>
          <p:cNvPr id="32" name="Shape 30"/>
          <p:cNvSpPr/>
          <p:nvPr/>
        </p:nvSpPr>
        <p:spPr>
          <a:xfrm>
            <a:off x="2514600" y="4791456"/>
            <a:ext cx="9034272" cy="0"/>
          </a:xfrm>
          <a:prstGeom prst="line">
            <a:avLst/>
          </a:prstGeom>
          <a:noFill/>
          <a:ln w="9525">
            <a:solidFill>
              <a:schemeClr val="accent6"/>
            </a:solidFill>
            <a:prstDash val="solid"/>
          </a:ln>
        </p:spPr>
      </p:sp>
      <p:sp>
        <p:nvSpPr>
          <p:cNvPr id="33" name="Text 31"/>
          <p:cNvSpPr/>
          <p:nvPr/>
        </p:nvSpPr>
        <p:spPr>
          <a:xfrm>
            <a:off x="9381744" y="4334256"/>
            <a:ext cx="2130552" cy="384048"/>
          </a:xfrm>
          <a:prstGeom prst="roundRect">
            <a:avLst>
              <a:gd name="adj" fmla="val 14286"/>
            </a:avLst>
          </a:prstGeom>
          <a:solidFill>
            <a:schemeClr val="accent3"/>
          </a:solidFill>
          <a:ln/>
        </p:spPr>
        <p:txBody>
          <a:bodyPr wrap="square" lIns="0" tIns="635" rIns="635" bIns="0" rtlCol="0" anchor="ctr"/>
          <a:lstStyle/>
          <a:p>
            <a:pPr algn="ctr" indent="0" marL="0">
              <a:buNone/>
            </a:pPr>
            <a:r>
              <a:rPr lang="en-US" sz="1200" b="1" dirty="0">
                <a:solidFill>
                  <a:schemeClr val="bg1"/>
                </a:solidFill>
              </a:rPr>
              <a:t>Tier 3 · all 42 countries</a:t>
            </a:r>
            <a:endParaRPr lang="en-US" sz="1200" dirty="0"/>
          </a:p>
        </p:txBody>
      </p:sp>
      <p:sp>
        <p:nvSpPr>
          <p:cNvPr id="34" name="Text 32"/>
          <p:cNvSpPr txBox="1"/>
          <p:nvPr/>
        </p:nvSpPr>
        <p:spPr>
          <a:xfrm>
            <a:off x="548640" y="4846320"/>
            <a:ext cx="1874520" cy="438912"/>
          </a:xfrm>
          <a:prstGeom prst="rect">
            <a:avLst/>
          </a:prstGeom>
          <a:noFill/>
          <a:ln/>
        </p:spPr>
        <p:txBody>
          <a:bodyPr wrap="square" lIns="0" tIns="0" rIns="0" bIns="0" rtlCol="0" anchor="ctr"/>
          <a:lstStyle/>
          <a:p>
            <a:pPr indent="0" marL="0">
              <a:buNone/>
            </a:pPr>
            <a:r>
              <a:rPr lang="en-US" sz="1400" b="1" dirty="0">
                <a:solidFill>
                  <a:schemeClr val="tx2"/>
                </a:solidFill>
              </a:rPr>
              <a:t>Public reporting</a:t>
            </a:r>
            <a:endParaRPr lang="en-US" sz="1400" dirty="0"/>
          </a:p>
        </p:txBody>
      </p:sp>
      <p:sp>
        <p:nvSpPr>
          <p:cNvPr id="35" name="Shape 33"/>
          <p:cNvSpPr/>
          <p:nvPr/>
        </p:nvSpPr>
        <p:spPr>
          <a:xfrm>
            <a:off x="2514600" y="5340096"/>
            <a:ext cx="9034272" cy="0"/>
          </a:xfrm>
          <a:prstGeom prst="line">
            <a:avLst/>
          </a:prstGeom>
          <a:noFill/>
          <a:ln w="9525">
            <a:solidFill>
              <a:schemeClr val="accent6"/>
            </a:solidFill>
            <a:prstDash val="solid"/>
          </a:ln>
        </p:spPr>
      </p:sp>
      <p:sp>
        <p:nvSpPr>
          <p:cNvPr id="36" name="Text 34"/>
          <p:cNvSpPr/>
          <p:nvPr/>
        </p:nvSpPr>
        <p:spPr>
          <a:xfrm>
            <a:off x="7104888" y="4882896"/>
            <a:ext cx="2130552" cy="384048"/>
          </a:xfrm>
          <a:prstGeom prst="roundRect">
            <a:avLst>
              <a:gd name="adj" fmla="val 14286"/>
            </a:avLst>
          </a:prstGeom>
          <a:solidFill>
            <a:schemeClr val="tx2"/>
          </a:solidFill>
          <a:ln/>
        </p:spPr>
        <p:txBody>
          <a:bodyPr wrap="square" lIns="0" tIns="635" rIns="635" bIns="0" rtlCol="0" anchor="ctr"/>
          <a:lstStyle/>
          <a:p>
            <a:pPr algn="ctr" indent="0" marL="0">
              <a:buNone/>
            </a:pPr>
            <a:r>
              <a:rPr lang="en-US" sz="1200" b="1" dirty="0">
                <a:solidFill>
                  <a:schemeClr val="bg1"/>
                </a:solidFill>
              </a:rPr>
              <a:t>First coverage numbers</a:t>
            </a:r>
            <a:endParaRPr lang="en-US" sz="1200" dirty="0"/>
          </a:p>
        </p:txBody>
      </p:sp>
      <p:sp>
        <p:nvSpPr>
          <p:cNvPr id="37" name="Text 35"/>
          <p:cNvSpPr/>
          <p:nvPr/>
        </p:nvSpPr>
        <p:spPr>
          <a:xfrm>
            <a:off x="9381744" y="4882896"/>
            <a:ext cx="2130552" cy="384048"/>
          </a:xfrm>
          <a:prstGeom prst="roundRect">
            <a:avLst>
              <a:gd name="adj" fmla="val 14286"/>
            </a:avLst>
          </a:prstGeom>
          <a:solidFill>
            <a:schemeClr val="tx2"/>
          </a:solidFill>
          <a:ln/>
        </p:spPr>
        <p:txBody>
          <a:bodyPr wrap="square" lIns="0" tIns="635" rIns="635" bIns="0" rtlCol="0" anchor="ctr"/>
          <a:lstStyle/>
          <a:p>
            <a:pPr algn="ctr" indent="0" marL="0">
              <a:buNone/>
            </a:pPr>
            <a:r>
              <a:rPr lang="en-US" sz="1200" b="1" dirty="0">
                <a:solidFill>
                  <a:schemeClr val="bg1"/>
                </a:solidFill>
              </a:rPr>
              <a:t>Annual update</a:t>
            </a:r>
            <a:endParaRPr lang="en-US" sz="1200" dirty="0"/>
          </a:p>
        </p:txBody>
      </p:sp>
      <p:sp>
        <p:nvSpPr>
          <p:cNvPr id="38" name="Shape 36"/>
          <p:cNvSpPr/>
          <p:nvPr/>
        </p:nvSpPr>
        <p:spPr>
          <a:xfrm>
            <a:off x="7031736" y="2057400"/>
            <a:ext cx="0" cy="3383280"/>
          </a:xfrm>
          <a:prstGeom prst="line">
            <a:avLst/>
          </a:prstGeom>
          <a:noFill/>
          <a:ln w="25400">
            <a:solidFill>
              <a:schemeClr val="accent2"/>
            </a:solidFill>
            <a:prstDash val="dash"/>
          </a:ln>
        </p:spPr>
      </p:sp>
      <p:sp>
        <p:nvSpPr>
          <p:cNvPr id="39" name="Shape 37"/>
          <p:cNvSpPr/>
          <p:nvPr/>
        </p:nvSpPr>
        <p:spPr>
          <a:xfrm>
            <a:off x="6876288" y="5440680"/>
            <a:ext cx="310896" cy="310896"/>
          </a:xfrm>
          <a:prstGeom prst="diamond">
            <a:avLst/>
          </a:prstGeom>
          <a:solidFill>
            <a:schemeClr val="accent2"/>
          </a:solidFill>
          <a:ln/>
        </p:spPr>
      </p:sp>
      <p:sp>
        <p:nvSpPr>
          <p:cNvPr id="40" name="Text 38"/>
          <p:cNvSpPr txBox="1"/>
          <p:nvPr/>
        </p:nvSpPr>
        <p:spPr>
          <a:xfrm>
            <a:off x="7306056" y="5413248"/>
            <a:ext cx="4572000" cy="384048"/>
          </a:xfrm>
          <a:prstGeom prst="rect">
            <a:avLst/>
          </a:prstGeom>
          <a:noFill/>
          <a:ln/>
        </p:spPr>
        <p:txBody>
          <a:bodyPr wrap="square" lIns="0" tIns="0" rIns="0" bIns="0" rtlCol="0" anchor="ctr"/>
          <a:lstStyle/>
          <a:p>
            <a:pPr indent="0" marL="0">
              <a:buNone/>
            </a:pPr>
            <a:r>
              <a:rPr lang="en-US" sz="1300" b="1" dirty="0">
                <a:solidFill>
                  <a:schemeClr val="accent2"/>
                </a:solidFill>
              </a:rPr>
              <a:t>Expansion gate: </a:t>
            </a:r>
            <a:pPr indent="0" marL="0">
              <a:buNone/>
            </a:pPr>
            <a:r>
              <a:rPr lang="en-US" sz="1300" dirty="0">
                <a:solidFill>
                  <a:schemeClr val="tx1"/>
                </a:solidFill>
              </a:rPr>
              <a:t>grow Tier 2 only if cost per accepted pack and supplier retention hit target</a:t>
            </a:r>
            <a:endParaRPr lang="en-US" sz="1300" dirty="0"/>
          </a:p>
        </p:txBody>
      </p:sp>
      <p:sp>
        <p:nvSpPr>
          <p:cNvPr id="41" name="Text 3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300" b="1" dirty="0">
                <a:solidFill>
                  <a:schemeClr val="accent1"/>
                </a:solidFill>
              </a:rPr>
              <a:t>Owners  </a:t>
            </a:r>
            <a:pPr indent="0" marL="0">
              <a:buNone/>
            </a:pPr>
            <a:r>
              <a:rPr lang="en-US" sz="1300" dirty="0">
                <a:solidFill>
                  <a:schemeClr val="tx1"/>
                </a:solidFill>
              </a:rPr>
              <a:t>VP ESG (sponsor) · Procurement · Sustainability data lead · Quality · Finance · Comms</a:t>
            </a:r>
            <a:endParaRPr lang="en-US" sz="1300" dirty="0"/>
          </a:p>
        </p:txBody>
      </p:sp>
      <p:sp>
        <p:nvSpPr>
          <p:cNvPr id="42" name="Text 40"/>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Team plan; pack timing (4–8 weeks after work starts) is a planning assumption</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About $0.6M a year, capped, and it pays back if it catches one failure every four years</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6"/>
          </a:solidFill>
          <a:ln/>
        </p:spPr>
      </p:sp>
      <p:sp>
        <p:nvSpPr>
          <p:cNvPr id="9" name="Shape 7"/>
          <p:cNvSpPr/>
          <p:nvPr/>
        </p:nvSpPr>
        <p:spPr>
          <a:xfrm>
            <a:off x="548640" y="1554480"/>
            <a:ext cx="3566160" cy="2240280"/>
          </a:xfrm>
          <a:prstGeom prst="roundRect">
            <a:avLst>
              <a:gd name="adj" fmla="val 3265"/>
            </a:avLst>
          </a:prstGeom>
          <a:solidFill>
            <a:schemeClr val="bg2"/>
          </a:solidFill>
          <a:ln/>
        </p:spPr>
      </p:sp>
      <p:sp>
        <p:nvSpPr>
          <p:cNvPr id="10" name="Text 8"/>
          <p:cNvSpPr txBox="1"/>
          <p:nvPr/>
        </p:nvSpPr>
        <p:spPr>
          <a:xfrm>
            <a:off x="822960" y="1737360"/>
            <a:ext cx="3017520"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$0.6M</a:t>
            </a:r>
            <a:endParaRPr lang="en-US" sz="4400" dirty="0"/>
          </a:p>
        </p:txBody>
      </p:sp>
      <p:sp>
        <p:nvSpPr>
          <p:cNvPr id="11" name="Text 9"/>
          <p:cNvSpPr txBox="1"/>
          <p:nvPr/>
        </p:nvSpPr>
        <p:spPr>
          <a:xfrm>
            <a:off x="822960" y="2697480"/>
            <a:ext cx="3017520" cy="914400"/>
          </a:xfrm>
          <a:prstGeom prst="rect">
            <a:avLst/>
          </a:prstGeom>
          <a:noFill/>
          <a:ln/>
        </p:spPr>
        <p:txBody>
          <a:bodyPr wrap="square" lIns="0" tIns="0" rIns="0" bIns="0" rtlCol="0" anchor="t"/>
          <a:lstStyle/>
          <a:p>
            <a:pPr indent="0" marL="0">
              <a:buNone/>
            </a:pPr>
            <a:r>
              <a:rPr lang="en-US" sz="1400" dirty="0">
                <a:solidFill>
                  <a:schemeClr val="tx1"/>
                </a:solidFill>
              </a:rPr>
              <a:t>a year, capped: about 0.2% of non-GAAP operating income (~$308M)</a:t>
            </a:r>
            <a:endParaRPr lang="en-US" sz="1400" dirty="0"/>
          </a:p>
        </p:txBody>
      </p:sp>
      <p:sp>
        <p:nvSpPr>
          <p:cNvPr id="12" name="Shape 10"/>
          <p:cNvSpPr/>
          <p:nvPr/>
        </p:nvSpPr>
        <p:spPr>
          <a:xfrm>
            <a:off x="4315968" y="1554480"/>
            <a:ext cx="3566160" cy="2240280"/>
          </a:xfrm>
          <a:prstGeom prst="roundRect">
            <a:avLst>
              <a:gd name="adj" fmla="val 3265"/>
            </a:avLst>
          </a:prstGeom>
          <a:solidFill>
            <a:schemeClr val="bg2"/>
          </a:solidFill>
          <a:ln/>
        </p:spPr>
      </p:sp>
      <p:sp>
        <p:nvSpPr>
          <p:cNvPr id="13" name="Text 11"/>
          <p:cNvSpPr txBox="1"/>
          <p:nvPr/>
        </p:nvSpPr>
        <p:spPr>
          <a:xfrm>
            <a:off x="4590288" y="1737360"/>
            <a:ext cx="3017520"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 in 4 yrs</a:t>
            </a:r>
            <a:endParaRPr lang="en-US" sz="4400" dirty="0"/>
          </a:p>
        </p:txBody>
      </p:sp>
      <p:sp>
        <p:nvSpPr>
          <p:cNvPr id="14" name="Text 12"/>
          <p:cNvSpPr txBox="1"/>
          <p:nvPr/>
        </p:nvSpPr>
        <p:spPr>
          <a:xfrm>
            <a:off x="4590288" y="2697480"/>
            <a:ext cx="3017520" cy="914400"/>
          </a:xfrm>
          <a:prstGeom prst="rect">
            <a:avLst/>
          </a:prstGeom>
          <a:noFill/>
          <a:ln/>
        </p:spPr>
        <p:txBody>
          <a:bodyPr wrap="square" lIns="0" tIns="0" rIns="0" bIns="0" rtlCol="0" anchor="t"/>
          <a:lstStyle/>
          <a:p>
            <a:pPr indent="0" marL="0">
              <a:buNone/>
            </a:pPr>
            <a:r>
              <a:rPr lang="en-US" sz="1400" dirty="0">
                <a:solidFill>
                  <a:schemeClr val="tx1"/>
                </a:solidFill>
              </a:rPr>
              <a:t>Breakeven: catch one ~$2.5M supplier failure earlier (est.)</a:t>
            </a:r>
            <a:endParaRPr lang="en-US" sz="1400" dirty="0"/>
          </a:p>
        </p:txBody>
      </p:sp>
      <p:sp>
        <p:nvSpPr>
          <p:cNvPr id="15" name="Shape 13"/>
          <p:cNvSpPr/>
          <p:nvPr/>
        </p:nvSpPr>
        <p:spPr>
          <a:xfrm>
            <a:off x="8083296" y="1554480"/>
            <a:ext cx="3566160" cy="2240280"/>
          </a:xfrm>
          <a:prstGeom prst="roundRect">
            <a:avLst>
              <a:gd name="adj" fmla="val 3265"/>
            </a:avLst>
          </a:prstGeom>
          <a:solidFill>
            <a:schemeClr val="bg1"/>
          </a:solidFill>
          <a:ln w="12700">
            <a:solidFill>
              <a:schemeClr val="accent6"/>
            </a:solidFill>
            <a:prstDash val="solid"/>
          </a:ln>
        </p:spPr>
      </p:sp>
      <p:sp>
        <p:nvSpPr>
          <p:cNvPr id="16" name="Text 14"/>
          <p:cNvSpPr txBox="1"/>
          <p:nvPr/>
        </p:nvSpPr>
        <p:spPr>
          <a:xfrm>
            <a:off x="8357616" y="1737360"/>
            <a:ext cx="3017520" cy="914400"/>
          </a:xfrm>
          <a:prstGeom prst="rect">
            <a:avLst/>
          </a:prstGeom>
          <a:noFill/>
          <a:ln/>
        </p:spPr>
        <p:txBody>
          <a:bodyPr wrap="square" lIns="0" tIns="0" rIns="0" bIns="0" rtlCol="0" anchor="ctr"/>
          <a:lstStyle/>
          <a:p>
            <a:pPr indent="0" marL="0">
              <a:buNone/>
            </a:pPr>
            <a:r>
              <a:rPr lang="en-US" sz="4400" b="1" dirty="0">
                <a:solidFill>
                  <a:schemeClr val="accent2"/>
                </a:solidFill>
                <a:latin typeface="+mj-lt" pitchFamily="34" charset="0"/>
                <a:ea typeface="+mj-lt" pitchFamily="34" charset="-122"/>
                <a:cs typeface="+mj-lt" pitchFamily="34" charset="-120"/>
              </a:rPr>
              <a:t>38%</a:t>
            </a:r>
            <a:endParaRPr lang="en-US" sz="4400" dirty="0"/>
          </a:p>
        </p:txBody>
      </p:sp>
      <p:sp>
        <p:nvSpPr>
          <p:cNvPr id="17" name="Text 15"/>
          <p:cNvSpPr txBox="1"/>
          <p:nvPr/>
        </p:nvSpPr>
        <p:spPr>
          <a:xfrm>
            <a:off x="8357616" y="2697480"/>
            <a:ext cx="3017520" cy="914400"/>
          </a:xfrm>
          <a:prstGeom prst="rect">
            <a:avLst/>
          </a:prstGeom>
          <a:noFill/>
          <a:ln/>
        </p:spPr>
        <p:txBody>
          <a:bodyPr wrap="square" lIns="0" tIns="0" rIns="0" bIns="0" rtlCol="0" anchor="t"/>
          <a:lstStyle/>
          <a:p>
            <a:pPr indent="0" marL="0">
              <a:buNone/>
            </a:pPr>
            <a:r>
              <a:rPr lang="en-US" sz="1400" dirty="0">
                <a:solidFill>
                  <a:schemeClr val="tx1"/>
                </a:solidFill>
              </a:rPr>
              <a:t>of a year's earnings lost to supply shocks per decade (medtech average)</a:t>
            </a:r>
            <a:endParaRPr lang="en-US" sz="1400" dirty="0"/>
          </a:p>
        </p:txBody>
      </p:sp>
      <p:graphicFrame>
        <p:nvGraphicFramePr>
          <p:cNvPr id="18" name="Chart 0" descr=""/>
          <p:cNvGraphicFramePr/>
          <p:nvPr/>
        </p:nvGraphicFramePr>
        <p:xfrm>
          <a:off x="548640" y="4023360"/>
          <a:ext cx="6949440" cy="224028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7863840" y="4114800"/>
            <a:ext cx="457200" cy="457200"/>
          </a:xfrm>
          <a:prstGeom prst="ellipse">
            <a:avLst/>
          </a:prstGeom>
          <a:solidFill>
            <a:schemeClr val="accent1"/>
          </a:solidFill>
          <a:ln/>
        </p:spPr>
      </p:sp>
      <p:pic>
        <p:nvPicPr>
          <p:cNvPr id="20" name="Image 0" descr="preencoded.png">    </p:cNvPr>
          <p:cNvPicPr>
            <a:picLocks noChangeAspect="1"/>
          </p:cNvPicPr>
          <p:nvPr/>
        </p:nvPicPr>
        <p:blipFill>
          <a:blip r:embed="rId2"/>
          <a:stretch>
            <a:fillRect/>
          </a:stretch>
        </p:blipFill>
        <p:spPr>
          <a:xfrm>
            <a:off x="7964424" y="4215384"/>
            <a:ext cx="256032" cy="256032"/>
          </a:xfrm>
          <a:prstGeom prst="rect">
            <a:avLst/>
          </a:prstGeom>
        </p:spPr>
      </p:pic>
      <p:sp>
        <p:nvSpPr>
          <p:cNvPr id="21" name="Text 17"/>
          <p:cNvSpPr txBox="1"/>
          <p:nvPr/>
        </p:nvSpPr>
        <p:spPr>
          <a:xfrm>
            <a:off x="8458200" y="4069080"/>
            <a:ext cx="3154680" cy="685800"/>
          </a:xfrm>
          <a:prstGeom prst="rect">
            <a:avLst/>
          </a:prstGeom>
          <a:noFill/>
          <a:ln/>
        </p:spPr>
        <p:txBody>
          <a:bodyPr wrap="square" lIns="0" tIns="0" rIns="0" bIns="0" rtlCol="0" anchor="t"/>
          <a:lstStyle/>
          <a:p>
            <a:pPr indent="0" marL="0">
              <a:buNone/>
            </a:pPr>
            <a:r>
              <a:rPr lang="en-US" sz="1500" b="1" dirty="0">
                <a:solidFill>
                  <a:schemeClr val="tx2"/>
                </a:solidFill>
              </a:rPr>
              <a:t>Margin target holds</a:t>
            </a:r>
            <a:endParaRPr lang="en-US" sz="1500" dirty="0"/>
          </a:p>
          <a:p>
            <a:pPr indent="0" marL="0">
              <a:buNone/>
            </a:pPr>
            <a:r>
              <a:rPr lang="en-US" sz="1300" dirty="0">
                <a:solidFill>
                  <a:schemeClr val="tx1"/>
                </a:solidFill>
              </a:rPr>
              <a:t>20–22% target; Q2 2026 was 22.6%</a:t>
            </a:r>
            <a:endParaRPr lang="en-US" sz="1500" dirty="0"/>
          </a:p>
        </p:txBody>
      </p:sp>
      <p:sp>
        <p:nvSpPr>
          <p:cNvPr id="22" name="Shape 18"/>
          <p:cNvSpPr/>
          <p:nvPr/>
        </p:nvSpPr>
        <p:spPr>
          <a:xfrm>
            <a:off x="7863840" y="4864608"/>
            <a:ext cx="457200" cy="457200"/>
          </a:xfrm>
          <a:prstGeom prst="ellipse">
            <a:avLst/>
          </a:prstGeom>
          <a:solidFill>
            <a:schemeClr val="accent1"/>
          </a:solidFill>
          <a:ln/>
        </p:spPr>
      </p:sp>
      <p:pic>
        <p:nvPicPr>
          <p:cNvPr id="23" name="Image 1" descr="preencoded.png">    </p:cNvPr>
          <p:cNvPicPr>
            <a:picLocks noChangeAspect="1"/>
          </p:cNvPicPr>
          <p:nvPr/>
        </p:nvPicPr>
        <p:blipFill>
          <a:blip r:embed="rId3"/>
          <a:stretch>
            <a:fillRect/>
          </a:stretch>
        </p:blipFill>
        <p:spPr>
          <a:xfrm>
            <a:off x="7964424" y="4965192"/>
            <a:ext cx="256032" cy="256032"/>
          </a:xfrm>
          <a:prstGeom prst="rect">
            <a:avLst/>
          </a:prstGeom>
        </p:spPr>
      </p:pic>
      <p:sp>
        <p:nvSpPr>
          <p:cNvPr id="24" name="Text 19"/>
          <p:cNvSpPr txBox="1"/>
          <p:nvPr/>
        </p:nvSpPr>
        <p:spPr>
          <a:xfrm>
            <a:off x="8458200" y="4818888"/>
            <a:ext cx="3154680" cy="685800"/>
          </a:xfrm>
          <a:prstGeom prst="rect">
            <a:avLst/>
          </a:prstGeom>
          <a:noFill/>
          <a:ln/>
        </p:spPr>
        <p:txBody>
          <a:bodyPr wrap="square" lIns="0" tIns="0" rIns="0" bIns="0" rtlCol="0" anchor="t"/>
          <a:lstStyle/>
          <a:p>
            <a:pPr indent="0" marL="0">
              <a:buNone/>
            </a:pPr>
            <a:r>
              <a:rPr lang="en-US" sz="1500" b="1" dirty="0">
                <a:solidFill>
                  <a:schemeClr val="tx2"/>
                </a:solidFill>
              </a:rPr>
              <a:t>Cash target already met</a:t>
            </a:r>
            <a:endParaRPr lang="en-US" sz="1500" dirty="0"/>
          </a:p>
          <a:p>
            <a:pPr indent="0" marL="0">
              <a:buNone/>
            </a:pPr>
            <a:r>
              <a:rPr lang="en-US" sz="1300" dirty="0">
                <a:solidFill>
                  <a:schemeClr val="tx1"/>
                </a:solidFill>
              </a:rPr>
              <a:t>Free cash flow ≈ $401M vs $400M goal</a:t>
            </a:r>
            <a:endParaRPr lang="en-US" sz="1500" dirty="0"/>
          </a:p>
        </p:txBody>
      </p:sp>
      <p:sp>
        <p:nvSpPr>
          <p:cNvPr id="25" name="Shape 20"/>
          <p:cNvSpPr/>
          <p:nvPr/>
        </p:nvSpPr>
        <p:spPr>
          <a:xfrm>
            <a:off x="7863840" y="5614416"/>
            <a:ext cx="457200" cy="457200"/>
          </a:xfrm>
          <a:prstGeom prst="ellipse">
            <a:avLst/>
          </a:prstGeom>
          <a:solidFill>
            <a:schemeClr val="accent2"/>
          </a:solidFill>
          <a:ln/>
        </p:spPr>
      </p:sp>
      <p:pic>
        <p:nvPicPr>
          <p:cNvPr id="26" name="Image 2" descr="preencoded.png">    </p:cNvPr>
          <p:cNvPicPr>
            <a:picLocks noChangeAspect="1"/>
          </p:cNvPicPr>
          <p:nvPr/>
        </p:nvPicPr>
        <p:blipFill>
          <a:blip r:embed="rId4"/>
          <a:stretch>
            <a:fillRect/>
          </a:stretch>
        </p:blipFill>
        <p:spPr>
          <a:xfrm>
            <a:off x="7964424" y="5715000"/>
            <a:ext cx="256032" cy="256032"/>
          </a:xfrm>
          <a:prstGeom prst="rect">
            <a:avLst/>
          </a:prstGeom>
        </p:spPr>
      </p:pic>
      <p:sp>
        <p:nvSpPr>
          <p:cNvPr id="27" name="Text 21"/>
          <p:cNvSpPr txBox="1"/>
          <p:nvPr/>
        </p:nvSpPr>
        <p:spPr>
          <a:xfrm>
            <a:off x="8458200" y="5568696"/>
            <a:ext cx="3154680" cy="685800"/>
          </a:xfrm>
          <a:prstGeom prst="rect">
            <a:avLst/>
          </a:prstGeom>
          <a:noFill/>
          <a:ln/>
        </p:spPr>
        <p:txBody>
          <a:bodyPr wrap="square" lIns="0" tIns="0" rIns="0" bIns="0" rtlCol="0" anchor="t"/>
          <a:lstStyle/>
          <a:p>
            <a:pPr indent="0" marL="0">
              <a:buNone/>
            </a:pPr>
            <a:r>
              <a:rPr lang="en-US" sz="1500" b="1" dirty="0">
                <a:solidFill>
                  <a:schemeClr val="tx2"/>
                </a:solidFill>
              </a:rPr>
              <a:t>Two cost builds agree</a:t>
            </a:r>
            <a:endParaRPr lang="en-US" sz="1500" dirty="0"/>
          </a:p>
          <a:p>
            <a:pPr indent="0" marL="0">
              <a:buNone/>
            </a:pPr>
            <a:r>
              <a:rPr lang="en-US" sz="1300" dirty="0">
                <a:solidFill>
                  <a:schemeClr val="tx1"/>
                </a:solidFill>
              </a:rPr>
              <a:t>~$4.5k vs ~$6k per supported supplier</a:t>
            </a:r>
            <a:endParaRPr lang="en-US" sz="1500" dirty="0"/>
          </a:p>
        </p:txBody>
      </p:sp>
      <p:sp>
        <p:nvSpPr>
          <p:cNvPr id="28" name="Text 2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Merit 2025 10-K, Q2 2026 results; McKinsey medtech resilience; team cost model (backup B3)</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 measure risk coverage, not just spend coverage</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1"/>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480560"/>
                <a:gridCol w="1463040"/>
                <a:gridCol w="1463040"/>
                <a:gridCol w="3657600"/>
              </a:tblGrid>
              <a:tr h="5029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2027</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2028</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Benchmark</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6400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Direct spend with a rating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Stryker: 85% target by 2027</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64008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Critical suppliers with a traceable pack</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No peer reports this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6400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Tier 2 supplier retention</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Attrition tripwire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6400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Pilot workers inside the legal week, with weekly pay held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Rising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vs a wait-listed comparison group</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6400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Supplier-caused backorders on Tier 2 parts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 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FDA 506J shortage notices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10" name="Shape 7"/>
          <p:cNvSpPr/>
          <p:nvPr/>
        </p:nvSpPr>
        <p:spPr>
          <a:xfrm>
            <a:off x="548640" y="5532120"/>
            <a:ext cx="11064240" cy="685800"/>
          </a:xfrm>
          <a:prstGeom prst="roundRect">
            <a:avLst>
              <a:gd name="adj" fmla="val 10667"/>
            </a:avLst>
          </a:prstGeom>
          <a:solidFill>
            <a:schemeClr val="tx2"/>
          </a:solidFill>
          <a:ln/>
        </p:spPr>
      </p:sp>
      <p:sp>
        <p:nvSpPr>
          <p:cNvPr id="11" name="Text 8"/>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800" i="1" dirty="0">
                <a:solidFill>
                  <a:schemeClr val="bg1"/>
                </a:solidFill>
                <a:latin typeface="+mj-lt" pitchFamily="34" charset="0"/>
                <a:ea typeface="+mj-lt" pitchFamily="34" charset="-122"/>
                <a:cs typeface="+mj-lt" pitchFamily="34" charset="-120"/>
              </a:rPr>
              <a:t>Peers report spend. We also report the suppliers patients depend on.</a:t>
            </a:r>
            <a:endParaRPr lang="en-US" sz="1800" dirty="0"/>
          </a:p>
        </p:txBody>
      </p:sp>
      <p:sp>
        <p:nvSpPr>
          <p:cNvPr id="12" name="Text 9"/>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Stryker 2024 proxy; research/impact-measurement.md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Built on the Social Impact Cycle, with tripwires for what could go wrong</a:t>
            </a:r>
            <a:endParaRPr lang="en-US" sz="2800" dirty="0"/>
          </a:p>
        </p:txBody>
      </p:sp>
      <p:sp>
        <p:nvSpPr>
          <p:cNvPr id="3" name="Text 1"/>
          <p:cNvSpPr/>
          <p:nvPr/>
        </p:nvSpPr>
        <p:spPr>
          <a:xfrm>
            <a:off x="1965960" y="1554480"/>
            <a:ext cx="2468880" cy="868680"/>
          </a:xfrm>
          <a:prstGeom prst="roundRect">
            <a:avLst>
              <a:gd name="adj" fmla="val 10526"/>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Love the Problem</a:t>
            </a:r>
            <a:endParaRPr lang="en-US" sz="1400" dirty="0"/>
          </a:p>
          <a:p>
            <a:pPr algn="ctr" indent="0" marL="0">
              <a:buNone/>
            </a:pPr>
            <a:r>
              <a:rPr lang="en-US" sz="1200" dirty="0">
                <a:solidFill>
                  <a:schemeClr val="bg1"/>
                </a:solidFill>
              </a:rPr>
              <a:t>Listening sessions first</a:t>
            </a:r>
            <a:endParaRPr lang="en-US" sz="1400" dirty="0"/>
          </a:p>
        </p:txBody>
      </p:sp>
      <p:sp>
        <p:nvSpPr>
          <p:cNvPr id="4" name="Text 2"/>
          <p:cNvSpPr/>
          <p:nvPr/>
        </p:nvSpPr>
        <p:spPr>
          <a:xfrm>
            <a:off x="3931920" y="3017520"/>
            <a:ext cx="1920240" cy="868680"/>
          </a:xfrm>
          <a:prstGeom prst="roundRect">
            <a:avLst>
              <a:gd name="adj" fmla="val 10526"/>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Design</a:t>
            </a:r>
            <a:endParaRPr lang="en-US" sz="1400" dirty="0"/>
          </a:p>
          <a:p>
            <a:pPr algn="ctr" indent="0" marL="0">
              <a:buNone/>
            </a:pPr>
            <a:r>
              <a:rPr lang="en-US" sz="1200" dirty="0">
                <a:solidFill>
                  <a:schemeClr val="bg1"/>
                </a:solidFill>
              </a:rPr>
              <a:t>Sort + match help</a:t>
            </a:r>
            <a:endParaRPr lang="en-US" sz="1400" dirty="0"/>
          </a:p>
        </p:txBody>
      </p:sp>
      <p:sp>
        <p:nvSpPr>
          <p:cNvPr id="5" name="Text 3"/>
          <p:cNvSpPr/>
          <p:nvPr/>
        </p:nvSpPr>
        <p:spPr>
          <a:xfrm>
            <a:off x="1965960" y="4480560"/>
            <a:ext cx="2468880" cy="868680"/>
          </a:xfrm>
          <a:prstGeom prst="roundRect">
            <a:avLst>
              <a:gd name="adj" fmla="val 10526"/>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Implement</a:t>
            </a:r>
            <a:endParaRPr lang="en-US" sz="1400" dirty="0"/>
          </a:p>
          <a:p>
            <a:pPr algn="ctr" indent="0" marL="0">
              <a:buNone/>
            </a:pPr>
            <a:r>
              <a:rPr lang="en-US" sz="1200" dirty="0">
                <a:solidFill>
                  <a:schemeClr val="bg1"/>
                </a:solidFill>
              </a:rPr>
              <a:t>Tijuana 12</a:t>
            </a:r>
            <a:endParaRPr lang="en-US" sz="1400" dirty="0"/>
          </a:p>
        </p:txBody>
      </p:sp>
      <p:sp>
        <p:nvSpPr>
          <p:cNvPr id="6" name="Text 4"/>
          <p:cNvSpPr/>
          <p:nvPr/>
        </p:nvSpPr>
        <p:spPr>
          <a:xfrm>
            <a:off x="548640" y="3017520"/>
            <a:ext cx="1920240" cy="868680"/>
          </a:xfrm>
          <a:prstGeom prst="roundRect">
            <a:avLst>
              <a:gd name="adj" fmla="val 10526"/>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Evaluate</a:t>
            </a:r>
            <a:endParaRPr lang="en-US" sz="1400" dirty="0"/>
          </a:p>
          <a:p>
            <a:pPr algn="ctr" indent="0" marL="0">
              <a:buNone/>
            </a:pPr>
            <a:r>
              <a:rPr lang="en-US" sz="1200" dirty="0">
                <a:solidFill>
                  <a:schemeClr val="bg1"/>
                </a:solidFill>
              </a:rPr>
              <a:t>Outputs → outcomes → impact</a:t>
            </a:r>
            <a:endParaRPr lang="en-US" sz="1400" dirty="0"/>
          </a:p>
        </p:txBody>
      </p:sp>
      <p:sp>
        <p:nvSpPr>
          <p:cNvPr id="7" name="Text 5"/>
          <p:cNvSpPr/>
          <p:nvPr/>
        </p:nvSpPr>
        <p:spPr>
          <a:xfrm>
            <a:off x="2606040" y="2880360"/>
            <a:ext cx="1188720" cy="1188720"/>
          </a:xfrm>
          <a:prstGeom prst="ellipse">
            <a:avLst/>
          </a:prstGeom>
          <a:solidFill>
            <a:schemeClr val="bg2"/>
          </a:solidFill>
          <a:ln w="19050">
            <a:solidFill>
              <a:schemeClr val="accent1"/>
            </a:solidFill>
          </a:ln>
        </p:spPr>
        <p:txBody>
          <a:bodyPr wrap="square" lIns="635" tIns="635" rIns="635" bIns="635" rtlCol="0" anchor="ctr"/>
          <a:lstStyle/>
          <a:p>
            <a:pPr algn="ctr" indent="0" marL="0">
              <a:buNone/>
            </a:pPr>
            <a:r>
              <a:rPr lang="en-US" sz="1300" b="1" dirty="0">
                <a:solidFill>
                  <a:schemeClr val="tx2"/>
                </a:solidFill>
              </a:rPr>
              <a:t>Love the one</a:t>
            </a:r>
            <a:endParaRPr lang="en-US" sz="1300" dirty="0"/>
          </a:p>
        </p:txBody>
      </p:sp>
      <p:sp>
        <p:nvSpPr>
          <p:cNvPr id="8" name="Shape 6"/>
          <p:cNvSpPr/>
          <p:nvPr/>
        </p:nvSpPr>
        <p:spPr>
          <a:xfrm>
            <a:off x="4434840" y="2103120"/>
            <a:ext cx="411480" cy="868680"/>
          </a:xfrm>
          <a:prstGeom prst="line">
            <a:avLst/>
          </a:prstGeom>
          <a:noFill/>
          <a:ln w="12700">
            <a:solidFill>
              <a:srgbClr val="333333"/>
            </a:solidFill>
            <a:prstDash val="solid"/>
            <a:tailEnd type="triangle"/>
          </a:ln>
        </p:spPr>
      </p:sp>
      <p:sp>
        <p:nvSpPr>
          <p:cNvPr id="9" name="Shape 7"/>
          <p:cNvSpPr/>
          <p:nvPr/>
        </p:nvSpPr>
        <p:spPr>
          <a:xfrm flipH="1">
            <a:off x="4434840" y="3931920"/>
            <a:ext cx="411480" cy="548640"/>
          </a:xfrm>
          <a:prstGeom prst="line">
            <a:avLst/>
          </a:prstGeom>
          <a:noFill/>
          <a:ln w="12700">
            <a:solidFill>
              <a:srgbClr val="333333"/>
            </a:solidFill>
            <a:prstDash val="solid"/>
            <a:tailEnd type="triangle"/>
          </a:ln>
        </p:spPr>
      </p:sp>
      <p:sp>
        <p:nvSpPr>
          <p:cNvPr id="10" name="Shape 8"/>
          <p:cNvSpPr/>
          <p:nvPr/>
        </p:nvSpPr>
        <p:spPr>
          <a:xfrm>
            <a:off x="1508760" y="3931920"/>
            <a:ext cx="457200" cy="1005840"/>
          </a:xfrm>
          <a:prstGeom prst="line">
            <a:avLst/>
          </a:prstGeom>
          <a:noFill/>
          <a:ln w="12700">
            <a:solidFill>
              <a:srgbClr val="333333"/>
            </a:solidFill>
            <a:prstDash val="solid"/>
            <a:headEnd type="triangle"/>
          </a:ln>
        </p:spPr>
      </p:sp>
      <p:sp>
        <p:nvSpPr>
          <p:cNvPr id="11" name="Shape 9"/>
          <p:cNvSpPr/>
          <p:nvPr/>
        </p:nvSpPr>
        <p:spPr>
          <a:xfrm flipH="1">
            <a:off x="1508760" y="2011680"/>
            <a:ext cx="457200" cy="960120"/>
          </a:xfrm>
          <a:prstGeom prst="line">
            <a:avLst/>
          </a:prstGeom>
          <a:noFill/>
          <a:ln w="12700">
            <a:solidFill>
              <a:srgbClr val="333333"/>
            </a:solidFill>
            <a:prstDash val="solid"/>
            <a:headEnd type="triangle"/>
          </a:ln>
        </p:spPr>
      </p:sp>
      <p:sp>
        <p:nvSpPr>
          <p:cNvPr id="12" name="Text 10"/>
          <p:cNvSpPr txBox="1"/>
          <p:nvPr/>
        </p:nvSpPr>
        <p:spPr>
          <a:xfrm>
            <a:off x="6309360" y="1508760"/>
            <a:ext cx="5303520" cy="365760"/>
          </a:xfrm>
          <a:prstGeom prst="rect">
            <a:avLst/>
          </a:prstGeom>
          <a:noFill/>
          <a:ln/>
        </p:spPr>
        <p:txBody>
          <a:bodyPr wrap="square" lIns="0" tIns="0" rIns="0" bIns="0" rtlCol="0" anchor="t"/>
          <a:lstStyle/>
          <a:p>
            <a:pPr indent="0" marL="0">
              <a:buNone/>
            </a:pPr>
            <a:r>
              <a:rPr lang="en-US" sz="1600" b="1" dirty="0">
                <a:solidFill>
                  <a:schemeClr val="accent2"/>
                </a:solidFill>
              </a:rPr>
              <a:t>Harm → tripwire</a:t>
            </a:r>
            <a:endParaRPr lang="en-US" sz="1600" dirty="0"/>
          </a:p>
        </p:txBody>
      </p:sp>
      <p:sp>
        <p:nvSpPr>
          <p:cNvPr id="13" name="Shape 11"/>
          <p:cNvSpPr/>
          <p:nvPr/>
        </p:nvSpPr>
        <p:spPr>
          <a:xfrm>
            <a:off x="6309360" y="1920240"/>
            <a:ext cx="5303520" cy="566928"/>
          </a:xfrm>
          <a:prstGeom prst="roundRect">
            <a:avLst>
              <a:gd name="adj" fmla="val 12903"/>
            </a:avLst>
          </a:prstGeom>
          <a:solidFill>
            <a:schemeClr val="bg2"/>
          </a:solidFill>
          <a:ln/>
        </p:spPr>
      </p:sp>
      <p:sp>
        <p:nvSpPr>
          <p:cNvPr id="14" name="Text 12"/>
          <p:cNvSpPr txBox="1"/>
          <p:nvPr/>
        </p:nvSpPr>
        <p:spPr>
          <a:xfrm>
            <a:off x="6492240" y="1920240"/>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Dependency on Merit's help</a:t>
            </a:r>
            <a:pPr indent="0" marL="0">
              <a:buNone/>
            </a:pPr>
            <a:r>
              <a:rPr lang="en-US" sz="1400" dirty="0">
                <a:solidFill>
                  <a:schemeClr val="accent1"/>
                </a:solidFill>
              </a:rPr>
              <a:t>  →  time-boxed, capped support</a:t>
            </a:r>
            <a:endParaRPr lang="en-US" sz="1400" dirty="0"/>
          </a:p>
        </p:txBody>
      </p:sp>
      <p:sp>
        <p:nvSpPr>
          <p:cNvPr id="15" name="Shape 13"/>
          <p:cNvSpPr/>
          <p:nvPr/>
        </p:nvSpPr>
        <p:spPr>
          <a:xfrm>
            <a:off x="6309360" y="2578608"/>
            <a:ext cx="5303520" cy="566928"/>
          </a:xfrm>
          <a:prstGeom prst="roundRect">
            <a:avLst>
              <a:gd name="adj" fmla="val 12903"/>
            </a:avLst>
          </a:prstGeom>
          <a:solidFill>
            <a:schemeClr val="bg2"/>
          </a:solidFill>
          <a:ln/>
        </p:spPr>
      </p:sp>
      <p:sp>
        <p:nvSpPr>
          <p:cNvPr id="16" name="Text 14"/>
          <p:cNvSpPr txBox="1"/>
          <p:nvPr/>
        </p:nvSpPr>
        <p:spPr>
          <a:xfrm>
            <a:off x="6492240" y="2578608"/>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Paperwork without practice</a:t>
            </a:r>
            <a:pPr indent="0" marL="0">
              <a:buNone/>
            </a:pPr>
            <a:r>
              <a:rPr lang="en-US" sz="1400" dirty="0">
                <a:solidFill>
                  <a:schemeClr val="accent1"/>
                </a:solidFill>
              </a:rPr>
              <a:t>  →  third-party evidence review</a:t>
            </a:r>
            <a:endParaRPr lang="en-US" sz="1400" dirty="0"/>
          </a:p>
        </p:txBody>
      </p:sp>
      <p:sp>
        <p:nvSpPr>
          <p:cNvPr id="17" name="Shape 15"/>
          <p:cNvSpPr/>
          <p:nvPr/>
        </p:nvSpPr>
        <p:spPr>
          <a:xfrm>
            <a:off x="6309360" y="3236976"/>
            <a:ext cx="5303520" cy="566928"/>
          </a:xfrm>
          <a:prstGeom prst="roundRect">
            <a:avLst>
              <a:gd name="adj" fmla="val 12903"/>
            </a:avLst>
          </a:prstGeom>
          <a:solidFill>
            <a:schemeClr val="bg2"/>
          </a:solidFill>
          <a:ln/>
        </p:spPr>
      </p:sp>
      <p:sp>
        <p:nvSpPr>
          <p:cNvPr id="18" name="Text 16"/>
          <p:cNvSpPr txBox="1"/>
          <p:nvPr/>
        </p:nvSpPr>
        <p:spPr>
          <a:xfrm>
            <a:off x="6492240" y="3236976"/>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Supplier exits or passes on cost</a:t>
            </a:r>
            <a:pPr indent="0" marL="0">
              <a:buNone/>
            </a:pPr>
            <a:r>
              <a:rPr lang="en-US" sz="1400" dirty="0">
                <a:solidFill>
                  <a:schemeClr val="accent1"/>
                </a:solidFill>
              </a:rPr>
              <a:t>  →  retention 100%; no Y1 penalties</a:t>
            </a:r>
            <a:endParaRPr lang="en-US" sz="1400" dirty="0"/>
          </a:p>
        </p:txBody>
      </p:sp>
      <p:sp>
        <p:nvSpPr>
          <p:cNvPr id="19" name="Shape 17"/>
          <p:cNvSpPr/>
          <p:nvPr/>
        </p:nvSpPr>
        <p:spPr>
          <a:xfrm>
            <a:off x="6309360" y="3895344"/>
            <a:ext cx="5303520" cy="566928"/>
          </a:xfrm>
          <a:prstGeom prst="roundRect">
            <a:avLst>
              <a:gd name="adj" fmla="val 12903"/>
            </a:avLst>
          </a:prstGeom>
          <a:solidFill>
            <a:schemeClr val="bg2"/>
          </a:solidFill>
          <a:ln/>
        </p:spPr>
      </p:sp>
      <p:sp>
        <p:nvSpPr>
          <p:cNvPr id="20" name="Text 18"/>
          <p:cNvSpPr txBox="1"/>
          <p:nvPr/>
        </p:nvSpPr>
        <p:spPr>
          <a:xfrm>
            <a:off x="6492240" y="3895344"/>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Hour cuts lower take-home pay</a:t>
            </a:r>
            <a:pPr indent="0" marL="0">
              <a:buNone/>
            </a:pPr>
            <a:r>
              <a:rPr lang="en-US" sz="1400" dirty="0">
                <a:solidFill>
                  <a:schemeClr val="accent1"/>
                </a:solidFill>
              </a:rPr>
              <a:t>  →  weekly pay per worker must hold</a:t>
            </a:r>
            <a:endParaRPr lang="en-US" sz="1400" dirty="0"/>
          </a:p>
        </p:txBody>
      </p:sp>
      <p:sp>
        <p:nvSpPr>
          <p:cNvPr id="21" name="Shape 19"/>
          <p:cNvSpPr/>
          <p:nvPr/>
        </p:nvSpPr>
        <p:spPr>
          <a:xfrm>
            <a:off x="6309360" y="4553712"/>
            <a:ext cx="5303520" cy="566928"/>
          </a:xfrm>
          <a:prstGeom prst="roundRect">
            <a:avLst>
              <a:gd name="adj" fmla="val 12903"/>
            </a:avLst>
          </a:prstGeom>
          <a:solidFill>
            <a:schemeClr val="bg2"/>
          </a:solidFill>
          <a:ln/>
        </p:spPr>
      </p:sp>
      <p:sp>
        <p:nvSpPr>
          <p:cNvPr id="22" name="Text 20"/>
          <p:cNvSpPr txBox="1"/>
          <p:nvPr/>
        </p:nvSpPr>
        <p:spPr>
          <a:xfrm>
            <a:off x="6492240" y="4553712"/>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Hidden subcontracting</a:t>
            </a:r>
            <a:pPr indent="0" marL="0">
              <a:buNone/>
            </a:pPr>
            <a:r>
              <a:rPr lang="en-US" sz="1400" dirty="0">
                <a:solidFill>
                  <a:schemeClr val="accent1"/>
                </a:solidFill>
              </a:rPr>
              <a:t>  →  spot checks + worker voice</a:t>
            </a:r>
            <a:endParaRPr lang="en-US" sz="1400" dirty="0"/>
          </a:p>
        </p:txBody>
      </p:sp>
      <p:sp>
        <p:nvSpPr>
          <p:cNvPr id="23" name="Text 21"/>
          <p:cNvSpPr/>
          <p:nvPr/>
        </p:nvSpPr>
        <p:spPr>
          <a:xfrm>
            <a:off x="548640"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Unmitigated harm</a:t>
            </a:r>
            <a:endParaRPr lang="en-US" sz="1100" dirty="0"/>
          </a:p>
        </p:txBody>
      </p:sp>
      <p:sp>
        <p:nvSpPr>
          <p:cNvPr id="24" name="Text 22"/>
          <p:cNvSpPr/>
          <p:nvPr/>
        </p:nvSpPr>
        <p:spPr>
          <a:xfrm>
            <a:off x="2395728"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Mitigating harm</a:t>
            </a:r>
            <a:endParaRPr lang="en-US" sz="1100" dirty="0"/>
          </a:p>
        </p:txBody>
      </p:sp>
      <p:sp>
        <p:nvSpPr>
          <p:cNvPr id="25" name="Text 23"/>
          <p:cNvSpPr/>
          <p:nvPr/>
        </p:nvSpPr>
        <p:spPr>
          <a:xfrm>
            <a:off x="4242816"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Internal initiatives</a:t>
            </a:r>
            <a:endParaRPr lang="en-US" sz="1100" dirty="0"/>
          </a:p>
        </p:txBody>
      </p:sp>
      <p:sp>
        <p:nvSpPr>
          <p:cNvPr id="26" name="Text 24"/>
          <p:cNvSpPr/>
          <p:nvPr/>
        </p:nvSpPr>
        <p:spPr>
          <a:xfrm>
            <a:off x="6089904"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Offsets / philanthropy</a:t>
            </a:r>
            <a:endParaRPr lang="en-US" sz="1100" dirty="0"/>
          </a:p>
        </p:txBody>
      </p:sp>
      <p:sp>
        <p:nvSpPr>
          <p:cNvPr id="27" name="Text 25"/>
          <p:cNvSpPr/>
          <p:nvPr/>
        </p:nvSpPr>
        <p:spPr>
          <a:xfrm>
            <a:off x="7936992"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Prosocial marketing</a:t>
            </a:r>
            <a:endParaRPr lang="en-US" sz="1100" dirty="0"/>
          </a:p>
        </p:txBody>
      </p:sp>
      <p:sp>
        <p:nvSpPr>
          <p:cNvPr id="28" name="Text 26"/>
          <p:cNvSpPr/>
          <p:nvPr/>
        </p:nvSpPr>
        <p:spPr>
          <a:xfrm>
            <a:off x="9784080" y="5596128"/>
            <a:ext cx="1901952" cy="548640"/>
          </a:xfrm>
          <a:prstGeom prst="chevron">
            <a:avLst/>
          </a:prstGeom>
          <a:solidFill>
            <a:schemeClr val="accent1"/>
          </a:solidFill>
          <a:ln/>
        </p:spPr>
        <p:txBody>
          <a:bodyPr wrap="square" lIns="0" tIns="3810" rIns="3175" bIns="0" rtlCol="0" anchor="ctr"/>
          <a:lstStyle/>
          <a:p>
            <a:pPr algn="ctr" indent="0" marL="0">
              <a:buNone/>
            </a:pPr>
            <a:r>
              <a:rPr lang="en-US" sz="1100" b="1" dirty="0">
                <a:solidFill>
                  <a:schemeClr val="bg1"/>
                </a:solidFill>
              </a:rPr>
              <a:t>Socially strategic</a:t>
            </a:r>
            <a:endParaRPr lang="en-US" sz="1100" dirty="0"/>
          </a:p>
        </p:txBody>
      </p:sp>
      <p:sp>
        <p:nvSpPr>
          <p:cNvPr id="29" name="Text 2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Ballard Center Social Impact Cycle and Journey; Wharton on TOMS</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Say only what the data supports, and ask the Board for three things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914400"/>
        </p:xfrm>
        <a:graphic>
          <a:graphicData uri="http://schemas.openxmlformats.org/drawingml/2006/table">
            <a:tbl>
              <a:tblPr/>
              <a:tblGrid>
                <a:gridCol w="1691640"/>
                <a:gridCol w="3429000"/>
                <a:gridCol w="164592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Audience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Merit shares</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6583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Their tier, the ask, the support, the timeline, in their language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Dec 2026</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6583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Hospitals &amp; GPOs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Scope 1/2 + plan; coverage by spend and by critical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2027 · NHS by Apr 2027</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Board &amp; investors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Cost vs cap, coverage KPIs, risk</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Quarterly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Associates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Procurement and Quality roles in the program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Launch + annual</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Shape 1"/>
          <p:cNvSpPr/>
          <p:nvPr/>
        </p:nvSpPr>
        <p:spPr>
          <a:xfrm>
            <a:off x="548640" y="4572000"/>
            <a:ext cx="6766560" cy="1691640"/>
          </a:xfrm>
          <a:prstGeom prst="roundRect">
            <a:avLst>
              <a:gd name="adj" fmla="val 4324"/>
            </a:avLst>
          </a:prstGeom>
          <a:solidFill>
            <a:schemeClr val="bg2"/>
          </a:solidFill>
          <a:ln/>
        </p:spPr>
      </p:sp>
      <p:sp>
        <p:nvSpPr>
          <p:cNvPr id="5" name="Text 2"/>
          <p:cNvSpPr txBox="1"/>
          <p:nvPr/>
        </p:nvSpPr>
        <p:spPr>
          <a:xfrm>
            <a:off x="777240" y="4663440"/>
            <a:ext cx="6309360" cy="347472"/>
          </a:xfrm>
          <a:prstGeom prst="rect">
            <a:avLst/>
          </a:prstGeom>
          <a:noFill/>
          <a:ln/>
        </p:spPr>
        <p:txBody>
          <a:bodyPr wrap="square" lIns="0" tIns="0" rIns="0" bIns="0" rtlCol="0" anchor="t"/>
          <a:lstStyle/>
          <a:p>
            <a:pPr indent="0" marL="0">
              <a:buNone/>
            </a:pPr>
            <a:r>
              <a:rPr lang="en-US" sz="1500" b="1" dirty="0">
                <a:solidFill>
                  <a:schemeClr val="accent2"/>
                </a:solidFill>
              </a:rPr>
              <a:t>Guardrails</a:t>
            </a:r>
            <a:endParaRPr lang="en-US" sz="1500" dirty="0"/>
          </a:p>
        </p:txBody>
      </p:sp>
      <p:sp>
        <p:nvSpPr>
          <p:cNvPr id="6" name="Text 3"/>
          <p:cNvSpPr txBox="1"/>
          <p:nvPr/>
        </p:nvSpPr>
        <p:spPr>
          <a:xfrm>
            <a:off x="777240" y="5029200"/>
            <a:ext cx="640080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Publish what isn't known yet (Scope 3: % supplier data vs % estimate)</a:t>
            </a:r>
            <a:endParaRPr lang="en-US" sz="1300" dirty="0"/>
          </a:p>
          <a:p>
            <a:pPr marL="342900" indent="-342900">
              <a:spcAft>
                <a:spcPts val="400"/>
              </a:spcAft>
              <a:buSzPct val="100000"/>
              <a:buChar char="•"/>
            </a:pPr>
            <a:r>
              <a:rPr lang="en-US" sz="1300" dirty="0">
                <a:solidFill>
                  <a:schemeClr val="tx1"/>
                </a:solidFill>
              </a:rPr>
              <a:t>No "climate neutral" or vague claims (EU ban, Sept 2026; FTC Green Guides)</a:t>
            </a:r>
            <a:endParaRPr lang="en-US" sz="1300" dirty="0"/>
          </a:p>
          <a:p>
            <a:pPr marL="342900" indent="-342900">
              <a:spcAft>
                <a:spcPts val="400"/>
              </a:spcAft>
              <a:buSzPct val="100000"/>
              <a:buChar char="•"/>
            </a:pPr>
            <a:r>
              <a:rPr lang="en-US" sz="1300" dirty="0">
                <a:solidFill>
                  <a:schemeClr val="tx1"/>
                </a:solidFill>
              </a:rPr>
              <a:t>"Working with our partners," never "our suppliers are sustainable"</a:t>
            </a:r>
            <a:endParaRPr lang="en-US" sz="1300" dirty="0"/>
          </a:p>
        </p:txBody>
      </p:sp>
      <p:sp>
        <p:nvSpPr>
          <p:cNvPr id="7" name="Shape 4"/>
          <p:cNvSpPr/>
          <p:nvPr/>
        </p:nvSpPr>
        <p:spPr>
          <a:xfrm>
            <a:off x="7680960" y="1554480"/>
            <a:ext cx="3931920" cy="4709160"/>
          </a:xfrm>
          <a:prstGeom prst="roundRect">
            <a:avLst>
              <a:gd name="adj" fmla="val 1860"/>
            </a:avLst>
          </a:prstGeom>
          <a:solidFill>
            <a:schemeClr val="tx2"/>
          </a:solidFill>
          <a:ln/>
        </p:spPr>
      </p:sp>
      <p:sp>
        <p:nvSpPr>
          <p:cNvPr id="8" name="Text 5"/>
          <p:cNvSpPr txBox="1"/>
          <p:nvPr/>
        </p:nvSpPr>
        <p:spPr>
          <a:xfrm>
            <a:off x="8001000" y="1737360"/>
            <a:ext cx="3383280"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The ask</a:t>
            </a:r>
            <a:endParaRPr lang="en-US" sz="2400" dirty="0"/>
          </a:p>
        </p:txBody>
      </p:sp>
      <p:sp>
        <p:nvSpPr>
          <p:cNvPr id="9" name="Text 6"/>
          <p:cNvSpPr/>
          <p:nvPr/>
        </p:nvSpPr>
        <p:spPr>
          <a:xfrm>
            <a:off x="8001000" y="242316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8732520" y="2331720"/>
            <a:ext cx="2697480" cy="731520"/>
          </a:xfrm>
          <a:prstGeom prst="rect">
            <a:avLst/>
          </a:prstGeom>
          <a:noFill/>
          <a:ln/>
        </p:spPr>
        <p:txBody>
          <a:bodyPr wrap="square" lIns="0" tIns="0" rIns="0" bIns="0" rtlCol="0" anchor="ctr"/>
          <a:lstStyle/>
          <a:p>
            <a:pPr indent="0" marL="0">
              <a:buNone/>
            </a:pPr>
            <a:r>
              <a:rPr lang="en-US" sz="1800" b="1" dirty="0">
                <a:solidFill>
                  <a:schemeClr val="bg1"/>
                </a:solidFill>
              </a:rPr>
              <a:t>Approve the sorting rule</a:t>
            </a:r>
            <a:endParaRPr lang="en-US" sz="1800" dirty="0"/>
          </a:p>
        </p:txBody>
      </p:sp>
      <p:sp>
        <p:nvSpPr>
          <p:cNvPr id="11" name="Text 8"/>
          <p:cNvSpPr/>
          <p:nvPr/>
        </p:nvSpPr>
        <p:spPr>
          <a:xfrm>
            <a:off x="8001000" y="338328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8732520" y="3291840"/>
            <a:ext cx="2697480" cy="731520"/>
          </a:xfrm>
          <a:prstGeom prst="rect">
            <a:avLst/>
          </a:prstGeom>
          <a:noFill/>
          <a:ln/>
        </p:spPr>
        <p:txBody>
          <a:bodyPr wrap="square" lIns="0" tIns="0" rIns="0" bIns="0" rtlCol="0" anchor="ctr"/>
          <a:lstStyle/>
          <a:p>
            <a:pPr indent="0" marL="0">
              <a:buNone/>
            </a:pPr>
            <a:r>
              <a:rPr lang="en-US" sz="1800" b="1" dirty="0">
                <a:solidFill>
                  <a:schemeClr val="bg1"/>
                </a:solidFill>
              </a:rPr>
              <a:t>Fund a capped ~$0.6M a year</a:t>
            </a:r>
            <a:endParaRPr lang="en-US" sz="1800" dirty="0"/>
          </a:p>
        </p:txBody>
      </p:sp>
      <p:sp>
        <p:nvSpPr>
          <p:cNvPr id="13" name="Text 10"/>
          <p:cNvSpPr/>
          <p:nvPr/>
        </p:nvSpPr>
        <p:spPr>
          <a:xfrm>
            <a:off x="8001000" y="434340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8732520" y="4251960"/>
            <a:ext cx="2697480" cy="731520"/>
          </a:xfrm>
          <a:prstGeom prst="rect">
            <a:avLst/>
          </a:prstGeom>
          <a:noFill/>
          <a:ln/>
        </p:spPr>
        <p:txBody>
          <a:bodyPr wrap="square" lIns="0" tIns="0" rIns="0" bIns="0" rtlCol="0" anchor="ctr"/>
          <a:lstStyle/>
          <a:p>
            <a:pPr indent="0" marL="0">
              <a:buNone/>
            </a:pPr>
            <a:r>
              <a:rPr lang="en-US" sz="1800" b="1" dirty="0">
                <a:solidFill>
                  <a:schemeClr val="bg1"/>
                </a:solidFill>
              </a:rPr>
              <a:t>Start Tijuana in Dec 2026</a:t>
            </a:r>
            <a:endParaRPr lang="en-US" sz="1800" dirty="0"/>
          </a:p>
        </p:txBody>
      </p:sp>
      <p:sp>
        <p:nvSpPr>
          <p:cNvPr id="15" name="Text 12"/>
          <p:cNvSpPr txBox="1"/>
          <p:nvPr/>
        </p:nvSpPr>
        <p:spPr>
          <a:xfrm>
            <a:off x="8001000" y="5394960"/>
            <a:ext cx="3383280" cy="548640"/>
          </a:xfrm>
          <a:prstGeom prst="rect">
            <a:avLst/>
          </a:prstGeom>
          <a:noFill/>
          <a:ln/>
        </p:spPr>
        <p:txBody>
          <a:bodyPr wrap="square" lIns="0" tIns="0" rIns="0" bIns="0" rtlCol="0" anchor="ctr"/>
          <a:lstStyle/>
          <a:p>
            <a:pPr indent="0" marL="0">
              <a:buNone/>
            </a:pPr>
            <a:r>
              <a:rPr lang="en-US" sz="1600" i="1" dirty="0">
                <a:solidFill>
                  <a:schemeClr val="accent4"/>
                </a:solidFill>
                <a:latin typeface="+mj-lt" pitchFamily="34" charset="0"/>
                <a:ea typeface="+mj-lt" pitchFamily="34" charset="-122"/>
                <a:cs typeface="+mj-lt" pitchFamily="34" charset="-120"/>
              </a:rPr>
              <a:t>The next Shenli gets caught earlier.</a:t>
            </a:r>
            <a:endParaRPr lang="en-US" sz="1600" dirty="0"/>
          </a:p>
        </p:txBody>
      </p:sp>
      <p:sp>
        <p:nvSpPr>
          <p:cNvPr id="16" name="Text 13"/>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EU Dir. 2024/825; FTC Green Guides; NHS Net Zero Supplier Roadmap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680960" cy="1371600"/>
          </a:xfrm>
          <a:prstGeom prst="rect">
            <a:avLst/>
          </a:prstGeom>
          <a:noFill/>
          <a:ln/>
        </p:spPr>
        <p:txBody>
          <a:bodyPr wrap="square" lIns="0" tIns="0" rIns="0" bIns="0" rtlCol="0" anchor="b"/>
          <a:lstStyle/>
          <a:p>
            <a:pPr algn="l" indent="0" marL="0">
              <a:buNone/>
            </a:pPr>
            <a:r>
              <a:rPr lang="en-US" sz="4800" b="1" dirty="0">
                <a:solidFill>
                  <a:schemeClr val="bg1"/>
                </a:solidFill>
                <a:latin typeface="+mj-lt" pitchFamily="34" charset="0"/>
                <a:ea typeface="+mj-lt" pitchFamily="34" charset="-122"/>
                <a:cs typeface="+mj-lt" pitchFamily="34" charset="-120"/>
              </a:rPr>
              <a:t>Questions</a:t>
            </a:r>
            <a:endParaRPr lang="en-US" sz="4800" dirty="0"/>
          </a:p>
        </p:txBody>
      </p:sp>
      <p:sp>
        <p:nvSpPr>
          <p:cNvPr id="3" name="Text 0"/>
          <p:cNvSpPr/>
          <p:nvPr>
            <p:ph idx="101" type="body" hasCustomPrompt="1"/>
          </p:nvPr>
        </p:nvSpPr>
        <p:spPr>
          <a:xfrm>
            <a:off x="640080" y="3246120"/>
            <a:ext cx="7680960" cy="914400"/>
          </a:xfrm>
          <a:prstGeom prst="rect">
            <a:avLst/>
          </a:prstGeom>
          <a:noFill/>
          <a:ln/>
        </p:spPr>
        <p:txBody>
          <a:bodyPr wrap="square" lIns="0" tIns="0" rIns="0" bIns="0" rtlCol="0" anchor="t"/>
          <a:lstStyle/>
          <a:p>
            <a:pPr algn="l" indent="0" marL="0">
              <a:buNone/>
            </a:pPr>
            <a:r>
              <a:rPr lang="en-US" sz="2200" dirty="0">
                <a:solidFill>
                  <a:schemeClr val="accent4"/>
                </a:solidFill>
              </a:rPr>
              <a:t>Sort every supplier with one rule, then help each one climb</a:t>
            </a:r>
            <a:endParaRPr lang="en-US" sz="2200" dirty="0"/>
          </a:p>
        </p:txBody>
      </p:sp>
      <p:sp>
        <p:nvSpPr>
          <p:cNvPr id="4" name="Shape 2"/>
          <p:cNvSpPr/>
          <p:nvPr/>
        </p:nvSpPr>
        <p:spPr>
          <a:xfrm>
            <a:off x="8595360" y="914400"/>
            <a:ext cx="139903" cy="5120640"/>
          </a:xfrm>
          <a:prstGeom prst="rect">
            <a:avLst/>
          </a:prstGeom>
          <a:solidFill>
            <a:schemeClr val="accent4"/>
          </a:solidFill>
          <a:ln/>
        </p:spPr>
      </p:sp>
      <p:sp>
        <p:nvSpPr>
          <p:cNvPr id="5" name="Shape 3"/>
          <p:cNvSpPr/>
          <p:nvPr/>
        </p:nvSpPr>
        <p:spPr>
          <a:xfrm>
            <a:off x="10009937" y="914400"/>
            <a:ext cx="139903" cy="5120640"/>
          </a:xfrm>
          <a:prstGeom prst="rect">
            <a:avLst/>
          </a:prstGeom>
          <a:solidFill>
            <a:schemeClr val="accent4"/>
          </a:solidFill>
          <a:ln/>
        </p:spPr>
      </p:sp>
      <p:sp>
        <p:nvSpPr>
          <p:cNvPr id="6" name="Shape 4"/>
          <p:cNvSpPr/>
          <p:nvPr/>
        </p:nvSpPr>
        <p:spPr>
          <a:xfrm>
            <a:off x="8735263" y="5305349"/>
            <a:ext cx="1274674" cy="179222"/>
          </a:xfrm>
          <a:prstGeom prst="rect">
            <a:avLst/>
          </a:prstGeom>
          <a:solidFill>
            <a:schemeClr val="accent4"/>
          </a:solidFill>
          <a:ln/>
        </p:spPr>
      </p:sp>
      <p:sp>
        <p:nvSpPr>
          <p:cNvPr id="7" name="Shape 5"/>
          <p:cNvSpPr/>
          <p:nvPr/>
        </p:nvSpPr>
        <p:spPr>
          <a:xfrm>
            <a:off x="8735263" y="4025189"/>
            <a:ext cx="1274674" cy="179222"/>
          </a:xfrm>
          <a:prstGeom prst="rect">
            <a:avLst/>
          </a:prstGeom>
          <a:solidFill>
            <a:schemeClr val="accent4"/>
          </a:solidFill>
          <a:ln/>
        </p:spPr>
      </p:sp>
      <p:sp>
        <p:nvSpPr>
          <p:cNvPr id="8" name="Shape 6"/>
          <p:cNvSpPr/>
          <p:nvPr/>
        </p:nvSpPr>
        <p:spPr>
          <a:xfrm>
            <a:off x="8735263" y="2745029"/>
            <a:ext cx="1274674" cy="179222"/>
          </a:xfrm>
          <a:prstGeom prst="rect">
            <a:avLst/>
          </a:prstGeom>
          <a:solidFill>
            <a:schemeClr val="accent4"/>
          </a:solidFill>
          <a:ln/>
        </p:spPr>
      </p:sp>
      <p:sp>
        <p:nvSpPr>
          <p:cNvPr id="9" name="Shape 7"/>
          <p:cNvSpPr/>
          <p:nvPr/>
        </p:nvSpPr>
        <p:spPr>
          <a:xfrm>
            <a:off x="8735263" y="1464869"/>
            <a:ext cx="1274674" cy="179222"/>
          </a:xfrm>
          <a:prstGeom prst="rect">
            <a:avLst/>
          </a:prstGeom>
          <a:solidFill>
            <a:schemeClr val="accent4"/>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B1 · How the sorting rule works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3657600"/>
                <a:gridCol w="5029200"/>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Factor</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Scores 1 (low)</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Scores 3 (high)</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Switching difficulty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Many qualified alternates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Sole-source; 9–12 months to requalify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Spend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Bottom of the spend list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 the top 78</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Country risk</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Low-risk country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Mexico, China (Merit's own climate-risk research)</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Readiness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Already rated on EcoVadis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 ESG staff, no emissions tracking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Text 1"/>
          <p:cNvSpPr txBox="1"/>
          <p:nvPr/>
        </p:nvSpPr>
        <p:spPr>
          <a:xfrm>
            <a:off x="548640" y="3749040"/>
            <a:ext cx="11064240" cy="548640"/>
          </a:xfrm>
          <a:prstGeom prst="rect">
            <a:avLst/>
          </a:prstGeom>
          <a:noFill/>
          <a:ln/>
        </p:spPr>
        <p:txBody>
          <a:bodyPr wrap="square" lIns="0" tIns="0" rIns="0" bIns="0" rtlCol="0" anchor="t"/>
          <a:lstStyle/>
          <a:p>
            <a:pPr indent="0" marL="0">
              <a:buNone/>
            </a:pPr>
            <a:r>
              <a:rPr lang="en-US" sz="1400" b="1" dirty="0">
                <a:solidFill>
                  <a:schemeClr val="tx2"/>
                </a:solidFill>
              </a:rPr>
              <a:t>Priority = Switching × Spend × Country risk (1–27).  </a:t>
            </a:r>
            <a:pPr indent="0" marL="0">
              <a:buNone/>
            </a:pPr>
            <a:r>
              <a:rPr lang="en-US" sz="1400" dirty="0">
                <a:solidFill>
                  <a:schemeClr val="tx1"/>
                </a:solidFill>
              </a:rPr>
              <a:t>Tier 2 = priority ≥ 8 and readiness low/moderate · Tier 1 = ready (already rated) · Tier 3 = everyone else. Thresholds are illustrative.</a:t>
            </a:r>
            <a:endParaRPr lang="en-US" sz="14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3931920"/>
                <a:gridCol w="1005840"/>
                <a:gridCol w="1005840"/>
                <a:gridCol w="1005840"/>
                <a:gridCol w="1097280"/>
                <a:gridCol w="1554480"/>
                <a:gridCol w="1463040"/>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Example (illustrative)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Switch</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Spend</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Priority</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Readiness</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Tier</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Tijuana molded-part maker, sole-source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Tier 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Large public US resin supplier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Tier 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Regional packaging supplier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Moderate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Tier 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6" name="Text 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2–3; team method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B2 · What peers do</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737360"/>
                <a:gridCol w="4480560"/>
                <a:gridCol w="484632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Company</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Result or target</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Stryker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Third-party ESG assessments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85% of direct spend by 2027 (~59% in 2024)</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Desktop ESG assessments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76% of spend assessed (FY24); goal 90% of eligible spend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Abbott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Risk screening + due diligence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&gt;90% of direct-material spend screened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J&amp;J</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EcoVadis for program suppliers + CDP disclosure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Assessment and emissions kept as separate asks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Philips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Four maturity categories, tailored support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504 suppliers in CDP program, 88% response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Medtronic</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Playbook: calculate → target → report → reduce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Support modules by supplier maturity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Schneider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Zero Carbon Project, ~1,000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700+ measured a footprint for the first time; 950 disclose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Text 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Company sustainability reports and filings; research/outside-research.md; Cameron's benchmark file</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B3 · Cost build and sensitivity</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583680" cy="914400"/>
        </p:xfrm>
        <a:graphic>
          <a:graphicData uri="http://schemas.openxmlformats.org/drawingml/2006/table">
            <a:tbl>
              <a:tblPr/>
              <a:tblGrid>
                <a:gridCol w="1920240"/>
                <a:gridCol w="3566160"/>
                <a:gridCol w="109728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Line item</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Basis</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$k / yr</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Tier-2 support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50 × ~$4.5k (subscription + specialist hours)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225</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Coordinators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 Utah + 1 Tijuana, loaded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165</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Impact measurement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Worker survey, IMSS data, comparison group</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Partners + contingency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Translation, workshops, buffer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~620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498080" y="1554480"/>
          <a:ext cx="4114800" cy="914400"/>
        </p:xfrm>
        <a:graphic>
          <a:graphicData uri="http://schemas.openxmlformats.org/drawingml/2006/table">
            <a:tbl>
              <a:tblPr/>
              <a:tblGrid>
                <a:gridCol w="1463040"/>
                <a:gridCol w="1280160"/>
                <a:gridCol w="137160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Tier 2 size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Cost / yr</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 op. income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25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$0.51M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0.16%</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50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$0.62M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100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$0.85M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5" name="Text 1"/>
          <p:cNvSpPr txBox="1"/>
          <p:nvPr/>
        </p:nvSpPr>
        <p:spPr>
          <a:xfrm>
            <a:off x="548640" y="4572000"/>
            <a:ext cx="11064240" cy="16459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Cross-check: Nolan's bottom-up model ≈ $73k for 12 intensive suppliers (~$6k each)</a:t>
            </a:r>
            <a:endParaRPr lang="en-US" sz="1400" dirty="0"/>
          </a:p>
          <a:p>
            <a:pPr marL="342900" indent="-342900">
              <a:spcAft>
                <a:spcPts val="400"/>
              </a:spcAft>
              <a:buSzPct val="100000"/>
              <a:buChar char="•"/>
            </a:pPr>
            <a:r>
              <a:rPr lang="en-US" sz="1400" dirty="0">
                <a:solidFill>
                  <a:schemeClr val="tx1"/>
                </a:solidFill>
              </a:rPr>
              <a:t>Breakeven: $0.62M ÷ ~$2.5M per sole-source failure (assumption) ≈ one caught earlier every 4 years</a:t>
            </a:r>
            <a:endParaRPr lang="en-US" sz="1400" dirty="0"/>
          </a:p>
          <a:p>
            <a:pPr marL="342900" indent="-342900">
              <a:spcAft>
                <a:spcPts val="400"/>
              </a:spcAft>
              <a:buSzPct val="100000"/>
              <a:buChar char="•"/>
            </a:pPr>
            <a:r>
              <a:rPr lang="en-US" sz="1400" dirty="0">
                <a:solidFill>
                  <a:schemeClr val="tx1"/>
                </a:solidFill>
              </a:rPr>
              <a:t>Scale of a failure: Merit revenue ≈ $4.15M a day; Baxter's one hurricane-hit plant ≈ $200M of lost sales</a:t>
            </a:r>
            <a:endParaRPr lang="en-US" sz="1400" dirty="0"/>
          </a:p>
          <a:p>
            <a:pPr marL="342900" indent="-342900">
              <a:spcAft>
                <a:spcPts val="400"/>
              </a:spcAft>
              <a:buSzPct val="100000"/>
              <a:buChar char="•"/>
            </a:pPr>
            <a:r>
              <a:rPr lang="en-US" sz="1400" dirty="0">
                <a:solidFill>
                  <a:schemeClr val="tx1"/>
                </a:solidFill>
              </a:rPr>
              <a:t>Operating income base ~$308M (non-GAAP, 2025); refresh with Q3 2026 results</a:t>
            </a:r>
            <a:endParaRPr lang="en-US" sz="1400" dirty="0"/>
          </a:p>
        </p:txBody>
      </p:sp>
      <p:sp>
        <p:nvSpPr>
          <p:cNvPr id="6" name="Text 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research/financials-value.md; supplier-support-budget-and-decisions.md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B4 · China plan (phase 2, 2027)</a:t>
            </a:r>
            <a:endParaRPr lang="en-US" sz="2800" dirty="0"/>
          </a:p>
        </p:txBody>
      </p:sp>
      <p:sp>
        <p:nvSpPr>
          <p:cNvPr id="3" name="Shape 1"/>
          <p:cNvSpPr/>
          <p:nvPr/>
        </p:nvSpPr>
        <p:spPr>
          <a:xfrm>
            <a:off x="548640" y="1645920"/>
            <a:ext cx="548640" cy="54864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69341" y="1766621"/>
            <a:ext cx="307238" cy="307238"/>
          </a:xfrm>
          <a:prstGeom prst="rect">
            <a:avLst/>
          </a:prstGeom>
        </p:spPr>
      </p:pic>
      <p:sp>
        <p:nvSpPr>
          <p:cNvPr id="5" name="Text 2"/>
          <p:cNvSpPr txBox="1"/>
          <p:nvPr/>
        </p:nvSpPr>
        <p:spPr>
          <a:xfrm>
            <a:off x="1325880" y="1554480"/>
            <a:ext cx="10241280" cy="868680"/>
          </a:xfrm>
          <a:prstGeom prst="rect">
            <a:avLst/>
          </a:prstGeom>
          <a:noFill/>
          <a:ln/>
        </p:spPr>
        <p:txBody>
          <a:bodyPr wrap="square" lIns="0" tIns="0" rIns="0" bIns="0" rtlCol="0" anchor="t"/>
          <a:lstStyle/>
          <a:p>
            <a:pPr indent="0" marL="0">
              <a:buNone/>
            </a:pPr>
            <a:r>
              <a:rPr lang="en-US" sz="1600" b="1" dirty="0">
                <a:solidFill>
                  <a:schemeClr val="tx2"/>
                </a:solidFill>
              </a:rPr>
              <a:t>Screen now: IPE Blue Map</a:t>
            </a:r>
            <a:endParaRPr lang="en-US" sz="1400" dirty="0"/>
          </a:p>
          <a:p>
            <a:pPr indent="0" marL="0">
              <a:buNone/>
            </a:pPr>
            <a:r>
              <a:rPr lang="en-US" sz="1400" dirty="0">
                <a:solidFill>
                  <a:schemeClr val="tx1"/>
                </a:solidFill>
              </a:rPr>
              <a:t>Beijing NGO database of government and company environmental records. Flags public violations; it is not a carbon inventory or a labor audit.</a:t>
            </a:r>
            <a:endParaRPr lang="en-US" sz="1400" dirty="0"/>
          </a:p>
        </p:txBody>
      </p:sp>
      <p:sp>
        <p:nvSpPr>
          <p:cNvPr id="6" name="Shape 3"/>
          <p:cNvSpPr/>
          <p:nvPr/>
        </p:nvSpPr>
        <p:spPr>
          <a:xfrm>
            <a:off x="548640" y="2578608"/>
            <a:ext cx="548640" cy="54864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669341" y="2699309"/>
            <a:ext cx="307238" cy="307238"/>
          </a:xfrm>
          <a:prstGeom prst="rect">
            <a:avLst/>
          </a:prstGeom>
        </p:spPr>
      </p:pic>
      <p:sp>
        <p:nvSpPr>
          <p:cNvPr id="8" name="Text 4"/>
          <p:cNvSpPr txBox="1"/>
          <p:nvPr/>
        </p:nvSpPr>
        <p:spPr>
          <a:xfrm>
            <a:off x="1325880" y="2487168"/>
            <a:ext cx="10241280" cy="868680"/>
          </a:xfrm>
          <a:prstGeom prst="rect">
            <a:avLst/>
          </a:prstGeom>
          <a:noFill/>
          <a:ln/>
        </p:spPr>
        <p:txBody>
          <a:bodyPr wrap="square" lIns="0" tIns="0" rIns="0" bIns="0" rtlCol="0" anchor="t"/>
          <a:lstStyle/>
          <a:p>
            <a:pPr indent="0" marL="0">
              <a:buNone/>
            </a:pPr>
            <a:r>
              <a:rPr lang="en-US" sz="1600" b="1" dirty="0">
                <a:solidFill>
                  <a:schemeClr val="tx2"/>
                </a:solidFill>
              </a:rPr>
              <a:t>Rate later: EcoVadis in Chinese</a:t>
            </a:r>
            <a:endParaRPr lang="en-US" sz="1400" dirty="0"/>
          </a:p>
          <a:p>
            <a:pPr indent="0" marL="0">
              <a:buNone/>
            </a:pPr>
            <a:r>
              <a:rPr lang="en-US" sz="1400" dirty="0">
                <a:solidFill>
                  <a:schemeClr val="tx1"/>
                </a:solidFill>
              </a:rPr>
              <a:t>Plus local consultant hours for the critical few, from 2027.</a:t>
            </a:r>
            <a:endParaRPr lang="en-US" sz="1400" dirty="0"/>
          </a:p>
        </p:txBody>
      </p:sp>
      <p:sp>
        <p:nvSpPr>
          <p:cNvPr id="9" name="Shape 5"/>
          <p:cNvSpPr/>
          <p:nvPr/>
        </p:nvSpPr>
        <p:spPr>
          <a:xfrm>
            <a:off x="548640" y="3511296"/>
            <a:ext cx="548640" cy="54864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669341" y="3631997"/>
            <a:ext cx="307238" cy="307238"/>
          </a:xfrm>
          <a:prstGeom prst="rect">
            <a:avLst/>
          </a:prstGeom>
        </p:spPr>
      </p:pic>
      <p:sp>
        <p:nvSpPr>
          <p:cNvPr id="11" name="Text 6"/>
          <p:cNvSpPr txBox="1"/>
          <p:nvPr/>
        </p:nvSpPr>
        <p:spPr>
          <a:xfrm>
            <a:off x="1325880" y="3419856"/>
            <a:ext cx="10241280" cy="868680"/>
          </a:xfrm>
          <a:prstGeom prst="rect">
            <a:avLst/>
          </a:prstGeom>
          <a:noFill/>
          <a:ln/>
        </p:spPr>
        <p:txBody>
          <a:bodyPr wrap="square" lIns="0" tIns="0" rIns="0" bIns="0" rtlCol="0" anchor="t"/>
          <a:lstStyle/>
          <a:p>
            <a:pPr indent="0" marL="0">
              <a:buNone/>
            </a:pPr>
            <a:r>
              <a:rPr lang="en-US" sz="1600" b="1" dirty="0">
                <a:solidFill>
                  <a:schemeClr val="tx2"/>
                </a:solidFill>
              </a:rPr>
              <a:t>Model: Philips × Zhejiang Haishun</a:t>
            </a:r>
            <a:endParaRPr lang="en-US" sz="1400" dirty="0"/>
          </a:p>
          <a:p>
            <a:pPr indent="0" marL="0">
              <a:buNone/>
            </a:pPr>
            <a:r>
              <a:rPr lang="en-US" sz="1400" dirty="0">
                <a:solidFill>
                  <a:schemeClr val="tx1"/>
                </a:solidFill>
              </a:rPr>
              <a:t>Collaboration over auditing; 120+ improvement opportunities found (savings were projected).</a:t>
            </a:r>
            <a:endParaRPr lang="en-US" sz="1400" dirty="0"/>
          </a:p>
        </p:txBody>
      </p:sp>
      <p:sp>
        <p:nvSpPr>
          <p:cNvPr id="12" name="Shape 7"/>
          <p:cNvSpPr/>
          <p:nvPr/>
        </p:nvSpPr>
        <p:spPr>
          <a:xfrm>
            <a:off x="548640" y="4443984"/>
            <a:ext cx="548640" cy="548640"/>
          </a:xfrm>
          <a:prstGeom prst="ellipse">
            <a:avLst/>
          </a:prstGeom>
          <a:solidFill>
            <a:schemeClr val="accent2"/>
          </a:solidFill>
          <a:ln/>
        </p:spPr>
      </p:sp>
      <p:pic>
        <p:nvPicPr>
          <p:cNvPr id="13" name="Image 3" descr="preencoded.png">    </p:cNvPr>
          <p:cNvPicPr>
            <a:picLocks noChangeAspect="1"/>
          </p:cNvPicPr>
          <p:nvPr/>
        </p:nvPicPr>
        <p:blipFill>
          <a:blip r:embed="rId4"/>
          <a:stretch>
            <a:fillRect/>
          </a:stretch>
        </p:blipFill>
        <p:spPr>
          <a:xfrm>
            <a:off x="669341" y="4564685"/>
            <a:ext cx="307238" cy="307238"/>
          </a:xfrm>
          <a:prstGeom prst="rect">
            <a:avLst/>
          </a:prstGeom>
        </p:spPr>
      </p:pic>
      <p:sp>
        <p:nvSpPr>
          <p:cNvPr id="14" name="Text 8"/>
          <p:cNvSpPr txBox="1"/>
          <p:nvPr/>
        </p:nvSpPr>
        <p:spPr>
          <a:xfrm>
            <a:off x="1325880" y="4352544"/>
            <a:ext cx="10241280" cy="868680"/>
          </a:xfrm>
          <a:prstGeom prst="rect">
            <a:avLst/>
          </a:prstGeom>
          <a:noFill/>
          <a:ln/>
        </p:spPr>
        <p:txBody>
          <a:bodyPr wrap="square" lIns="0" tIns="0" rIns="0" bIns="0" rtlCol="0" anchor="t"/>
          <a:lstStyle/>
          <a:p>
            <a:pPr indent="0" marL="0">
              <a:buNone/>
            </a:pPr>
            <a:r>
              <a:rPr lang="en-US" sz="1600" b="1" dirty="0">
                <a:solidFill>
                  <a:schemeClr val="tx2"/>
                </a:solidFill>
              </a:rPr>
              <a:t>Not RBA</a:t>
            </a:r>
            <a:endParaRPr lang="en-US" sz="1400" dirty="0"/>
          </a:p>
          <a:p>
            <a:pPr indent="0" marL="0">
              <a:buNone/>
            </a:pPr>
            <a:r>
              <a:rPr lang="en-US" sz="1400" dirty="0">
                <a:solidFill>
                  <a:schemeClr val="tx1"/>
                </a:solidFill>
              </a:rPr>
              <a:t>Placed on China's MOFCOM countermeasure list (Aug 2026). Single source; verify before citing.</a:t>
            </a:r>
            <a:endParaRPr lang="en-US" sz="1400" dirty="0"/>
          </a:p>
        </p:txBody>
      </p:sp>
      <p:sp>
        <p:nvSpPr>
          <p:cNvPr id="15" name="Shape 9"/>
          <p:cNvSpPr/>
          <p:nvPr/>
        </p:nvSpPr>
        <p:spPr>
          <a:xfrm>
            <a:off x="548640" y="5376672"/>
            <a:ext cx="548640" cy="548640"/>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669341" y="5497373"/>
            <a:ext cx="307238" cy="307238"/>
          </a:xfrm>
          <a:prstGeom prst="rect">
            <a:avLst/>
          </a:prstGeom>
        </p:spPr>
      </p:pic>
      <p:sp>
        <p:nvSpPr>
          <p:cNvPr id="17" name="Text 10"/>
          <p:cNvSpPr txBox="1"/>
          <p:nvPr/>
        </p:nvSpPr>
        <p:spPr>
          <a:xfrm>
            <a:off x="1325880" y="5285232"/>
            <a:ext cx="10241280" cy="868680"/>
          </a:xfrm>
          <a:prstGeom prst="rect">
            <a:avLst/>
          </a:prstGeom>
          <a:noFill/>
          <a:ln/>
        </p:spPr>
        <p:txBody>
          <a:bodyPr wrap="square" lIns="0" tIns="0" rIns="0" bIns="0" rtlCol="0" anchor="t"/>
          <a:lstStyle/>
          <a:p>
            <a:pPr indent="0" marL="0">
              <a:buNone/>
            </a:pPr>
            <a:r>
              <a:rPr lang="en-US" sz="1600" b="1" dirty="0">
                <a:solidFill>
                  <a:schemeClr val="tx2"/>
                </a:solidFill>
              </a:rPr>
              <a:t>UFLPA screening from day 1</a:t>
            </a:r>
            <a:endParaRPr lang="en-US" sz="1400" dirty="0"/>
          </a:p>
          <a:p>
            <a:pPr indent="0" marL="0">
              <a:buNone/>
            </a:pPr>
            <a:r>
              <a:rPr lang="en-US" sz="1400" dirty="0">
                <a:solidFill>
                  <a:schemeClr val="tx1"/>
                </a:solidFill>
              </a:rPr>
              <a:t>Check every China supplier against the entity list.</a:t>
            </a:r>
            <a:endParaRPr lang="en-US" sz="1400" dirty="0"/>
          </a:p>
        </p:txBody>
      </p:sp>
      <p:sp>
        <p:nvSpPr>
          <p:cNvPr id="18" name="Text 1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IPE; Philips Dec 2021; research/analogues-mexico-china.md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B5 · EcoVadis mechanics</a:t>
            </a:r>
            <a:endParaRPr lang="en-US" sz="2800" dirty="0"/>
          </a:p>
        </p:txBody>
      </p:sp>
      <p:sp>
        <p:nvSpPr>
          <p:cNvPr id="3" name="Shape 1"/>
          <p:cNvSpPr/>
          <p:nvPr/>
        </p:nvSpPr>
        <p:spPr>
          <a:xfrm>
            <a:off x="548640" y="1554480"/>
            <a:ext cx="3566160" cy="3291840"/>
          </a:xfrm>
          <a:prstGeom prst="roundRect">
            <a:avLst>
              <a:gd name="adj" fmla="val 2222"/>
            </a:avLst>
          </a:prstGeom>
          <a:solidFill>
            <a:schemeClr val="bg2"/>
          </a:solidFill>
          <a:ln/>
        </p:spPr>
      </p:sp>
      <p:sp>
        <p:nvSpPr>
          <p:cNvPr id="4" name="Text 2"/>
          <p:cNvSpPr txBox="1"/>
          <p:nvPr/>
        </p:nvSpPr>
        <p:spPr>
          <a:xfrm>
            <a:off x="822960" y="173736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Vitals</a:t>
            </a:r>
            <a:endParaRPr lang="en-US" sz="1800" dirty="0"/>
          </a:p>
        </p:txBody>
      </p:sp>
      <p:sp>
        <p:nvSpPr>
          <p:cNvPr id="5" name="Text 3"/>
          <p:cNvSpPr txBox="1"/>
          <p:nvPr/>
        </p:nvSpPr>
        <p:spPr>
          <a:xfrm>
            <a:off x="822960" y="2286000"/>
            <a:ext cx="30632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≤30-minute questionnaire, under 20 questions, 14 languages</a:t>
            </a:r>
            <a:endParaRPr lang="en-US" sz="1400" dirty="0"/>
          </a:p>
          <a:p>
            <a:pPr marL="342900" indent="-342900">
              <a:spcAft>
                <a:spcPts val="800"/>
              </a:spcAft>
              <a:buSzPct val="100000"/>
              <a:buChar char="•"/>
            </a:pPr>
            <a:r>
              <a:rPr lang="en-US" sz="1400" dirty="0">
                <a:solidFill>
                  <a:schemeClr val="tx1"/>
                </a:solidFill>
              </a:rPr>
              <a:t>Risk profile; the on-ramp for small suppliers</a:t>
            </a:r>
            <a:endParaRPr lang="en-US" sz="1400" dirty="0"/>
          </a:p>
          <a:p>
            <a:pPr marL="342900" indent="-342900">
              <a:spcAft>
                <a:spcPts val="800"/>
              </a:spcAft>
              <a:buSzPct val="100000"/>
              <a:buChar char="•"/>
            </a:pPr>
            <a:r>
              <a:rPr lang="en-US" sz="1400" dirty="0">
                <a:solidFill>
                  <a:schemeClr val="tx1"/>
                </a:solidFill>
              </a:rPr>
              <a:t>Price needs a quote</a:t>
            </a:r>
            <a:endParaRPr lang="en-US" sz="1400" dirty="0"/>
          </a:p>
        </p:txBody>
      </p:sp>
      <p:sp>
        <p:nvSpPr>
          <p:cNvPr id="6" name="Shape 4"/>
          <p:cNvSpPr/>
          <p:nvPr/>
        </p:nvSpPr>
        <p:spPr>
          <a:xfrm>
            <a:off x="4315968" y="1554480"/>
            <a:ext cx="3566160" cy="3291840"/>
          </a:xfrm>
          <a:prstGeom prst="roundRect">
            <a:avLst>
              <a:gd name="adj" fmla="val 2222"/>
            </a:avLst>
          </a:prstGeom>
          <a:solidFill>
            <a:schemeClr val="bg2"/>
          </a:solidFill>
          <a:ln/>
        </p:spPr>
      </p:sp>
      <p:sp>
        <p:nvSpPr>
          <p:cNvPr id="7" name="Text 5"/>
          <p:cNvSpPr txBox="1"/>
          <p:nvPr/>
        </p:nvSpPr>
        <p:spPr>
          <a:xfrm>
            <a:off x="4590288" y="173736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Full rating</a:t>
            </a:r>
            <a:endParaRPr lang="en-US" sz="1800" dirty="0"/>
          </a:p>
        </p:txBody>
      </p:sp>
      <p:sp>
        <p:nvSpPr>
          <p:cNvPr id="8" name="Text 6"/>
          <p:cNvSpPr txBox="1"/>
          <p:nvPr/>
        </p:nvSpPr>
        <p:spPr>
          <a:xfrm>
            <a:off x="4590288" y="2286000"/>
            <a:ext cx="30632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Environment, labor and human rights, ethics, sustainable procurement</a:t>
            </a:r>
            <a:endParaRPr lang="en-US" sz="1400" dirty="0"/>
          </a:p>
          <a:p>
            <a:pPr marL="342900" indent="-342900">
              <a:spcAft>
                <a:spcPts val="800"/>
              </a:spcAft>
              <a:buSzPct val="100000"/>
              <a:buChar char="•"/>
            </a:pPr>
            <a:r>
              <a:rPr lang="en-US" sz="1400" dirty="0">
                <a:solidFill>
                  <a:schemeClr val="tx1"/>
                </a:solidFill>
              </a:rPr>
              <a:t>Evidence reviewed by EcoVadis analysts; questionnaire-only documents are rejected</a:t>
            </a:r>
            <a:endParaRPr lang="en-US" sz="1400" dirty="0"/>
          </a:p>
          <a:p>
            <a:pPr marL="342900" indent="-342900">
              <a:spcAft>
                <a:spcPts val="800"/>
              </a:spcAft>
              <a:buSzPct val="100000"/>
              <a:buChar char="•"/>
            </a:pPr>
            <a:r>
              <a:rPr lang="en-US" sz="1400" dirty="0">
                <a:solidFill>
                  <a:schemeClr val="tx1"/>
                </a:solidFill>
              </a:rPr>
              <a:t>Score 0–100; we ask for ≥45</a:t>
            </a:r>
            <a:endParaRPr lang="en-US" sz="1400" dirty="0"/>
          </a:p>
        </p:txBody>
      </p:sp>
      <p:sp>
        <p:nvSpPr>
          <p:cNvPr id="9" name="Shape 7"/>
          <p:cNvSpPr/>
          <p:nvPr/>
        </p:nvSpPr>
        <p:spPr>
          <a:xfrm>
            <a:off x="8083296" y="1554480"/>
            <a:ext cx="3566160" cy="3291840"/>
          </a:xfrm>
          <a:prstGeom prst="roundRect">
            <a:avLst>
              <a:gd name="adj" fmla="val 2222"/>
            </a:avLst>
          </a:prstGeom>
          <a:solidFill>
            <a:schemeClr val="bg2"/>
          </a:solidFill>
          <a:ln/>
        </p:spPr>
      </p:sp>
      <p:sp>
        <p:nvSpPr>
          <p:cNvPr id="10" name="Text 8"/>
          <p:cNvSpPr txBox="1"/>
          <p:nvPr/>
        </p:nvSpPr>
        <p:spPr>
          <a:xfrm>
            <a:off x="8357616" y="173736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Carbon Action Manager</a:t>
            </a:r>
            <a:endParaRPr lang="en-US" sz="1800" dirty="0"/>
          </a:p>
        </p:txBody>
      </p:sp>
      <p:sp>
        <p:nvSpPr>
          <p:cNvPr id="11" name="Text 9"/>
          <p:cNvSpPr txBox="1"/>
          <p:nvPr/>
        </p:nvSpPr>
        <p:spPr>
          <a:xfrm>
            <a:off x="8357616" y="2286000"/>
            <a:ext cx="30632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Supplier emissions figures with reliability levels</a:t>
            </a:r>
            <a:endParaRPr lang="en-US" sz="1400" dirty="0"/>
          </a:p>
          <a:p>
            <a:pPr marL="342900" indent="-342900">
              <a:spcAft>
                <a:spcPts val="800"/>
              </a:spcAft>
              <a:buSzPct val="100000"/>
              <a:buChar char="•"/>
            </a:pPr>
            <a:r>
              <a:rPr lang="en-US" sz="1400" dirty="0">
                <a:solidFill>
                  <a:schemeClr val="tx1"/>
                </a:solidFill>
              </a:rPr>
              <a:t>Feeds Scope 3; a rating is not emissions data</a:t>
            </a:r>
            <a:endParaRPr lang="en-US" sz="1400" dirty="0"/>
          </a:p>
          <a:p>
            <a:pPr marL="342900" indent="-342900">
              <a:spcAft>
                <a:spcPts val="800"/>
              </a:spcAft>
              <a:buSzPct val="100000"/>
              <a:buChar char="•"/>
            </a:pPr>
            <a:r>
              <a:rPr lang="en-US" sz="1400" dirty="0">
                <a:solidFill>
                  <a:schemeClr val="tx1"/>
                </a:solidFill>
              </a:rPr>
              <a:t>Confirm Merit's subscription and exports</a:t>
            </a:r>
            <a:endParaRPr lang="en-US" sz="1400" dirty="0"/>
          </a:p>
        </p:txBody>
      </p:sp>
      <p:sp>
        <p:nvSpPr>
          <p:cNvPr id="12" name="Text 10"/>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EcoVadis support center; supplier-emissions-data-and-ecovadis.md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B6 · Mexico specifics</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468880"/>
                <a:gridCol w="4754880"/>
                <a:gridCol w="3840480"/>
              </a:tblGrid>
              <a:tr h="7315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What's true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How we use it</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IFC–INA–SE supplier program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Automotive anchor-firm program (Aug 2025): diagnostics, training, mentoring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Model it; ask IFC for a medtech track. Access unconfirmed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NAFIN Cadenas Productivas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Fee-free reverse factoring priced off the buyer's credit. SME loans ~14.4% vs TIIE 6.76%</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Earlier payment for completers. The ESG link is our design</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Labor reform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Legal week 48 → 46 hrs (2027) → 40 hrs (2030)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Help suppliers comply; tripwire: weekly pay holds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Local reporting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SEMARNAT RENE (threshold-based), NIF/NIS, CNBV: applies case by case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Check which applies per supplier; none replaces EcoVadis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Local help</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Baja California certification reimbursement (conditional); SGS / KPMG Mexico; medical-device cluster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Bonuses, not load-bearing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Text 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research/analogues-mexico-china.md; supplier-emissions-data-and-ecovadis.md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B7 · Scope 3 method: estimate first, then replace with supplier data</a:t>
            </a:r>
            <a:endParaRPr lang="en-US" sz="2800" dirty="0"/>
          </a:p>
        </p:txBody>
      </p:sp>
      <p:sp>
        <p:nvSpPr>
          <p:cNvPr id="3" name="Text 1"/>
          <p:cNvSpPr/>
          <p:nvPr/>
        </p:nvSpPr>
        <p:spPr>
          <a:xfrm>
            <a:off x="548640" y="1645920"/>
            <a:ext cx="3383280" cy="1828800"/>
          </a:xfrm>
          <a:prstGeom prst="roundRect">
            <a:avLst>
              <a:gd name="adj" fmla="val 5000"/>
            </a:avLst>
          </a:prstGeom>
          <a:solidFill>
            <a:schemeClr val="accent3"/>
          </a:solidFill>
          <a:ln/>
        </p:spPr>
        <p:txBody>
          <a:bodyPr wrap="square" lIns="177800" tIns="177800" rIns="177800" bIns="177800" rtlCol="0" anchor="ctr"/>
          <a:lstStyle/>
          <a:p>
            <a:pPr algn="l" indent="0" marL="0">
              <a:buNone/>
            </a:pPr>
            <a:r>
              <a:rPr lang="en-US" sz="1800" b="1" dirty="0">
                <a:solidFill>
                  <a:schemeClr val="bg1"/>
                </a:solidFill>
              </a:rPr>
              <a:t>Spend-based (now)</a:t>
            </a:r>
            <a:endParaRPr lang="en-US" sz="1800" dirty="0"/>
          </a:p>
          <a:p>
            <a:pPr algn="l" indent="0" marL="0">
              <a:buNone/>
            </a:pPr>
            <a:r>
              <a:rPr lang="en-US" sz="1400" dirty="0">
                <a:solidFill>
                  <a:schemeClr val="bg1"/>
                </a:solidFill>
              </a:rPr>
              <a:t>Spend × sector emission factor. Labeled as an estimate.</a:t>
            </a:r>
            <a:endParaRPr lang="en-US" sz="1800" dirty="0"/>
          </a:p>
        </p:txBody>
      </p:sp>
      <p:sp>
        <p:nvSpPr>
          <p:cNvPr id="4" name="Shape 2"/>
          <p:cNvSpPr/>
          <p:nvPr/>
        </p:nvSpPr>
        <p:spPr>
          <a:xfrm>
            <a:off x="3977640" y="2377440"/>
            <a:ext cx="292608" cy="365760"/>
          </a:xfrm>
          <a:prstGeom prst="rightArrow">
            <a:avLst/>
          </a:prstGeom>
          <a:solidFill>
            <a:schemeClr val="accent3"/>
          </a:solidFill>
          <a:ln/>
        </p:spPr>
      </p:sp>
      <p:sp>
        <p:nvSpPr>
          <p:cNvPr id="5" name="Text 3"/>
          <p:cNvSpPr/>
          <p:nvPr/>
        </p:nvSpPr>
        <p:spPr>
          <a:xfrm>
            <a:off x="4315968" y="1645920"/>
            <a:ext cx="3383280" cy="1828800"/>
          </a:xfrm>
          <a:prstGeom prst="roundRect">
            <a:avLst>
              <a:gd name="adj" fmla="val 5000"/>
            </a:avLst>
          </a:prstGeom>
          <a:solidFill>
            <a:schemeClr val="accent4"/>
          </a:solidFill>
          <a:ln/>
        </p:spPr>
        <p:txBody>
          <a:bodyPr wrap="square" lIns="177800" tIns="177800" rIns="177800" bIns="177800" rtlCol="0" anchor="ctr"/>
          <a:lstStyle/>
          <a:p>
            <a:pPr algn="l" indent="0" marL="0">
              <a:buNone/>
            </a:pPr>
            <a:r>
              <a:rPr lang="en-US" sz="1800" b="1" dirty="0">
                <a:solidFill>
                  <a:schemeClr val="bg1"/>
                </a:solidFill>
              </a:rPr>
              <a:t>Hybrid (2027)</a:t>
            </a:r>
            <a:endParaRPr lang="en-US" sz="1800" dirty="0"/>
          </a:p>
          <a:p>
            <a:pPr algn="l" indent="0" marL="0">
              <a:buNone/>
            </a:pPr>
            <a:r>
              <a:rPr lang="en-US" sz="1400" dirty="0">
                <a:solidFill>
                  <a:schemeClr val="bg1"/>
                </a:solidFill>
              </a:rPr>
              <a:t>Supplier activity data (kWh, fuel) for critical and top suppliers.</a:t>
            </a:r>
            <a:endParaRPr lang="en-US" sz="1800" dirty="0"/>
          </a:p>
        </p:txBody>
      </p:sp>
      <p:sp>
        <p:nvSpPr>
          <p:cNvPr id="6" name="Shape 4"/>
          <p:cNvSpPr/>
          <p:nvPr/>
        </p:nvSpPr>
        <p:spPr>
          <a:xfrm>
            <a:off x="7744968" y="2377440"/>
            <a:ext cx="292608" cy="365760"/>
          </a:xfrm>
          <a:prstGeom prst="rightArrow">
            <a:avLst/>
          </a:prstGeom>
          <a:solidFill>
            <a:schemeClr val="accent3"/>
          </a:solidFill>
          <a:ln/>
        </p:spPr>
      </p:sp>
      <p:sp>
        <p:nvSpPr>
          <p:cNvPr id="7" name="Text 5"/>
          <p:cNvSpPr/>
          <p:nvPr/>
        </p:nvSpPr>
        <p:spPr>
          <a:xfrm>
            <a:off x="8083296" y="1645920"/>
            <a:ext cx="3383280" cy="1828800"/>
          </a:xfrm>
          <a:prstGeom prst="roundRect">
            <a:avLst>
              <a:gd name="adj" fmla="val 5000"/>
            </a:avLst>
          </a:prstGeom>
          <a:solidFill>
            <a:schemeClr val="accent1"/>
          </a:solidFill>
          <a:ln/>
        </p:spPr>
        <p:txBody>
          <a:bodyPr wrap="square" lIns="177800" tIns="177800" rIns="177800" bIns="177800" rtlCol="0" anchor="ctr"/>
          <a:lstStyle/>
          <a:p>
            <a:pPr algn="l" indent="0" marL="0">
              <a:buNone/>
            </a:pPr>
            <a:r>
              <a:rPr lang="en-US" sz="1800" b="1" dirty="0">
                <a:solidFill>
                  <a:schemeClr val="bg1"/>
                </a:solidFill>
              </a:rPr>
              <a:t>Supplier-specific</a:t>
            </a:r>
            <a:endParaRPr lang="en-US" sz="1800" dirty="0"/>
          </a:p>
          <a:p>
            <a:pPr algn="l" indent="0" marL="0">
              <a:buNone/>
            </a:pPr>
            <a:r>
              <a:rPr lang="en-US" sz="1400" dirty="0">
                <a:solidFill>
                  <a:schemeClr val="bg1"/>
                </a:solidFill>
              </a:rPr>
              <a:t>Traceable packs, allocated to what Merit actually buys.</a:t>
            </a:r>
            <a:endParaRPr lang="en-US" sz="1800" dirty="0"/>
          </a:p>
        </p:txBody>
      </p:sp>
      <p:sp>
        <p:nvSpPr>
          <p:cNvPr id="8" name="Text 6"/>
          <p:cNvSpPr txBox="1"/>
          <p:nvPr/>
        </p:nvSpPr>
        <p:spPr>
          <a:xfrm>
            <a:off x="548640" y="3840480"/>
            <a:ext cx="1106424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 supplier's whole footprint isn't Merit's: allocate by what Merit buys</a:t>
            </a:r>
            <a:endParaRPr lang="en-US" sz="1500" dirty="0"/>
          </a:p>
          <a:p>
            <a:pPr marL="342900" indent="-342900">
              <a:spcAft>
                <a:spcPts val="800"/>
              </a:spcAft>
              <a:buSzPct val="100000"/>
              <a:buChar char="•"/>
            </a:pPr>
            <a:r>
              <a:rPr lang="en-US" sz="1500" dirty="0">
                <a:solidFill>
                  <a:schemeClr val="tx1"/>
                </a:solidFill>
              </a:rPr>
              <a:t>Missing data isn't zero: keep the estimate until a supplier figure replaces it</a:t>
            </a:r>
            <a:endParaRPr lang="en-US" sz="1500" dirty="0"/>
          </a:p>
          <a:p>
            <a:pPr marL="342900" indent="-342900">
              <a:spcAft>
                <a:spcPts val="800"/>
              </a:spcAft>
              <a:buSzPct val="100000"/>
              <a:buChar char="•"/>
            </a:pPr>
            <a:r>
              <a:rPr lang="en-US" sz="1500" dirty="0">
                <a:solidFill>
                  <a:schemeClr val="tx1"/>
                </a:solidFill>
              </a:rPr>
              <a:t>Report the mix every year: % from supplier data vs % estimated</a:t>
            </a:r>
            <a:endParaRPr lang="en-US" sz="1500" dirty="0"/>
          </a:p>
          <a:p>
            <a:pPr marL="342900" indent="-342900">
              <a:spcAft>
                <a:spcPts val="800"/>
              </a:spcAft>
              <a:buSzPct val="100000"/>
              <a:buChar char="•"/>
            </a:pPr>
            <a:r>
              <a:rPr lang="en-US" sz="1500" dirty="0">
                <a:solidFill>
                  <a:schemeClr val="tx1"/>
                </a:solidFill>
              </a:rPr>
              <a:t>A traceable calculation can be checked; independent assurance is a separate, later step</a:t>
            </a:r>
            <a:endParaRPr lang="en-US" sz="1500" dirty="0"/>
          </a:p>
        </p:txBody>
      </p:sp>
      <p:sp>
        <p:nvSpPr>
          <p:cNvPr id="9" name="Text 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GHG Protocol Scope 3 Category 1 guidance; supplier-emissions-data-and-ecovadis.md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B8 · How the Ladder reflects HEART</a:t>
            </a:r>
            <a:endParaRPr lang="en-US" sz="2800" dirty="0"/>
          </a:p>
        </p:txBody>
      </p:sp>
      <p:sp>
        <p:nvSpPr>
          <p:cNvPr id="3" name="Text 1"/>
          <p:cNvSpPr/>
          <p:nvPr/>
        </p:nvSpPr>
        <p:spPr>
          <a:xfrm>
            <a:off x="548640" y="160020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H</a:t>
            </a:r>
            <a:endParaRPr lang="en-US" sz="2400" dirty="0"/>
          </a:p>
        </p:txBody>
      </p:sp>
      <p:sp>
        <p:nvSpPr>
          <p:cNvPr id="4" name="Text 2"/>
          <p:cNvSpPr txBox="1"/>
          <p:nvPr/>
        </p:nvSpPr>
        <p:spPr>
          <a:xfrm>
            <a:off x="1463040" y="1554480"/>
            <a:ext cx="10058400" cy="777240"/>
          </a:xfrm>
          <a:prstGeom prst="rect">
            <a:avLst/>
          </a:prstGeom>
          <a:noFill/>
          <a:ln/>
        </p:spPr>
        <p:txBody>
          <a:bodyPr wrap="square" lIns="0" tIns="0" rIns="0" bIns="0" rtlCol="0" anchor="ctr"/>
          <a:lstStyle/>
          <a:p>
            <a:pPr indent="0" marL="0">
              <a:buNone/>
            </a:pPr>
            <a:r>
              <a:rPr lang="en-US" sz="1700" b="1" dirty="0">
                <a:solidFill>
                  <a:schemeClr val="tx2"/>
                </a:solidFill>
              </a:rPr>
              <a:t>Health</a:t>
            </a:r>
            <a:endParaRPr lang="en-US" sz="1500" dirty="0"/>
          </a:p>
          <a:p>
            <a:pPr indent="0" marL="0">
              <a:buNone/>
            </a:pPr>
            <a:r>
              <a:rPr lang="en-US" sz="1500" dirty="0">
                <a:solidFill>
                  <a:schemeClr val="tx1"/>
                </a:solidFill>
              </a:rPr>
              <a:t>Workers in supplier plants are protected, and devices keep reaching patients</a:t>
            </a:r>
            <a:endParaRPr lang="en-US" sz="1500" dirty="0"/>
          </a:p>
        </p:txBody>
      </p:sp>
      <p:sp>
        <p:nvSpPr>
          <p:cNvPr id="5" name="Text 3"/>
          <p:cNvSpPr/>
          <p:nvPr/>
        </p:nvSpPr>
        <p:spPr>
          <a:xfrm>
            <a:off x="548640" y="251460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E</a:t>
            </a:r>
            <a:endParaRPr lang="en-US" sz="2400" dirty="0"/>
          </a:p>
        </p:txBody>
      </p:sp>
      <p:sp>
        <p:nvSpPr>
          <p:cNvPr id="6" name="Text 4"/>
          <p:cNvSpPr txBox="1"/>
          <p:nvPr/>
        </p:nvSpPr>
        <p:spPr>
          <a:xfrm>
            <a:off x="1463040" y="2468880"/>
            <a:ext cx="10058400" cy="777240"/>
          </a:xfrm>
          <a:prstGeom prst="rect">
            <a:avLst/>
          </a:prstGeom>
          <a:noFill/>
          <a:ln/>
        </p:spPr>
        <p:txBody>
          <a:bodyPr wrap="square" lIns="0" tIns="0" rIns="0" bIns="0" rtlCol="0" anchor="ctr"/>
          <a:lstStyle/>
          <a:p>
            <a:pPr indent="0" marL="0">
              <a:buNone/>
            </a:pPr>
            <a:r>
              <a:rPr lang="en-US" sz="1700" b="1" dirty="0">
                <a:solidFill>
                  <a:schemeClr val="tx2"/>
                </a:solidFill>
              </a:rPr>
              <a:t>Excellence</a:t>
            </a:r>
            <a:endParaRPr lang="en-US" sz="1500" dirty="0"/>
          </a:p>
          <a:p>
            <a:pPr indent="0" marL="0">
              <a:buNone/>
            </a:pPr>
            <a:r>
              <a:rPr lang="en-US" sz="1500" dirty="0">
                <a:solidFill>
                  <a:schemeClr val="tx1"/>
                </a:solidFill>
              </a:rPr>
              <a:t>The same bar for every partner, phased in</a:t>
            </a:r>
            <a:endParaRPr lang="en-US" sz="1500" dirty="0"/>
          </a:p>
        </p:txBody>
      </p:sp>
      <p:sp>
        <p:nvSpPr>
          <p:cNvPr id="7" name="Text 5"/>
          <p:cNvSpPr/>
          <p:nvPr/>
        </p:nvSpPr>
        <p:spPr>
          <a:xfrm>
            <a:off x="548640" y="342900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A</a:t>
            </a:r>
            <a:endParaRPr lang="en-US" sz="2400" dirty="0"/>
          </a:p>
        </p:txBody>
      </p:sp>
      <p:sp>
        <p:nvSpPr>
          <p:cNvPr id="8" name="Text 6"/>
          <p:cNvSpPr txBox="1"/>
          <p:nvPr/>
        </p:nvSpPr>
        <p:spPr>
          <a:xfrm>
            <a:off x="1463040" y="3383280"/>
            <a:ext cx="10058400" cy="777240"/>
          </a:xfrm>
          <a:prstGeom prst="rect">
            <a:avLst/>
          </a:prstGeom>
          <a:noFill/>
          <a:ln/>
        </p:spPr>
        <p:txBody>
          <a:bodyPr wrap="square" lIns="0" tIns="0" rIns="0" bIns="0" rtlCol="0" anchor="ctr"/>
          <a:lstStyle/>
          <a:p>
            <a:pPr indent="0" marL="0">
              <a:buNone/>
            </a:pPr>
            <a:r>
              <a:rPr lang="en-US" sz="1700" b="1" dirty="0">
                <a:solidFill>
                  <a:schemeClr val="tx2"/>
                </a:solidFill>
              </a:rPr>
              <a:t>Agility</a:t>
            </a:r>
            <a:endParaRPr lang="en-US" sz="1500" dirty="0"/>
          </a:p>
          <a:p>
            <a:pPr indent="0" marL="0">
              <a:buNone/>
            </a:pPr>
            <a:r>
              <a:rPr lang="en-US" sz="1500" dirty="0">
                <a:solidFill>
                  <a:schemeClr val="tx1"/>
                </a:solidFill>
              </a:rPr>
              <a:t>Country-by-country risk is built into the sorting rule</a:t>
            </a:r>
            <a:endParaRPr lang="en-US" sz="1500" dirty="0"/>
          </a:p>
        </p:txBody>
      </p:sp>
      <p:sp>
        <p:nvSpPr>
          <p:cNvPr id="9" name="Text 7"/>
          <p:cNvSpPr/>
          <p:nvPr/>
        </p:nvSpPr>
        <p:spPr>
          <a:xfrm>
            <a:off x="548640" y="434340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R</a:t>
            </a:r>
            <a:endParaRPr lang="en-US" sz="2400" dirty="0"/>
          </a:p>
        </p:txBody>
      </p:sp>
      <p:sp>
        <p:nvSpPr>
          <p:cNvPr id="10" name="Text 8"/>
          <p:cNvSpPr txBox="1"/>
          <p:nvPr/>
        </p:nvSpPr>
        <p:spPr>
          <a:xfrm>
            <a:off x="1463040" y="4297680"/>
            <a:ext cx="10058400" cy="777240"/>
          </a:xfrm>
          <a:prstGeom prst="rect">
            <a:avLst/>
          </a:prstGeom>
          <a:noFill/>
          <a:ln/>
        </p:spPr>
        <p:txBody>
          <a:bodyPr wrap="square" lIns="0" tIns="0" rIns="0" bIns="0" rtlCol="0" anchor="ctr"/>
          <a:lstStyle/>
          <a:p>
            <a:pPr indent="0" marL="0">
              <a:buNone/>
            </a:pPr>
            <a:r>
              <a:rPr lang="en-US" sz="1700" b="1" dirty="0">
                <a:solidFill>
                  <a:schemeClr val="tx2"/>
                </a:solidFill>
              </a:rPr>
              <a:t>Responsibility</a:t>
            </a:r>
            <a:endParaRPr lang="en-US" sz="1500" dirty="0"/>
          </a:p>
          <a:p>
            <a:pPr indent="0" marL="0">
              <a:buNone/>
            </a:pPr>
            <a:r>
              <a:rPr lang="en-US" sz="1500" dirty="0">
                <a:solidFill>
                  <a:schemeClr val="tx1"/>
                </a:solidFill>
              </a:rPr>
              <a:t>A real Scope 3 baseline, reported honestly, gaps included</a:t>
            </a:r>
            <a:endParaRPr lang="en-US" sz="1500" dirty="0"/>
          </a:p>
        </p:txBody>
      </p:sp>
      <p:sp>
        <p:nvSpPr>
          <p:cNvPr id="11" name="Text 9"/>
          <p:cNvSpPr/>
          <p:nvPr/>
        </p:nvSpPr>
        <p:spPr>
          <a:xfrm>
            <a:off x="548640" y="525780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T</a:t>
            </a:r>
            <a:endParaRPr lang="en-US" sz="2400" dirty="0"/>
          </a:p>
        </p:txBody>
      </p:sp>
      <p:sp>
        <p:nvSpPr>
          <p:cNvPr id="12" name="Text 10"/>
          <p:cNvSpPr txBox="1"/>
          <p:nvPr/>
        </p:nvSpPr>
        <p:spPr>
          <a:xfrm>
            <a:off x="1463040" y="5212080"/>
            <a:ext cx="10058400" cy="777240"/>
          </a:xfrm>
          <a:prstGeom prst="rect">
            <a:avLst/>
          </a:prstGeom>
          <a:noFill/>
          <a:ln/>
        </p:spPr>
        <p:txBody>
          <a:bodyPr wrap="square" lIns="0" tIns="0" rIns="0" bIns="0" rtlCol="0" anchor="ctr"/>
          <a:lstStyle/>
          <a:p>
            <a:pPr indent="0" marL="0">
              <a:buNone/>
            </a:pPr>
            <a:r>
              <a:rPr lang="en-US" sz="1700" b="1" dirty="0">
                <a:solidFill>
                  <a:schemeClr val="tx2"/>
                </a:solidFill>
              </a:rPr>
              <a:t>Teamwork</a:t>
            </a:r>
            <a:endParaRPr lang="en-US" sz="1500" dirty="0"/>
          </a:p>
          <a:p>
            <a:pPr indent="0" marL="0">
              <a:buNone/>
            </a:pPr>
            <a:r>
              <a:rPr lang="en-US" sz="1500" dirty="0">
                <a:solidFill>
                  <a:schemeClr val="tx1"/>
                </a:solidFill>
              </a:rPr>
              <a:t>"We listen": the readiness request and listening sessions come first</a:t>
            </a:r>
            <a:endParaRPr lang="en-US" sz="1500" dirty="0"/>
          </a:p>
        </p:txBody>
      </p:sp>
      <p:sp>
        <p:nvSpPr>
          <p:cNvPr id="13" name="Text 1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Merit Vision &amp; Values; case</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B9 · Sources</a:t>
            </a:r>
            <a:endParaRPr lang="en-US" sz="2800" dirty="0"/>
          </a:p>
        </p:txBody>
      </p:sp>
      <p:sp>
        <p:nvSpPr>
          <p:cNvPr id="3" name="Text 1"/>
          <p:cNvSpPr txBox="1"/>
          <p:nvPr/>
        </p:nvSpPr>
        <p:spPr>
          <a:xfrm>
            <a:off x="548640" y="1554480"/>
            <a:ext cx="5440680" cy="4663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Merit Medical case, BFG 2026 (Exhibits 2, 3, 5)</a:t>
            </a:r>
            <a:endParaRPr lang="en-US" sz="1300" dirty="0"/>
          </a:p>
          <a:p>
            <a:pPr marL="342900" indent="-342900">
              <a:spcAft>
                <a:spcPts val="600"/>
              </a:spcAft>
              <a:buSzPct val="100000"/>
              <a:buChar char="•"/>
            </a:pPr>
            <a:r>
              <a:rPr lang="en-US" sz="1300" dirty="0">
                <a:solidFill>
                  <a:schemeClr val="tx1"/>
                </a:solidFill>
              </a:rPr>
              <a:t>Merit 2025 Sustainability Report; 2025 10-K; Q2 2026 results</a:t>
            </a:r>
            <a:endParaRPr lang="en-US" sz="1300" dirty="0"/>
          </a:p>
          <a:p>
            <a:pPr marL="342900" indent="-342900">
              <a:spcAft>
                <a:spcPts val="600"/>
              </a:spcAft>
              <a:buSzPct val="100000"/>
              <a:buChar char="•"/>
            </a:pPr>
            <a:r>
              <a:rPr lang="en-US" sz="1300" dirty="0">
                <a:solidFill>
                  <a:schemeClr val="tx1"/>
                </a:solidFill>
              </a:rPr>
              <a:t>FDA warning letter to Jiangsu Shenli (Mar 2024); recall Z-database (Jun 2024)</a:t>
            </a:r>
            <a:endParaRPr lang="en-US" sz="1300" dirty="0"/>
          </a:p>
          <a:p>
            <a:pPr marL="342900" indent="-342900">
              <a:spcAft>
                <a:spcPts val="600"/>
              </a:spcAft>
              <a:buSzPct val="100000"/>
              <a:buChar char="•"/>
            </a:pPr>
            <a:r>
              <a:rPr lang="en-US" sz="1300" dirty="0">
                <a:solidFill>
                  <a:schemeClr val="tx1"/>
                </a:solidFill>
              </a:rPr>
              <a:t>EU Directive 2024/825 (empowering consumers); FTC Green Guides</a:t>
            </a:r>
            <a:endParaRPr lang="en-US" sz="1300" dirty="0"/>
          </a:p>
          <a:p>
            <a:pPr marL="342900" indent="-342900">
              <a:spcAft>
                <a:spcPts val="600"/>
              </a:spcAft>
              <a:buSzPct val="100000"/>
              <a:buChar char="•"/>
            </a:pPr>
            <a:r>
              <a:rPr lang="en-US" sz="1300" dirty="0">
                <a:solidFill>
                  <a:schemeClr val="tx1"/>
                </a:solidFill>
              </a:rPr>
              <a:t>NHS Net Zero Supplier Roadmap</a:t>
            </a:r>
            <a:endParaRPr lang="en-US" sz="1300" dirty="0"/>
          </a:p>
          <a:p>
            <a:pPr marL="342900" indent="-342900">
              <a:spcAft>
                <a:spcPts val="600"/>
              </a:spcAft>
              <a:buSzPct val="100000"/>
              <a:buChar char="•"/>
            </a:pPr>
            <a:r>
              <a:rPr lang="en-US" sz="1300" dirty="0">
                <a:solidFill>
                  <a:schemeClr val="tx1"/>
                </a:solidFill>
              </a:rPr>
              <a:t>CDP/HSBC, Strengthening the Chain (2024)</a:t>
            </a:r>
            <a:endParaRPr lang="en-US" sz="1300" dirty="0"/>
          </a:p>
          <a:p>
            <a:pPr marL="342900" indent="-342900">
              <a:spcAft>
                <a:spcPts val="600"/>
              </a:spcAft>
              <a:buSzPct val="100000"/>
              <a:buChar char="•"/>
            </a:pPr>
            <a:r>
              <a:rPr lang="en-US" sz="1300" dirty="0">
                <a:solidFill>
                  <a:schemeClr val="tx1"/>
                </a:solidFill>
              </a:rPr>
              <a:t>McKinsey, medtech supply-chain resilience</a:t>
            </a:r>
            <a:endParaRPr lang="en-US" sz="1300" dirty="0"/>
          </a:p>
          <a:p>
            <a:pPr marL="342900" indent="-342900">
              <a:spcAft>
                <a:spcPts val="600"/>
              </a:spcAft>
              <a:buSzPct val="100000"/>
              <a:buChar char="•"/>
            </a:pPr>
            <a:r>
              <a:rPr lang="en-US" sz="1300" dirty="0">
                <a:solidFill>
                  <a:schemeClr val="tx1"/>
                </a:solidFill>
              </a:rPr>
              <a:t>Stryker 2024 proxy; BD, Abbott, J&amp;J, Philips, Medtronic sustainability reports</a:t>
            </a:r>
            <a:endParaRPr lang="en-US" sz="1300" dirty="0"/>
          </a:p>
        </p:txBody>
      </p:sp>
      <p:sp>
        <p:nvSpPr>
          <p:cNvPr id="4" name="Text 2"/>
          <p:cNvSpPr txBox="1"/>
          <p:nvPr/>
        </p:nvSpPr>
        <p:spPr>
          <a:xfrm>
            <a:off x="6172200" y="1554480"/>
            <a:ext cx="5440680" cy="4663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Schneider Electric Zero Carbon Project</a:t>
            </a:r>
            <a:endParaRPr lang="en-US" sz="1300" dirty="0"/>
          </a:p>
          <a:p>
            <a:pPr marL="342900" indent="-342900">
              <a:spcAft>
                <a:spcPts val="600"/>
              </a:spcAft>
              <a:buSzPct val="100000"/>
              <a:buChar char="•"/>
            </a:pPr>
            <a:r>
              <a:rPr lang="en-US" sz="1300" dirty="0">
                <a:solidFill>
                  <a:schemeClr val="tx1"/>
                </a:solidFill>
              </a:rPr>
              <a:t>GHG Protocol Scope 3 guidance</a:t>
            </a:r>
            <a:endParaRPr lang="en-US" sz="1300" dirty="0"/>
          </a:p>
          <a:p>
            <a:pPr marL="342900" indent="-342900">
              <a:spcAft>
                <a:spcPts val="600"/>
              </a:spcAft>
              <a:buSzPct val="100000"/>
              <a:buChar char="•"/>
            </a:pPr>
            <a:r>
              <a:rPr lang="en-US" sz="1300" dirty="0">
                <a:solidFill>
                  <a:schemeClr val="tx1"/>
                </a:solidFill>
              </a:rPr>
              <a:t>EcoVadis Vitals guide and rating methodology</a:t>
            </a:r>
            <a:endParaRPr lang="en-US" sz="1300" dirty="0"/>
          </a:p>
          <a:p>
            <a:pPr marL="342900" indent="-342900">
              <a:spcAft>
                <a:spcPts val="600"/>
              </a:spcAft>
              <a:buSzPct val="100000"/>
              <a:buChar char="•"/>
            </a:pPr>
            <a:r>
              <a:rPr lang="en-US" sz="1300" dirty="0">
                <a:solidFill>
                  <a:schemeClr val="tx1"/>
                </a:solidFill>
              </a:rPr>
              <a:t>IFC–INA–SE supplier program release (Aug 2025)</a:t>
            </a:r>
            <a:endParaRPr lang="en-US" sz="1300" dirty="0"/>
          </a:p>
          <a:p>
            <a:pPr marL="342900" indent="-342900">
              <a:spcAft>
                <a:spcPts val="600"/>
              </a:spcAft>
              <a:buSzPct val="100000"/>
              <a:buChar char="•"/>
            </a:pPr>
            <a:r>
              <a:rPr lang="en-US" sz="1300" dirty="0">
                <a:solidFill>
                  <a:schemeClr val="tx1"/>
                </a:solidFill>
              </a:rPr>
              <a:t>NAFIN Cadenas Productivas</a:t>
            </a:r>
            <a:endParaRPr lang="en-US" sz="1300" dirty="0"/>
          </a:p>
          <a:p>
            <a:pPr marL="342900" indent="-342900">
              <a:spcAft>
                <a:spcPts val="600"/>
              </a:spcAft>
              <a:buSzPct val="100000"/>
              <a:buChar char="•"/>
            </a:pPr>
            <a:r>
              <a:rPr lang="en-US" sz="1300" dirty="0">
                <a:solidFill>
                  <a:schemeClr val="tx1"/>
                </a:solidFill>
              </a:rPr>
              <a:t>WRAP audit-burden survey (2023)</a:t>
            </a:r>
            <a:endParaRPr lang="en-US" sz="1300" dirty="0"/>
          </a:p>
          <a:p>
            <a:pPr marL="342900" indent="-342900">
              <a:spcAft>
                <a:spcPts val="600"/>
              </a:spcAft>
              <a:buSzPct val="100000"/>
              <a:buChar char="•"/>
            </a:pPr>
            <a:r>
              <a:rPr lang="en-US" sz="1300" dirty="0">
                <a:solidFill>
                  <a:schemeClr val="tx1"/>
                </a:solidFill>
              </a:rPr>
              <a:t>Ballard Center Social Impact Cycle; Wharton on TOMS</a:t>
            </a:r>
            <a:endParaRPr lang="en-US" sz="1300" dirty="0"/>
          </a:p>
          <a:p>
            <a:pPr marL="342900" indent="-342900">
              <a:spcAft>
                <a:spcPts val="600"/>
              </a:spcAft>
              <a:buSzPct val="100000"/>
              <a:buChar char="•"/>
            </a:pPr>
            <a:r>
              <a:rPr lang="en-US" sz="1300" dirty="0">
                <a:solidFill>
                  <a:schemeClr val="tx1"/>
                </a:solidFill>
              </a:rPr>
              <a:t>Full list: research/sources.txt in the team repo</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Supplier Ladder">
  <a:themeElements>
    <a:clrScheme name="Supplier Ladder">
      <a:dk1>
        <a:srgbClr val="1B2A2F"/>
      </a:dk1>
      <a:lt1>
        <a:srgbClr val="FFFFFF"/>
      </a:lt1>
      <a:dk2>
        <a:srgbClr val="0B4F4C"/>
      </a:dk2>
      <a:lt2>
        <a:srgbClr val="EEF4F3"/>
      </a:lt2>
      <a:accent1>
        <a:srgbClr val="0F7C76"/>
      </a:accent1>
      <a:accent2>
        <a:srgbClr val="D98E04"/>
      </a:accent2>
      <a:accent3>
        <a:srgbClr val="8A9499"/>
      </a:accent3>
      <a:accent4>
        <a:srgbClr val="5BB5A2"/>
      </a:accent4>
      <a:accent5>
        <a:srgbClr val="B5452F"/>
      </a:accent5>
      <a:accent6>
        <a:srgbClr val="D5DEDD"/>
      </a:accent6>
      <a:hlink>
        <a:srgbClr val="0F7C76"/>
      </a:hlink>
      <a:folHlink>
        <a:srgbClr val="0B4F4C"/>
      </a:folHlink>
    </a:clrScheme>
    <a:fontScheme name="Supplier Lad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Merit Supplier Ladder</dc:title>
  <dc:subject>PptxGenJS Presentation</dc:subject>
  <dc:creator>Team 23</dc:creator>
  <cp:lastModifiedBy>Team 23</cp:lastModifiedBy>
  <cp:revision>1</cp:revision>
  <dcterms:created xsi:type="dcterms:W3CDTF">2026-10-27T22:12:15Z</dcterms:created>
  <dcterms:modified xsi:type="dcterms:W3CDTF">2026-10-27T22:12:15Z</dcterms:modified>
</cp:coreProperties>
</file>