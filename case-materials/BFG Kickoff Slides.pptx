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2" r:id="rId3"/>
    <p:sldMasterId id="2147483663" r:id="rId4"/>
    <p:sldMasterId id="2147483664"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y="6858000" cx="12192000"/>
  <p:notesSz cx="6858000" cy="12192000"/>
  <p:embeddedFontLst>
    <p:embeddedFont>
      <p:font typeface="Archivo ExtraBold"/>
      <p:bold r:id="rId36"/>
      <p:boldItalic r:id="rId37"/>
    </p:embeddedFont>
    <p:embeddedFont>
      <p:font typeface="Montserrat"/>
      <p:regular r:id="rId38"/>
      <p:bold r:id="rId39"/>
      <p:italic r:id="rId40"/>
      <p:boldItalic r:id="rId41"/>
    </p:embeddedFont>
    <p:embeddedFont>
      <p:font typeface="Archivo"/>
      <p:regular r:id="rId42"/>
      <p:bold r:id="rId43"/>
      <p:italic r:id="rId44"/>
      <p:boldItalic r:id="rId45"/>
    </p:embeddedFont>
    <p:embeddedFont>
      <p:font typeface="DM Sans"/>
      <p:regular r:id="rId46"/>
      <p:bold r:id="rId47"/>
      <p:italic r:id="rId48"/>
      <p:boldItalic r:id="rId49"/>
    </p:embeddedFont>
    <p:embeddedFont>
      <p:font typeface="Archivo Black"/>
      <p:bold r:id="rId50"/>
      <p:boldItalic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Montserrat-italic.fntdata"/><Relationship Id="rId42" Type="http://schemas.openxmlformats.org/officeDocument/2006/relationships/font" Target="fonts/Archivo-regular.fntdata"/><Relationship Id="rId41" Type="http://schemas.openxmlformats.org/officeDocument/2006/relationships/font" Target="fonts/Montserrat-boldItalic.fntdata"/><Relationship Id="rId44" Type="http://schemas.openxmlformats.org/officeDocument/2006/relationships/font" Target="fonts/Archivo-italic.fntdata"/><Relationship Id="rId43" Type="http://schemas.openxmlformats.org/officeDocument/2006/relationships/font" Target="fonts/Archivo-bold.fntdata"/><Relationship Id="rId46" Type="http://schemas.openxmlformats.org/officeDocument/2006/relationships/font" Target="fonts/DMSans-regular.fntdata"/><Relationship Id="rId45" Type="http://schemas.openxmlformats.org/officeDocument/2006/relationships/font" Target="fonts/Archivo-boldItalic.fntdata"/><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3.xml"/><Relationship Id="rId48" Type="http://schemas.openxmlformats.org/officeDocument/2006/relationships/font" Target="fonts/DMSans-italic.fntdata"/><Relationship Id="rId47" Type="http://schemas.openxmlformats.org/officeDocument/2006/relationships/font" Target="fonts/DMSans-bold.fntdata"/><Relationship Id="rId49" Type="http://schemas.openxmlformats.org/officeDocument/2006/relationships/font" Target="fonts/DMSans-boldItalic.fntdata"/><Relationship Id="rId5" Type="http://schemas.openxmlformats.org/officeDocument/2006/relationships/slideMaster" Target="slideMasters/slideMaster3.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font" Target="fonts/ArchivoExtraBold-boldItalic.fntdata"/><Relationship Id="rId36" Type="http://schemas.openxmlformats.org/officeDocument/2006/relationships/font" Target="fonts/ArchivoExtraBold-bold.fntdata"/><Relationship Id="rId39" Type="http://schemas.openxmlformats.org/officeDocument/2006/relationships/font" Target="fonts/Montserrat-bold.fntdata"/><Relationship Id="rId38" Type="http://schemas.openxmlformats.org/officeDocument/2006/relationships/font" Target="fonts/Montserrat-regular.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ArchivoBlack-boldItalic.fntdata"/><Relationship Id="rId50" Type="http://schemas.openxmlformats.org/officeDocument/2006/relationships/font" Target="fonts/ArchivoBlack-bold.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h4e576f783bd84fd5_2_75:notes"/>
          <p:cNvSpPr txBox="1"/>
          <p:nvPr>
            <p:ph idx="1" type="body"/>
          </p:nvPr>
        </p:nvSpPr>
        <p:spPr>
          <a:xfrm>
            <a:off x="685800" y="5791200"/>
            <a:ext cx="5486400" cy="5486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 name="Google Shape;95;h4e576f783bd84fd5_2_75:notes"/>
          <p:cNvSpPr/>
          <p:nvPr>
            <p:ph idx="2" type="sldImg"/>
          </p:nvPr>
        </p:nvSpPr>
        <p:spPr>
          <a:xfrm>
            <a:off x="1143164" y="914400"/>
            <a:ext cx="4572347"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 name="Google Shape;109;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 name="Google Shape;120;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 name="Google Shape;121;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h76be3626171ec25a_7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 name="Google Shape;140;h76be3626171ec25a_7_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Quick intro to the six of us and what each person owns on the team.</a:t>
            </a:r>
            <a:endParaRPr/>
          </a:p>
        </p:txBody>
      </p:sp>
      <p:sp>
        <p:nvSpPr>
          <p:cNvPr id="141" name="Google Shape;141;h76be3626171ec25a_7_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h38a6b8695ec8dd90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3" name="Google Shape;173;h38a6b8695ec8dd90_1_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 name="Google Shape;174;h38a6b8695ec8dd90_1_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h38a6b8695ec8dd90_1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 name="Google Shape;185;h38a6b8695ec8dd90_1_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h38a6b8695ec8dd90_1_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h38a6b8695ec8dd90_1_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 name="Google Shape;196;h38a6b8695ec8dd90_1_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7" name="Google Shape;197;h38a6b8695ec8dd90_1_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 name="Google Shape;20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h1b740130cbad3dd8_7_5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5" name="Google Shape;215;h1b740130cbad3dd8_7_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h1b740130cbad3dd8_7_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2" name="Google Shape;232;h1b740130cbad3dd8_7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h1b740130cbad3dd8_7_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1" name="Google Shape;241;h1b740130cbad3dd8_7_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h2579255bf08fb097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0" name="Google Shape;280;h2579255bf08fb097_1_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Who Merit is, in one breath. Stats are from the case (Exhibits 1 and 2, 2025 figures).</a:t>
            </a:r>
            <a:endParaRPr/>
          </a:p>
        </p:txBody>
      </p:sp>
      <p:sp>
        <p:nvSpPr>
          <p:cNvPr id="281" name="Google Shape;281;h2579255bf08fb097_1_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h2579255bf08fb097_1_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5" name="Google Shape;295;h2579255bf08fb097_1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h1b5e6b9b27fc9f2_7_0:notes"/>
          <p:cNvSpPr/>
          <p:nvPr>
            <p:ph idx="2" type="sldImg"/>
          </p:nvPr>
        </p:nvSpPr>
        <p:spPr>
          <a:xfrm>
            <a:off x="9144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3" name="Google Shape;303;h1b5e6b9b27fc9f2_7_0:notes"/>
          <p:cNvSpPr txBox="1"/>
          <p:nvPr>
            <p:ph idx="1" type="body"/>
          </p:nvPr>
        </p:nvSpPr>
        <p:spPr>
          <a:xfrm>
            <a:off x="914400" y="5867400"/>
            <a:ext cx="7315200" cy="4800600"/>
          </a:xfrm>
          <a:prstGeom prst="rect">
            <a:avLst/>
          </a:prstGeom>
          <a:noFill/>
          <a:ln>
            <a:noFill/>
          </a:ln>
        </p:spPr>
        <p:txBody>
          <a:bodyPr anchorCtr="0" anchor="t" bIns="60925" lIns="121900" spcFirstLastPara="1" rIns="121900" wrap="square" tIns="60925">
            <a:noAutofit/>
          </a:bodyPr>
          <a:lstStyle/>
          <a:p>
            <a:pPr indent="0" lvl="0" marL="0" rtl="0" algn="l">
              <a:spcBef>
                <a:spcPts val="0"/>
              </a:spcBef>
              <a:spcAft>
                <a:spcPts val="0"/>
              </a:spcAft>
              <a:buNone/>
            </a:pPr>
            <a:r>
              <a:t/>
            </a:r>
            <a:endParaRPr sz="1900"/>
          </a:p>
        </p:txBody>
      </p:sp>
      <p:sp>
        <p:nvSpPr>
          <p:cNvPr id="304" name="Google Shape;304;h1b5e6b9b27fc9f2_7_0:notes"/>
          <p:cNvSpPr txBox="1"/>
          <p:nvPr>
            <p:ph idx="12" type="sldNum"/>
          </p:nvPr>
        </p:nvSpPr>
        <p:spPr>
          <a:xfrm>
            <a:off x="5179484" y="11580284"/>
            <a:ext cx="3962400" cy="611716"/>
          </a:xfrm>
          <a:prstGeom prst="rect">
            <a:avLst/>
          </a:prstGeom>
          <a:noFill/>
          <a:ln>
            <a:noFill/>
          </a:ln>
        </p:spPr>
        <p:txBody>
          <a:bodyPr anchorCtr="0" anchor="b" bIns="60925" lIns="121900" spcFirstLastPara="1" rIns="121900" wrap="square" tIns="60925">
            <a:noAutofit/>
          </a:bodyPr>
          <a:lstStyle/>
          <a:p>
            <a:pPr indent="0" lvl="0" marL="0" rtl="0" algn="r">
              <a:spcBef>
                <a:spcPts val="0"/>
              </a:spcBef>
              <a:spcAft>
                <a:spcPts val="0"/>
              </a:spcAft>
              <a:buNone/>
            </a:pPr>
            <a:fld id="{00000000-1234-1234-1234-123412341234}" type="slidenum">
              <a:rPr lang="en-US" sz="1900"/>
              <a:t>‹#›</a:t>
            </a:fld>
            <a:endParaRPr sz="1900"/>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h19029423b8f54083_0_2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6" name="Google Shape;326;h19029423b8f54083_0_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h1b5e6b9b27fc9f2_25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4" name="Google Shape;334;h1b5e6b9b27fc9f2_25_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Set the stage: Merit makes disposable devices used in minimally invasive procedures, so supply continuity is a patient-safety issue. The supply base is big and concentrated, and switching suppliers takes most of a year. 2026 is the final year of Merit's public financial targets, so any plan has to respect margin and cash discipline.</a:t>
            </a:r>
            <a:endParaRPr/>
          </a:p>
        </p:txBody>
      </p:sp>
      <p:sp>
        <p:nvSpPr>
          <p:cNvPr id="335" name="Google Shape;335;h1b5e6b9b27fc9f2_25_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h1b5e6b9b27fc9f2_25_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5" name="Google Shape;345;h1b5e6b9b27fc9f2_25_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Two problems that have to be solved together. First, the supplier assessment is landing unevenly: the suppliers Merit knows least about are the small, hard-to-replace plants in Mexico and China. Second, the public story is ahead of the data. Saying nothing isn't an option either, because hospital customers screen suppliers on ESG. And all of this has to fit a six-week timeline and Merit's final-year financial targets.</a:t>
            </a:r>
            <a:endParaRPr/>
          </a:p>
        </p:txBody>
      </p:sp>
      <p:sp>
        <p:nvSpPr>
          <p:cNvPr id="346" name="Google Shape;346;h1b5e6b9b27fc9f2_25_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h1b5e6b9b27fc9f2_25_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6" name="Google Shape;356;h1b5e6b9b27fc9f2_25_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question every team answers. Remind teams that Strategy A (mandate everyone) and Strategy B (top 78 first) in Exhibit 5 are starting points, not the answer.</a:t>
            </a:r>
            <a:endParaRPr/>
          </a:p>
        </p:txBody>
      </p:sp>
      <p:sp>
        <p:nvSpPr>
          <p:cNvPr id="357" name="Google Shape;357;h1b5e6b9b27fc9f2_25_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h1b5e6b9b27fc9f2_2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4" name="Google Shape;364;h1b5e6b9b27fc9f2_20_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Full central question from the case, word for word. Read the lead-in, walk through the three goals, then land on the last line: whatever teams propose has to fit Merit's values and its financial commitments.</a:t>
            </a:r>
            <a:endParaRPr/>
          </a:p>
        </p:txBody>
      </p:sp>
      <p:sp>
        <p:nvSpPr>
          <p:cNvPr id="365" name="Google Shape;365;h1b5e6b9b27fc9f2_20_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h2579255bf08fb097_1_2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7" name="Google Shape;377;h2579255bf08fb097_1_2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h2579255bf08fb097_1_2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5" name="Google Shape;385;h2579255bf08fb097_1_2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Criteria are listed in order of importance, straight from the case.</a:t>
            </a:r>
            <a:endParaRPr/>
          </a:p>
        </p:txBody>
      </p:sp>
      <p:sp>
        <p:nvSpPr>
          <p:cNvPr id="386" name="Google Shape;386;h2579255bf08fb097_1_2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h2579255bf08fb097_1_25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5" name="Google Shape;415;h2579255bf08fb097_1_2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h2579255bf08fb097_1_2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3" name="Google Shape;423;h2579255bf08fb097_1_26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CONFIRM team size: 3–5 carried over from last year's competition; the Merit case doesn't state it.</a:t>
            </a:r>
            <a:endParaRPr/>
          </a:p>
        </p:txBody>
      </p:sp>
      <p:sp>
        <p:nvSpPr>
          <p:cNvPr id="424" name="Google Shape;424;h2579255bf08fb097_1_26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h2579255bf08fb097_1_2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9" name="Google Shape;449;h2579255bf08fb097_1_29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Suggested deck structure from the case. CONFIRM the presentation length: 10 min + 5 min Q&amp;A was last year's format.</a:t>
            </a:r>
            <a:endParaRPr/>
          </a:p>
        </p:txBody>
      </p:sp>
      <p:sp>
        <p:nvSpPr>
          <p:cNvPr id="450" name="Google Shape;450;h2579255bf08fb097_1_29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h2579255bf08fb097_1_3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2" name="Google Shape;482;h2579255bf08fb097_1_3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h2579255bf08fb097_1_3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0" name="Google Shape;490;h2579255bf08fb097_1_3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Fill in the bracketed dates before presenting.</a:t>
            </a:r>
            <a:endParaRPr/>
          </a:p>
        </p:txBody>
      </p:sp>
      <p:sp>
        <p:nvSpPr>
          <p:cNvPr id="491" name="Google Shape;491;h2579255bf08fb097_1_3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h287a0985c9c1d623_1_0:notes"/>
          <p:cNvSpPr/>
          <p:nvPr>
            <p:ph idx="2" type="sldImg"/>
          </p:nvPr>
        </p:nvSpPr>
        <p:spPr>
          <a:xfrm>
            <a:off x="9144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3" name="Google Shape;513;h287a0985c9c1d623_1_0:notes"/>
          <p:cNvSpPr txBox="1"/>
          <p:nvPr>
            <p:ph idx="1" type="body"/>
          </p:nvPr>
        </p:nvSpPr>
        <p:spPr>
          <a:xfrm>
            <a:off x="914400" y="5867400"/>
            <a:ext cx="7315200" cy="4800600"/>
          </a:xfrm>
          <a:prstGeom prst="rect">
            <a:avLst/>
          </a:prstGeom>
          <a:noFill/>
          <a:ln>
            <a:noFill/>
          </a:ln>
        </p:spPr>
        <p:txBody>
          <a:bodyPr anchorCtr="0" anchor="t" bIns="60925" lIns="121900" spcFirstLastPara="1" rIns="121900" wrap="square" tIns="60925">
            <a:noAutofit/>
          </a:bodyPr>
          <a:lstStyle/>
          <a:p>
            <a:pPr indent="0" lvl="0" marL="0" rtl="0" algn="l">
              <a:spcBef>
                <a:spcPts val="0"/>
              </a:spcBef>
              <a:spcAft>
                <a:spcPts val="0"/>
              </a:spcAft>
              <a:buNone/>
            </a:pPr>
            <a:r>
              <a:t/>
            </a:r>
            <a:endParaRPr sz="1900"/>
          </a:p>
        </p:txBody>
      </p:sp>
      <p:sp>
        <p:nvSpPr>
          <p:cNvPr id="514" name="Google Shape;514;h287a0985c9c1d623_1_0:notes"/>
          <p:cNvSpPr txBox="1"/>
          <p:nvPr>
            <p:ph idx="12" type="sldNum"/>
          </p:nvPr>
        </p:nvSpPr>
        <p:spPr>
          <a:xfrm>
            <a:off x="5179484" y="11580284"/>
            <a:ext cx="3962400" cy="611716"/>
          </a:xfrm>
          <a:prstGeom prst="rect">
            <a:avLst/>
          </a:prstGeom>
          <a:noFill/>
          <a:ln>
            <a:noFill/>
          </a:ln>
        </p:spPr>
        <p:txBody>
          <a:bodyPr anchorCtr="0" anchor="b" bIns="60925" lIns="121900" spcFirstLastPara="1" rIns="121900" wrap="square" tIns="60925">
            <a:noAutofit/>
          </a:bodyPr>
          <a:lstStyle/>
          <a:p>
            <a:pPr indent="0" lvl="0" marL="0" rtl="0" algn="r">
              <a:spcBef>
                <a:spcPts val="0"/>
              </a:spcBef>
              <a:spcAft>
                <a:spcPts val="0"/>
              </a:spcAft>
              <a:buNone/>
            </a:pPr>
            <a:fld id="{00000000-1234-1234-1234-123412341234}" type="slidenum">
              <a:rPr lang="en-US" sz="1900"/>
              <a:t>‹#›</a:t>
            </a:fld>
            <a:endParaRPr sz="1900"/>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h2579255bf08fb097_1_3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2" name="Google Shape;532;h2579255bf08fb097_1_38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Prize amounts confirmed in the Merit case.</a:t>
            </a:r>
            <a:endParaRPr/>
          </a:p>
        </p:txBody>
      </p:sp>
      <p:sp>
        <p:nvSpPr>
          <p:cNvPr id="533" name="Google Shape;533;h2579255bf08fb097_1_38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7" name="Google Shape;547;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8" name="Google Shape;548;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 name="Shape 17"/>
        <p:cNvGrpSpPr/>
        <p:nvPr/>
      </p:nvGrpSpPr>
      <p:grpSpPr>
        <a:xfrm>
          <a:off x="0" y="0"/>
          <a:ext cx="0" cy="0"/>
          <a:chOff x="0" y="0"/>
          <a:chExt cx="0" cy="0"/>
        </a:xfrm>
      </p:grpSpPr>
      <p:sp>
        <p:nvSpPr>
          <p:cNvPr id="18" name="Google Shape;18;p4"/>
          <p:cNvSpPr txBox="1"/>
          <p:nvPr>
            <p:ph idx="10" type="dt"/>
          </p:nvPr>
        </p:nvSpPr>
        <p:spPr>
          <a:xfrm>
            <a:off x="457212" y="6356350"/>
            <a:ext cx="213365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4"/>
          <p:cNvSpPr txBox="1"/>
          <p:nvPr>
            <p:ph idx="11" type="ftr"/>
          </p:nvPr>
        </p:nvSpPr>
        <p:spPr>
          <a:xfrm>
            <a:off x="3124283" y="6356350"/>
            <a:ext cx="2895677"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4"/>
          <p:cNvSpPr txBox="1"/>
          <p:nvPr>
            <p:ph idx="12" type="sldNum"/>
          </p:nvPr>
        </p:nvSpPr>
        <p:spPr>
          <a:xfrm>
            <a:off x="6553375" y="6356350"/>
            <a:ext cx="213365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5"/>
          <p:cNvSpPr txBox="1"/>
          <p:nvPr>
            <p:ph type="ctrTitle"/>
          </p:nvPr>
        </p:nvSpPr>
        <p:spPr>
          <a:xfrm>
            <a:off x="685818" y="2130425"/>
            <a:ext cx="7772607"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5"/>
          <p:cNvSpPr txBox="1"/>
          <p:nvPr>
            <p:ph idx="1" type="subTitle"/>
          </p:nvPr>
        </p:nvSpPr>
        <p:spPr>
          <a:xfrm>
            <a:off x="1371637" y="3886200"/>
            <a:ext cx="6400971"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4" name="Google Shape;24;p5"/>
          <p:cNvSpPr txBox="1"/>
          <p:nvPr>
            <p:ph idx="10" type="dt"/>
          </p:nvPr>
        </p:nvSpPr>
        <p:spPr>
          <a:xfrm>
            <a:off x="457212" y="6356350"/>
            <a:ext cx="213365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5"/>
          <p:cNvSpPr txBox="1"/>
          <p:nvPr>
            <p:ph idx="11" type="ftr"/>
          </p:nvPr>
        </p:nvSpPr>
        <p:spPr>
          <a:xfrm>
            <a:off x="3124283" y="6356350"/>
            <a:ext cx="2895677"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5"/>
          <p:cNvSpPr txBox="1"/>
          <p:nvPr>
            <p:ph idx="12" type="sldNum"/>
          </p:nvPr>
        </p:nvSpPr>
        <p:spPr>
          <a:xfrm>
            <a:off x="6553375" y="6356350"/>
            <a:ext cx="213365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6"/>
          <p:cNvSpPr txBox="1"/>
          <p:nvPr>
            <p:ph type="title"/>
          </p:nvPr>
        </p:nvSpPr>
        <p:spPr>
          <a:xfrm>
            <a:off x="457212" y="274638"/>
            <a:ext cx="8229819"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6"/>
          <p:cNvSpPr txBox="1"/>
          <p:nvPr>
            <p:ph idx="1" type="body"/>
          </p:nvPr>
        </p:nvSpPr>
        <p:spPr>
          <a:xfrm>
            <a:off x="457212" y="1600200"/>
            <a:ext cx="8229819"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0" name="Google Shape;30;p6"/>
          <p:cNvSpPr txBox="1"/>
          <p:nvPr>
            <p:ph idx="10" type="dt"/>
          </p:nvPr>
        </p:nvSpPr>
        <p:spPr>
          <a:xfrm>
            <a:off x="457212" y="6356350"/>
            <a:ext cx="213365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6"/>
          <p:cNvSpPr txBox="1"/>
          <p:nvPr>
            <p:ph idx="11" type="ftr"/>
          </p:nvPr>
        </p:nvSpPr>
        <p:spPr>
          <a:xfrm>
            <a:off x="3124283" y="6356350"/>
            <a:ext cx="2895677"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6"/>
          <p:cNvSpPr txBox="1"/>
          <p:nvPr>
            <p:ph idx="12" type="sldNum"/>
          </p:nvPr>
        </p:nvSpPr>
        <p:spPr>
          <a:xfrm>
            <a:off x="6553375" y="6356350"/>
            <a:ext cx="213365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 name="Shape 33"/>
        <p:cNvGrpSpPr/>
        <p:nvPr/>
      </p:nvGrpSpPr>
      <p:grpSpPr>
        <a:xfrm>
          <a:off x="0" y="0"/>
          <a:ext cx="0" cy="0"/>
          <a:chOff x="0" y="0"/>
          <a:chExt cx="0" cy="0"/>
        </a:xfrm>
      </p:grpSpPr>
      <p:sp>
        <p:nvSpPr>
          <p:cNvPr id="34" name="Google Shape;34;p7"/>
          <p:cNvSpPr txBox="1"/>
          <p:nvPr>
            <p:ph type="title"/>
          </p:nvPr>
        </p:nvSpPr>
        <p:spPr>
          <a:xfrm>
            <a:off x="722332" y="4406900"/>
            <a:ext cx="7772607"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7"/>
          <p:cNvSpPr txBox="1"/>
          <p:nvPr>
            <p:ph idx="1" type="body"/>
          </p:nvPr>
        </p:nvSpPr>
        <p:spPr>
          <a:xfrm>
            <a:off x="722332" y="2906713"/>
            <a:ext cx="7772607"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6" name="Google Shape;36;p7"/>
          <p:cNvSpPr txBox="1"/>
          <p:nvPr>
            <p:ph idx="10" type="dt"/>
          </p:nvPr>
        </p:nvSpPr>
        <p:spPr>
          <a:xfrm>
            <a:off x="457212" y="6356350"/>
            <a:ext cx="213365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7"/>
          <p:cNvSpPr txBox="1"/>
          <p:nvPr>
            <p:ph idx="11" type="ftr"/>
          </p:nvPr>
        </p:nvSpPr>
        <p:spPr>
          <a:xfrm>
            <a:off x="3124283" y="6356350"/>
            <a:ext cx="2895677"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7"/>
          <p:cNvSpPr txBox="1"/>
          <p:nvPr>
            <p:ph idx="12" type="sldNum"/>
          </p:nvPr>
        </p:nvSpPr>
        <p:spPr>
          <a:xfrm>
            <a:off x="6553375" y="6356350"/>
            <a:ext cx="213365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9" name="Shape 39"/>
        <p:cNvGrpSpPr/>
        <p:nvPr/>
      </p:nvGrpSpPr>
      <p:grpSpPr>
        <a:xfrm>
          <a:off x="0" y="0"/>
          <a:ext cx="0" cy="0"/>
          <a:chOff x="0" y="0"/>
          <a:chExt cx="0" cy="0"/>
        </a:xfrm>
      </p:grpSpPr>
      <p:sp>
        <p:nvSpPr>
          <p:cNvPr id="40" name="Google Shape;40;p8"/>
          <p:cNvSpPr txBox="1"/>
          <p:nvPr>
            <p:ph type="title"/>
          </p:nvPr>
        </p:nvSpPr>
        <p:spPr>
          <a:xfrm>
            <a:off x="457212" y="274638"/>
            <a:ext cx="8229819"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8"/>
          <p:cNvSpPr txBox="1"/>
          <p:nvPr>
            <p:ph idx="1" type="body"/>
          </p:nvPr>
        </p:nvSpPr>
        <p:spPr>
          <a:xfrm>
            <a:off x="457212" y="1600200"/>
            <a:ext cx="4038708"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2" name="Google Shape;42;p8"/>
          <p:cNvSpPr txBox="1"/>
          <p:nvPr>
            <p:ph idx="2" type="body"/>
          </p:nvPr>
        </p:nvSpPr>
        <p:spPr>
          <a:xfrm>
            <a:off x="4648324" y="1600200"/>
            <a:ext cx="4038708"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3" name="Google Shape;43;p8"/>
          <p:cNvSpPr txBox="1"/>
          <p:nvPr>
            <p:ph idx="10" type="dt"/>
          </p:nvPr>
        </p:nvSpPr>
        <p:spPr>
          <a:xfrm>
            <a:off x="457212" y="6356350"/>
            <a:ext cx="213365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8"/>
          <p:cNvSpPr txBox="1"/>
          <p:nvPr>
            <p:ph idx="11" type="ftr"/>
          </p:nvPr>
        </p:nvSpPr>
        <p:spPr>
          <a:xfrm>
            <a:off x="3124283" y="6356350"/>
            <a:ext cx="2895677"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8"/>
          <p:cNvSpPr txBox="1"/>
          <p:nvPr>
            <p:ph idx="12" type="sldNum"/>
          </p:nvPr>
        </p:nvSpPr>
        <p:spPr>
          <a:xfrm>
            <a:off x="6553375" y="6356350"/>
            <a:ext cx="213365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6" name="Shape 46"/>
        <p:cNvGrpSpPr/>
        <p:nvPr/>
      </p:nvGrpSpPr>
      <p:grpSpPr>
        <a:xfrm>
          <a:off x="0" y="0"/>
          <a:ext cx="0" cy="0"/>
          <a:chOff x="0" y="0"/>
          <a:chExt cx="0" cy="0"/>
        </a:xfrm>
      </p:grpSpPr>
      <p:sp>
        <p:nvSpPr>
          <p:cNvPr id="47" name="Google Shape;47;p9"/>
          <p:cNvSpPr txBox="1"/>
          <p:nvPr>
            <p:ph type="title"/>
          </p:nvPr>
        </p:nvSpPr>
        <p:spPr>
          <a:xfrm>
            <a:off x="457212" y="274638"/>
            <a:ext cx="8229819"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 name="Google Shape;48;p9"/>
          <p:cNvSpPr txBox="1"/>
          <p:nvPr>
            <p:ph idx="1" type="body"/>
          </p:nvPr>
        </p:nvSpPr>
        <p:spPr>
          <a:xfrm>
            <a:off x="457212" y="1535113"/>
            <a:ext cx="4040296"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 name="Google Shape;49;p9"/>
          <p:cNvSpPr txBox="1"/>
          <p:nvPr>
            <p:ph idx="2" type="body"/>
          </p:nvPr>
        </p:nvSpPr>
        <p:spPr>
          <a:xfrm>
            <a:off x="457212" y="2174875"/>
            <a:ext cx="4040296"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0" name="Google Shape;50;p9"/>
          <p:cNvSpPr txBox="1"/>
          <p:nvPr>
            <p:ph idx="3" type="body"/>
          </p:nvPr>
        </p:nvSpPr>
        <p:spPr>
          <a:xfrm>
            <a:off x="4645149" y="1535113"/>
            <a:ext cx="4041883"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51" name="Google Shape;51;p9"/>
          <p:cNvSpPr txBox="1"/>
          <p:nvPr>
            <p:ph idx="4" type="body"/>
          </p:nvPr>
        </p:nvSpPr>
        <p:spPr>
          <a:xfrm>
            <a:off x="4645149" y="2174875"/>
            <a:ext cx="4041883"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2" name="Google Shape;52;p9"/>
          <p:cNvSpPr txBox="1"/>
          <p:nvPr>
            <p:ph idx="10" type="dt"/>
          </p:nvPr>
        </p:nvSpPr>
        <p:spPr>
          <a:xfrm>
            <a:off x="457212" y="6356350"/>
            <a:ext cx="213365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9"/>
          <p:cNvSpPr txBox="1"/>
          <p:nvPr>
            <p:ph idx="11" type="ftr"/>
          </p:nvPr>
        </p:nvSpPr>
        <p:spPr>
          <a:xfrm>
            <a:off x="3124283" y="6356350"/>
            <a:ext cx="2895677"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9"/>
          <p:cNvSpPr txBox="1"/>
          <p:nvPr>
            <p:ph idx="12" type="sldNum"/>
          </p:nvPr>
        </p:nvSpPr>
        <p:spPr>
          <a:xfrm>
            <a:off x="6553375" y="6356350"/>
            <a:ext cx="213365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p10"/>
          <p:cNvSpPr txBox="1"/>
          <p:nvPr>
            <p:ph type="title"/>
          </p:nvPr>
        </p:nvSpPr>
        <p:spPr>
          <a:xfrm>
            <a:off x="457212" y="274638"/>
            <a:ext cx="8229819"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10"/>
          <p:cNvSpPr txBox="1"/>
          <p:nvPr>
            <p:ph idx="10" type="dt"/>
          </p:nvPr>
        </p:nvSpPr>
        <p:spPr>
          <a:xfrm>
            <a:off x="457212" y="6356350"/>
            <a:ext cx="213365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10"/>
          <p:cNvSpPr txBox="1"/>
          <p:nvPr>
            <p:ph idx="11" type="ftr"/>
          </p:nvPr>
        </p:nvSpPr>
        <p:spPr>
          <a:xfrm>
            <a:off x="3124283" y="6356350"/>
            <a:ext cx="2895677"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0"/>
          <p:cNvSpPr txBox="1"/>
          <p:nvPr>
            <p:ph idx="12" type="sldNum"/>
          </p:nvPr>
        </p:nvSpPr>
        <p:spPr>
          <a:xfrm>
            <a:off x="6553375" y="6356350"/>
            <a:ext cx="213365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0" name="Shape 60"/>
        <p:cNvGrpSpPr/>
        <p:nvPr/>
      </p:nvGrpSpPr>
      <p:grpSpPr>
        <a:xfrm>
          <a:off x="0" y="0"/>
          <a:ext cx="0" cy="0"/>
          <a:chOff x="0" y="0"/>
          <a:chExt cx="0" cy="0"/>
        </a:xfrm>
      </p:grpSpPr>
      <p:sp>
        <p:nvSpPr>
          <p:cNvPr id="61" name="Google Shape;61;p11"/>
          <p:cNvSpPr txBox="1"/>
          <p:nvPr>
            <p:ph type="title"/>
          </p:nvPr>
        </p:nvSpPr>
        <p:spPr>
          <a:xfrm>
            <a:off x="457212" y="273050"/>
            <a:ext cx="300839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11"/>
          <p:cNvSpPr txBox="1"/>
          <p:nvPr>
            <p:ph idx="1" type="body"/>
          </p:nvPr>
        </p:nvSpPr>
        <p:spPr>
          <a:xfrm>
            <a:off x="3575145" y="273050"/>
            <a:ext cx="5111886"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3" name="Google Shape;63;p11"/>
          <p:cNvSpPr txBox="1"/>
          <p:nvPr>
            <p:ph idx="2" type="body"/>
          </p:nvPr>
        </p:nvSpPr>
        <p:spPr>
          <a:xfrm>
            <a:off x="457212" y="1435100"/>
            <a:ext cx="300839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4" name="Google Shape;64;p11"/>
          <p:cNvSpPr txBox="1"/>
          <p:nvPr>
            <p:ph idx="10" type="dt"/>
          </p:nvPr>
        </p:nvSpPr>
        <p:spPr>
          <a:xfrm>
            <a:off x="457212" y="6356350"/>
            <a:ext cx="213365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11"/>
          <p:cNvSpPr txBox="1"/>
          <p:nvPr>
            <p:ph idx="11" type="ftr"/>
          </p:nvPr>
        </p:nvSpPr>
        <p:spPr>
          <a:xfrm>
            <a:off x="3124283" y="6356350"/>
            <a:ext cx="2895677"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1"/>
          <p:cNvSpPr txBox="1"/>
          <p:nvPr>
            <p:ph idx="12" type="sldNum"/>
          </p:nvPr>
        </p:nvSpPr>
        <p:spPr>
          <a:xfrm>
            <a:off x="6553375" y="6356350"/>
            <a:ext cx="213365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7" name="Shape 67"/>
        <p:cNvGrpSpPr/>
        <p:nvPr/>
      </p:nvGrpSpPr>
      <p:grpSpPr>
        <a:xfrm>
          <a:off x="0" y="0"/>
          <a:ext cx="0" cy="0"/>
          <a:chOff x="0" y="0"/>
          <a:chExt cx="0" cy="0"/>
        </a:xfrm>
      </p:grpSpPr>
      <p:sp>
        <p:nvSpPr>
          <p:cNvPr id="68" name="Google Shape;68;p12"/>
          <p:cNvSpPr txBox="1"/>
          <p:nvPr>
            <p:ph type="title"/>
          </p:nvPr>
        </p:nvSpPr>
        <p:spPr>
          <a:xfrm>
            <a:off x="1792336" y="4800600"/>
            <a:ext cx="5486546"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12"/>
          <p:cNvSpPr/>
          <p:nvPr>
            <p:ph idx="2" type="pic"/>
          </p:nvPr>
        </p:nvSpPr>
        <p:spPr>
          <a:xfrm>
            <a:off x="1792336" y="612775"/>
            <a:ext cx="5486546" cy="4114800"/>
          </a:xfrm>
          <a:prstGeom prst="rect">
            <a:avLst/>
          </a:prstGeom>
          <a:noFill/>
          <a:ln>
            <a:noFill/>
          </a:ln>
        </p:spPr>
      </p:sp>
      <p:sp>
        <p:nvSpPr>
          <p:cNvPr id="70" name="Google Shape;70;p12"/>
          <p:cNvSpPr txBox="1"/>
          <p:nvPr>
            <p:ph idx="1" type="body"/>
          </p:nvPr>
        </p:nvSpPr>
        <p:spPr>
          <a:xfrm>
            <a:off x="1792336" y="5367338"/>
            <a:ext cx="5486546"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71" name="Google Shape;71;p12"/>
          <p:cNvSpPr txBox="1"/>
          <p:nvPr>
            <p:ph idx="10" type="dt"/>
          </p:nvPr>
        </p:nvSpPr>
        <p:spPr>
          <a:xfrm>
            <a:off x="457212" y="6356350"/>
            <a:ext cx="213365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2"/>
          <p:cNvSpPr txBox="1"/>
          <p:nvPr>
            <p:ph idx="11" type="ftr"/>
          </p:nvPr>
        </p:nvSpPr>
        <p:spPr>
          <a:xfrm>
            <a:off x="3124283" y="6356350"/>
            <a:ext cx="2895677"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2"/>
          <p:cNvSpPr txBox="1"/>
          <p:nvPr>
            <p:ph idx="12" type="sldNum"/>
          </p:nvPr>
        </p:nvSpPr>
        <p:spPr>
          <a:xfrm>
            <a:off x="6553375" y="6356350"/>
            <a:ext cx="213365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4" name="Shape 74"/>
        <p:cNvGrpSpPr/>
        <p:nvPr/>
      </p:nvGrpSpPr>
      <p:grpSpPr>
        <a:xfrm>
          <a:off x="0" y="0"/>
          <a:ext cx="0" cy="0"/>
          <a:chOff x="0" y="0"/>
          <a:chExt cx="0" cy="0"/>
        </a:xfrm>
      </p:grpSpPr>
      <p:sp>
        <p:nvSpPr>
          <p:cNvPr id="75" name="Google Shape;75;p13"/>
          <p:cNvSpPr txBox="1"/>
          <p:nvPr>
            <p:ph type="title"/>
          </p:nvPr>
        </p:nvSpPr>
        <p:spPr>
          <a:xfrm>
            <a:off x="457212" y="274638"/>
            <a:ext cx="8229819"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3"/>
          <p:cNvSpPr txBox="1"/>
          <p:nvPr>
            <p:ph idx="1" type="body"/>
          </p:nvPr>
        </p:nvSpPr>
        <p:spPr>
          <a:xfrm rot="5400000">
            <a:off x="2309140" y="-251728"/>
            <a:ext cx="4525963" cy="8229819"/>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3"/>
          <p:cNvSpPr txBox="1"/>
          <p:nvPr>
            <p:ph idx="10" type="dt"/>
          </p:nvPr>
        </p:nvSpPr>
        <p:spPr>
          <a:xfrm>
            <a:off x="457212" y="6356350"/>
            <a:ext cx="213365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3"/>
          <p:cNvSpPr txBox="1"/>
          <p:nvPr>
            <p:ph idx="11" type="ftr"/>
          </p:nvPr>
        </p:nvSpPr>
        <p:spPr>
          <a:xfrm>
            <a:off x="3124283" y="6356350"/>
            <a:ext cx="2895677"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3"/>
          <p:cNvSpPr txBox="1"/>
          <p:nvPr>
            <p:ph idx="12" type="sldNum"/>
          </p:nvPr>
        </p:nvSpPr>
        <p:spPr>
          <a:xfrm>
            <a:off x="6553375" y="6356350"/>
            <a:ext cx="213365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0" name="Shape 80"/>
        <p:cNvGrpSpPr/>
        <p:nvPr/>
      </p:nvGrpSpPr>
      <p:grpSpPr>
        <a:xfrm>
          <a:off x="0" y="0"/>
          <a:ext cx="0" cy="0"/>
          <a:chOff x="0" y="0"/>
          <a:chExt cx="0" cy="0"/>
        </a:xfrm>
      </p:grpSpPr>
      <p:sp>
        <p:nvSpPr>
          <p:cNvPr id="81" name="Google Shape;81;p14"/>
          <p:cNvSpPr txBox="1"/>
          <p:nvPr>
            <p:ph type="title"/>
          </p:nvPr>
        </p:nvSpPr>
        <p:spPr>
          <a:xfrm rot="5400000">
            <a:off x="4732542" y="2171673"/>
            <a:ext cx="5851525" cy="205745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p14"/>
          <p:cNvSpPr txBox="1"/>
          <p:nvPr>
            <p:ph idx="1" type="body"/>
          </p:nvPr>
        </p:nvSpPr>
        <p:spPr>
          <a:xfrm rot="5400000">
            <a:off x="541430" y="190420"/>
            <a:ext cx="5851525" cy="601996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3" name="Google Shape;83;p14"/>
          <p:cNvSpPr txBox="1"/>
          <p:nvPr>
            <p:ph idx="10" type="dt"/>
          </p:nvPr>
        </p:nvSpPr>
        <p:spPr>
          <a:xfrm>
            <a:off x="457212" y="6356350"/>
            <a:ext cx="213365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14"/>
          <p:cNvSpPr txBox="1"/>
          <p:nvPr>
            <p:ph idx="11" type="ftr"/>
          </p:nvPr>
        </p:nvSpPr>
        <p:spPr>
          <a:xfrm>
            <a:off x="3124283" y="6356350"/>
            <a:ext cx="2895677"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14"/>
          <p:cNvSpPr txBox="1"/>
          <p:nvPr>
            <p:ph idx="12" type="sldNum"/>
          </p:nvPr>
        </p:nvSpPr>
        <p:spPr>
          <a:xfrm>
            <a:off x="6553375" y="6356350"/>
            <a:ext cx="213365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bg>
      <p:bgPr>
        <a:solidFill>
          <a:srgbClr val="F2EDE6"/>
        </a:solidFill>
      </p:bgPr>
    </p:bg>
    <p:spTree>
      <p:nvGrpSpPr>
        <p:cNvPr id="89" name="Shape 89"/>
        <p:cNvGrpSpPr/>
        <p:nvPr/>
      </p:nvGrpSpPr>
      <p:grpSpPr>
        <a:xfrm>
          <a:off x="0" y="0"/>
          <a:ext cx="0" cy="0"/>
          <a:chOff x="0" y="0"/>
          <a:chExt cx="0" cy="0"/>
        </a:xfrm>
      </p:grpSpPr>
      <p:sp>
        <p:nvSpPr>
          <p:cNvPr id="90" name="Google Shape;90;p16"/>
          <p:cNvSpPr txBox="1"/>
          <p:nvPr>
            <p:ph type="title"/>
          </p:nvPr>
        </p:nvSpPr>
        <p:spPr>
          <a:xfrm>
            <a:off x="812800" y="1574577"/>
            <a:ext cx="10566400" cy="660400"/>
          </a:xfrm>
          <a:prstGeom prst="rect">
            <a:avLst/>
          </a:prstGeom>
          <a:noFill/>
          <a:ln>
            <a:noFill/>
          </a:ln>
        </p:spPr>
        <p:txBody>
          <a:bodyPr anchorCtr="0" anchor="t" bIns="0" lIns="0" spcFirstLastPara="1" rIns="0" wrap="square" tIns="0">
            <a:noAutofit/>
          </a:bodyPr>
          <a:lstStyle>
            <a:lvl1pPr lvl="0" algn="l">
              <a:lnSpc>
                <a:spcPct val="110000"/>
              </a:lnSpc>
              <a:spcBef>
                <a:spcPts val="0"/>
              </a:spcBef>
              <a:spcAft>
                <a:spcPts val="0"/>
              </a:spcAft>
              <a:buClr>
                <a:srgbClr val="B3202D"/>
              </a:buClr>
              <a:buSzPts val="5200"/>
              <a:buFont typeface="Archivo"/>
              <a:buNone/>
              <a:defRPr sz="5200">
                <a:solidFill>
                  <a:srgbClr val="B3202D"/>
                </a:solidFill>
                <a:latin typeface="Archivo"/>
                <a:ea typeface="Archivo"/>
                <a:cs typeface="Archivo"/>
                <a:sym typeface="Archiv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1" name="Google Shape;91;p16"/>
          <p:cNvSpPr txBox="1"/>
          <p:nvPr>
            <p:ph idx="1" type="body"/>
          </p:nvPr>
        </p:nvSpPr>
        <p:spPr>
          <a:xfrm>
            <a:off x="812800" y="2539777"/>
            <a:ext cx="10566400" cy="3505423"/>
          </a:xfrm>
          <a:prstGeom prst="rect">
            <a:avLst/>
          </a:prstGeom>
          <a:noFill/>
          <a:ln>
            <a:noFill/>
          </a:ln>
        </p:spPr>
        <p:txBody>
          <a:bodyPr anchorCtr="0" anchor="t" bIns="0" lIns="0" spcFirstLastPara="1" rIns="0" wrap="square" tIns="0">
            <a:noAutofit/>
          </a:bodyPr>
          <a:lstStyle>
            <a:lvl1pPr indent="-228600" lvl="0" marL="457200" algn="l">
              <a:lnSpc>
                <a:spcPct val="140000"/>
              </a:lnSpc>
              <a:spcBef>
                <a:spcPts val="320"/>
              </a:spcBef>
              <a:spcAft>
                <a:spcPts val="0"/>
              </a:spcAft>
              <a:buClr>
                <a:srgbClr val="1E1616"/>
              </a:buClr>
              <a:buSzPts val="1600"/>
              <a:buNone/>
              <a:defRPr sz="1600">
                <a:solidFill>
                  <a:srgbClr val="1E1616"/>
                </a:solidFill>
                <a:latin typeface="DM Sans"/>
                <a:ea typeface="DM Sans"/>
                <a:cs typeface="DM Sans"/>
                <a:sym typeface="DM Sans"/>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92" name="Shape 9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11" Type="http://schemas.openxmlformats.org/officeDocument/2006/relationships/slideLayout" Target="../slideLayouts/slideLayout12.xml"/><Relationship Id="rId10" Type="http://schemas.openxmlformats.org/officeDocument/2006/relationships/slideLayout" Target="../slideLayouts/slideLayout11.xml"/><Relationship Id="rId12" Type="http://schemas.openxmlformats.org/officeDocument/2006/relationships/theme" Target="../theme/theme2.xml"/><Relationship Id="rId9" Type="http://schemas.openxmlformats.org/officeDocument/2006/relationships/slideLayout" Target="../slideLayouts/slideLayout10.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 name="Shape 11"/>
        <p:cNvGrpSpPr/>
        <p:nvPr/>
      </p:nvGrpSpPr>
      <p:grpSpPr>
        <a:xfrm>
          <a:off x="0" y="0"/>
          <a:ext cx="0" cy="0"/>
          <a:chOff x="0" y="0"/>
          <a:chExt cx="0" cy="0"/>
        </a:xfrm>
      </p:grpSpPr>
      <p:sp>
        <p:nvSpPr>
          <p:cNvPr id="12" name="Google Shape;12;p3"/>
          <p:cNvSpPr txBox="1"/>
          <p:nvPr>
            <p:ph type="title"/>
          </p:nvPr>
        </p:nvSpPr>
        <p:spPr>
          <a:xfrm>
            <a:off x="457212" y="274638"/>
            <a:ext cx="8229819"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3"/>
          <p:cNvSpPr txBox="1"/>
          <p:nvPr>
            <p:ph idx="1" type="body"/>
          </p:nvPr>
        </p:nvSpPr>
        <p:spPr>
          <a:xfrm>
            <a:off x="457212" y="1600200"/>
            <a:ext cx="8229819"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4" name="Google Shape;14;p3"/>
          <p:cNvSpPr txBox="1"/>
          <p:nvPr>
            <p:ph idx="10" type="dt"/>
          </p:nvPr>
        </p:nvSpPr>
        <p:spPr>
          <a:xfrm>
            <a:off x="457212" y="6356350"/>
            <a:ext cx="2133657"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 name="Google Shape;15;p3"/>
          <p:cNvSpPr txBox="1"/>
          <p:nvPr>
            <p:ph idx="11" type="ftr"/>
          </p:nvPr>
        </p:nvSpPr>
        <p:spPr>
          <a:xfrm>
            <a:off x="3124283" y="6356350"/>
            <a:ext cx="2895677"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 name="Google Shape;16;p3"/>
          <p:cNvSpPr txBox="1"/>
          <p:nvPr>
            <p:ph idx="12" type="sldNum"/>
          </p:nvPr>
        </p:nvSpPr>
        <p:spPr>
          <a:xfrm>
            <a:off x="6553375" y="6356350"/>
            <a:ext cx="2133657"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EDE6"/>
        </a:solidFill>
      </p:bgPr>
    </p:bg>
    <p:spTree>
      <p:nvGrpSpPr>
        <p:cNvPr id="86" name="Shape 86"/>
        <p:cNvGrpSpPr/>
        <p:nvPr/>
      </p:nvGrpSpPr>
      <p:grpSpPr>
        <a:xfrm>
          <a:off x="0" y="0"/>
          <a:ext cx="0" cy="0"/>
          <a:chOff x="0" y="0"/>
          <a:chExt cx="0" cy="0"/>
        </a:xfrm>
      </p:grpSpPr>
      <p:sp>
        <p:nvSpPr>
          <p:cNvPr id="87" name="Google Shape;87;p15"/>
          <p:cNvSpPr txBox="1"/>
          <p:nvPr>
            <p:ph type="title"/>
          </p:nvPr>
        </p:nvSpPr>
        <p:spPr>
          <a:xfrm>
            <a:off x="812800" y="1574577"/>
            <a:ext cx="10566400" cy="660400"/>
          </a:xfrm>
          <a:prstGeom prst="rect">
            <a:avLst/>
          </a:prstGeom>
          <a:noFill/>
          <a:ln>
            <a:noFill/>
          </a:ln>
        </p:spPr>
        <p:txBody>
          <a:bodyPr anchorCtr="0" anchor="t" bIns="0" lIns="0" spcFirstLastPara="1" rIns="0" wrap="square" tIns="0">
            <a:noAutofit/>
          </a:bodyPr>
          <a:lstStyle>
            <a:lvl1pPr lvl="0" marR="0" rtl="0" algn="l">
              <a:lnSpc>
                <a:spcPct val="110000"/>
              </a:lnSpc>
              <a:spcBef>
                <a:spcPts val="0"/>
              </a:spcBef>
              <a:spcAft>
                <a:spcPts val="0"/>
              </a:spcAft>
              <a:buClr>
                <a:srgbClr val="B3202D"/>
              </a:buClr>
              <a:buSzPts val="5200"/>
              <a:buFont typeface="Archivo"/>
              <a:buNone/>
              <a:defRPr b="0" i="0" sz="5200" u="none" cap="none" strike="noStrike">
                <a:solidFill>
                  <a:srgbClr val="B3202D"/>
                </a:solidFill>
                <a:latin typeface="Archivo"/>
                <a:ea typeface="Archivo"/>
                <a:cs typeface="Archivo"/>
                <a:sym typeface="Archiv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8" name="Google Shape;88;p15"/>
          <p:cNvSpPr txBox="1"/>
          <p:nvPr>
            <p:ph idx="1" type="body"/>
          </p:nvPr>
        </p:nvSpPr>
        <p:spPr>
          <a:xfrm>
            <a:off x="812800" y="2539777"/>
            <a:ext cx="10566400" cy="3505423"/>
          </a:xfrm>
          <a:prstGeom prst="rect">
            <a:avLst/>
          </a:prstGeom>
          <a:noFill/>
          <a:ln>
            <a:noFill/>
          </a:ln>
        </p:spPr>
        <p:txBody>
          <a:bodyPr anchorCtr="0" anchor="t" bIns="0" lIns="0" spcFirstLastPara="1" rIns="0" wrap="square" tIns="0">
            <a:noAutofit/>
          </a:bodyPr>
          <a:lstStyle>
            <a:lvl1pPr indent="-228600" lvl="0" marL="457200" marR="0" rtl="0" algn="l">
              <a:lnSpc>
                <a:spcPct val="140000"/>
              </a:lnSpc>
              <a:spcBef>
                <a:spcPts val="320"/>
              </a:spcBef>
              <a:spcAft>
                <a:spcPts val="0"/>
              </a:spcAft>
              <a:buClr>
                <a:srgbClr val="1E1616"/>
              </a:buClr>
              <a:buSzPts val="1600"/>
              <a:buFont typeface="Arial"/>
              <a:buNone/>
              <a:defRPr b="0" i="0" sz="1600" u="none" cap="none" strike="noStrike">
                <a:solidFill>
                  <a:srgbClr val="1E1616"/>
                </a:solidFill>
                <a:latin typeface="DM Sans"/>
                <a:ea typeface="DM Sans"/>
                <a:cs typeface="DM Sans"/>
                <a:sym typeface="DM Sans"/>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DM Sans"/>
                <a:ea typeface="DM Sans"/>
                <a:cs typeface="DM Sans"/>
                <a:sym typeface="DM Sans"/>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DM Sans"/>
                <a:ea typeface="DM Sans"/>
                <a:cs typeface="DM Sans"/>
                <a:sym typeface="DM Sans"/>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DM Sans"/>
                <a:ea typeface="DM Sans"/>
                <a:cs typeface="DM Sans"/>
                <a:sym typeface="DM Sans"/>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DM Sans"/>
                <a:ea typeface="DM Sans"/>
                <a:cs typeface="DM Sans"/>
                <a:sym typeface="DM Sans"/>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DM Sans"/>
                <a:ea typeface="DM Sans"/>
                <a:cs typeface="DM Sans"/>
                <a:sym typeface="DM Sans"/>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DM Sans"/>
                <a:ea typeface="DM Sans"/>
                <a:cs typeface="DM Sans"/>
                <a:sym typeface="DM Sans"/>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DM Sans"/>
                <a:ea typeface="DM Sans"/>
                <a:cs typeface="DM Sans"/>
                <a:sym typeface="DM Sans"/>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DM Sans"/>
                <a:ea typeface="DM Sans"/>
                <a:cs typeface="DM Sans"/>
                <a:sym typeface="DM Sans"/>
              </a:defRPr>
            </a:lvl9pPr>
          </a:lstStyle>
          <a:p/>
        </p:txBody>
      </p:sp>
    </p:spTree>
  </p:cSld>
  <p:clrMap accent1="accent1" accent2="accent2" accent3="accent3" accent4="accent4" accent5="accent5" accent6="accent6" bg1="lt1" bg2="dk2" tx1="dk1" tx2="lt2" folHlink="folHlink" hlink="hlink"/>
  <p:sldLayoutIdLst>
    <p:sldLayoutId id="2147483660" r:id="rId1"/>
    <p:sldLayoutId id="2147483661"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5.png"/><Relationship Id="rId4" Type="http://schemas.openxmlformats.org/officeDocument/2006/relationships/image" Target="../media/image8.png"/><Relationship Id="rId5" Type="http://schemas.openxmlformats.org/officeDocument/2006/relationships/image" Target="../media/image2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5.png"/><Relationship Id="rId4" Type="http://schemas.openxmlformats.org/officeDocument/2006/relationships/image" Target="../media/image8.png"/><Relationship Id="rId5"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3.png"/><Relationship Id="rId4" Type="http://schemas.openxmlformats.org/officeDocument/2006/relationships/image" Target="../media/image24.png"/><Relationship Id="rId9" Type="http://schemas.openxmlformats.org/officeDocument/2006/relationships/image" Target="../media/image7.png"/><Relationship Id="rId5" Type="http://schemas.openxmlformats.org/officeDocument/2006/relationships/image" Target="../media/image1.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image" Target="../media/image6.png"/><Relationship Id="rId5" Type="http://schemas.openxmlformats.org/officeDocument/2006/relationships/image" Target="../media/image1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5.png"/><Relationship Id="rId4" Type="http://schemas.openxmlformats.org/officeDocument/2006/relationships/image" Target="../media/image2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9.png"/><Relationship Id="rId4" Type="http://schemas.openxmlformats.org/officeDocument/2006/relationships/image" Target="../media/image6.png"/><Relationship Id="rId5" Type="http://schemas.openxmlformats.org/officeDocument/2006/relationships/hyperlink" Target="http://www.youtube.com/watch?v=4PS0RS5ppgg" TargetMode="External"/><Relationship Id="rId6" Type="http://schemas.openxmlformats.org/officeDocument/2006/relationships/image" Target="../media/image23.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9.pn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9.png"/><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9.png"/><Relationship Id="rId4"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9.png"/><Relationship Id="rId4" Type="http://schemas.openxmlformats.org/officeDocument/2006/relationships/image" Target="../media/image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6.png"/><Relationship Id="rId4" Type="http://schemas.openxmlformats.org/officeDocument/2006/relationships/image" Target="../media/image26.png"/><Relationship Id="rId5"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1EDE7"/>
        </a:solidFill>
      </p:bgPr>
    </p:bg>
    <p:spTree>
      <p:nvGrpSpPr>
        <p:cNvPr id="96" name="Shape 96"/>
        <p:cNvGrpSpPr/>
        <p:nvPr/>
      </p:nvGrpSpPr>
      <p:grpSpPr>
        <a:xfrm>
          <a:off x="0" y="0"/>
          <a:ext cx="0" cy="0"/>
          <a:chOff x="0" y="0"/>
          <a:chExt cx="0" cy="0"/>
        </a:xfrm>
      </p:grpSpPr>
      <p:sp>
        <p:nvSpPr>
          <p:cNvPr id="97" name="Google Shape;97;p18"/>
          <p:cNvSpPr txBox="1"/>
          <p:nvPr/>
        </p:nvSpPr>
        <p:spPr>
          <a:xfrm>
            <a:off x="685818" y="1417320"/>
            <a:ext cx="6583800" cy="1354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en-US" sz="8800" u="none" cap="none" strike="noStrike">
                <a:solidFill>
                  <a:srgbClr val="B3202D"/>
                </a:solidFill>
                <a:latin typeface="Archivo ExtraBold"/>
                <a:ea typeface="Archivo ExtraBold"/>
                <a:cs typeface="Archivo ExtraBold"/>
                <a:sym typeface="Archivo ExtraBold"/>
              </a:rPr>
              <a:t>WELCOME!</a:t>
            </a:r>
            <a:endParaRPr>
              <a:solidFill>
                <a:srgbClr val="B3202D"/>
              </a:solidFill>
              <a:latin typeface="Archivo ExtraBold"/>
              <a:ea typeface="Archivo ExtraBold"/>
              <a:cs typeface="Archivo ExtraBold"/>
              <a:sym typeface="Archivo ExtraBold"/>
            </a:endParaRPr>
          </a:p>
        </p:txBody>
      </p:sp>
      <p:sp>
        <p:nvSpPr>
          <p:cNvPr id="98" name="Google Shape;98;p18"/>
          <p:cNvSpPr txBox="1"/>
          <p:nvPr/>
        </p:nvSpPr>
        <p:spPr>
          <a:xfrm>
            <a:off x="685818" y="3017520"/>
            <a:ext cx="6218100" cy="800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600" u="none" cap="none" strike="noStrike">
                <a:solidFill>
                  <a:srgbClr val="1F1819"/>
                </a:solidFill>
                <a:latin typeface="Montserrat"/>
                <a:ea typeface="Montserrat"/>
                <a:cs typeface="Montserrat"/>
                <a:sym typeface="Montserrat"/>
              </a:rPr>
              <a:t>Scan the code to fill out our </a:t>
            </a:r>
            <a:r>
              <a:rPr b="1" i="0" lang="en-US" sz="2600" u="none" cap="none" strike="noStrike">
                <a:solidFill>
                  <a:srgbClr val="B3202D"/>
                </a:solidFill>
                <a:latin typeface="Montserrat"/>
                <a:ea typeface="Montserrat"/>
                <a:cs typeface="Montserrat"/>
                <a:sym typeface="Montserrat"/>
              </a:rPr>
              <a:t>quick</a:t>
            </a:r>
            <a:r>
              <a:rPr b="1" i="0" lang="en-US" sz="2600" u="none" cap="none" strike="noStrike">
                <a:solidFill>
                  <a:srgbClr val="A3292F"/>
                </a:solidFill>
                <a:latin typeface="Montserrat"/>
                <a:ea typeface="Montserrat"/>
                <a:cs typeface="Montserrat"/>
                <a:sym typeface="Montserrat"/>
              </a:rPr>
              <a:t> </a:t>
            </a:r>
            <a:r>
              <a:rPr b="1" i="0" lang="en-US" sz="2600" u="none" cap="none" strike="noStrike">
                <a:solidFill>
                  <a:srgbClr val="B3202D"/>
                </a:solidFill>
                <a:latin typeface="Montserrat"/>
                <a:ea typeface="Montserrat"/>
                <a:cs typeface="Montserrat"/>
                <a:sym typeface="Montserrat"/>
              </a:rPr>
              <a:t>survey</a:t>
            </a:r>
            <a:r>
              <a:rPr b="0" i="0" lang="en-US" sz="2600" u="none" cap="none" strike="noStrike">
                <a:solidFill>
                  <a:srgbClr val="1F1819"/>
                </a:solidFill>
                <a:latin typeface="Montserrat"/>
                <a:ea typeface="Montserrat"/>
                <a:cs typeface="Montserrat"/>
                <a:sym typeface="Montserrat"/>
              </a:rPr>
              <a:t> before we get started.</a:t>
            </a:r>
            <a:endParaRPr/>
          </a:p>
        </p:txBody>
      </p:sp>
      <p:sp>
        <p:nvSpPr>
          <p:cNvPr id="99" name="Google Shape;99;p18"/>
          <p:cNvSpPr/>
          <p:nvPr/>
        </p:nvSpPr>
        <p:spPr>
          <a:xfrm>
            <a:off x="7635444" y="777240"/>
            <a:ext cx="3840582" cy="3840480"/>
          </a:xfrm>
          <a:prstGeom prst="roundRect">
            <a:avLst>
              <a:gd fmla="val 6000" name="adj"/>
            </a:avLst>
          </a:prstGeom>
          <a:solidFill>
            <a:srgbClr val="FFFFFF"/>
          </a:solidFill>
          <a:ln cap="flat" cmpd="sng" w="50800">
            <a:solidFill>
              <a:srgbClr val="A3292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B3202D"/>
              </a:solidFill>
              <a:latin typeface="Calibri"/>
              <a:ea typeface="Calibri"/>
              <a:cs typeface="Calibri"/>
              <a:sym typeface="Calibri"/>
            </a:endParaRPr>
          </a:p>
        </p:txBody>
      </p:sp>
      <p:sp>
        <p:nvSpPr>
          <p:cNvPr id="100" name="Google Shape;100;p18"/>
          <p:cNvSpPr txBox="1"/>
          <p:nvPr/>
        </p:nvSpPr>
        <p:spPr>
          <a:xfrm>
            <a:off x="7635444" y="4754880"/>
            <a:ext cx="3840600" cy="215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t/>
            </a:r>
            <a:endParaRPr>
              <a:solidFill>
                <a:srgbClr val="B3202D"/>
              </a:solidFill>
            </a:endParaRPr>
          </a:p>
        </p:txBody>
      </p:sp>
      <p:sp>
        <p:nvSpPr>
          <p:cNvPr id="101" name="Google Shape;101;p18"/>
          <p:cNvSpPr/>
          <p:nvPr/>
        </p:nvSpPr>
        <p:spPr>
          <a:xfrm>
            <a:off x="685818" y="5806440"/>
            <a:ext cx="10817640" cy="18288"/>
          </a:xfrm>
          <a:prstGeom prst="rect">
            <a:avLst/>
          </a:prstGeom>
          <a:solidFill>
            <a:srgbClr val="C9C2B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2" name="Google Shape;102;p18"/>
          <p:cNvSpPr txBox="1"/>
          <p:nvPr/>
        </p:nvSpPr>
        <p:spPr>
          <a:xfrm>
            <a:off x="6583856" y="5989320"/>
            <a:ext cx="4919603" cy="50292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1" i="0" lang="en-US" sz="2400" u="none" cap="none" strike="noStrike">
                <a:solidFill>
                  <a:srgbClr val="1F1819"/>
                </a:solidFill>
                <a:latin typeface="Montserrat"/>
                <a:ea typeface="Montserrat"/>
                <a:cs typeface="Montserrat"/>
                <a:sym typeface="Montserrat"/>
              </a:rPr>
              <a:t>DO GOOD. BETTER.</a:t>
            </a:r>
            <a:endParaRPr/>
          </a:p>
        </p:txBody>
      </p:sp>
      <p:pic>
        <p:nvPicPr>
          <p:cNvPr descr="Ballard Center, BYU Marriott logo" id="103" name="Google Shape;103;p18"/>
          <p:cNvPicPr preferRelativeResize="0"/>
          <p:nvPr/>
        </p:nvPicPr>
        <p:blipFill rotWithShape="1">
          <a:blip r:embed="rId3">
            <a:alphaModFix/>
          </a:blip>
          <a:srcRect b="0" l="-40" r="-40" t="0"/>
          <a:stretch/>
        </p:blipFill>
        <p:spPr>
          <a:xfrm>
            <a:off x="812800" y="6083300"/>
            <a:ext cx="1390650" cy="381000"/>
          </a:xfrm>
          <a:prstGeom prst="rect">
            <a:avLst/>
          </a:prstGeom>
          <a:noFill/>
          <a:ln>
            <a:noFill/>
          </a:ln>
        </p:spPr>
      </p:pic>
      <p:pic>
        <p:nvPicPr>
          <p:cNvPr descr="Merit Medical logo" id="104" name="Google Shape;104;p18"/>
          <p:cNvPicPr preferRelativeResize="0"/>
          <p:nvPr/>
        </p:nvPicPr>
        <p:blipFill rotWithShape="1">
          <a:blip r:embed="rId4">
            <a:alphaModFix/>
          </a:blip>
          <a:srcRect b="0" l="-70" r="-80" t="0"/>
          <a:stretch/>
        </p:blipFill>
        <p:spPr>
          <a:xfrm>
            <a:off x="2730500" y="6083300"/>
            <a:ext cx="2425700" cy="381000"/>
          </a:xfrm>
          <a:prstGeom prst="rect">
            <a:avLst/>
          </a:prstGeom>
          <a:noFill/>
          <a:ln>
            <a:noFill/>
          </a:ln>
        </p:spPr>
      </p:pic>
      <p:sp>
        <p:nvSpPr>
          <p:cNvPr id="105" name="Google Shape;105;p18"/>
          <p:cNvSpPr/>
          <p:nvPr/>
        </p:nvSpPr>
        <p:spPr>
          <a:xfrm>
            <a:off x="2457450" y="6045200"/>
            <a:ext cx="19200" cy="457200"/>
          </a:xfrm>
          <a:prstGeom prst="rect">
            <a:avLst/>
          </a:prstGeom>
          <a:solidFill>
            <a:srgbClr val="1E16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6" name="Google Shape;106;p18"/>
          <p:cNvPicPr preferRelativeResize="0"/>
          <p:nvPr/>
        </p:nvPicPr>
        <p:blipFill>
          <a:blip r:embed="rId5">
            <a:alphaModFix/>
          </a:blip>
          <a:stretch>
            <a:fillRect/>
          </a:stretch>
        </p:blipFill>
        <p:spPr>
          <a:xfrm>
            <a:off x="7801050" y="942790"/>
            <a:ext cx="3509375" cy="350939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EDE6"/>
        </a:solidFill>
      </p:bgPr>
    </p:bg>
    <p:spTree>
      <p:nvGrpSpPr>
        <p:cNvPr id="111" name="Shape 111"/>
        <p:cNvGrpSpPr/>
        <p:nvPr/>
      </p:nvGrpSpPr>
      <p:grpSpPr>
        <a:xfrm>
          <a:off x="0" y="0"/>
          <a:ext cx="0" cy="0"/>
          <a:chOff x="0" y="0"/>
          <a:chExt cx="0" cy="0"/>
        </a:xfrm>
      </p:grpSpPr>
      <p:sp>
        <p:nvSpPr>
          <p:cNvPr id="112" name="Google Shape;112;p19"/>
          <p:cNvSpPr/>
          <p:nvPr/>
        </p:nvSpPr>
        <p:spPr>
          <a:xfrm>
            <a:off x="812800" y="3228375"/>
            <a:ext cx="12611400" cy="5435100"/>
          </a:xfrm>
          <a:prstGeom prst="rect">
            <a:avLst/>
          </a:prstGeom>
          <a:noFill/>
          <a:ln>
            <a:noFill/>
          </a:ln>
        </p:spPr>
        <p:txBody>
          <a:bodyPr anchorCtr="0" anchor="t" bIns="0" lIns="0" spcFirstLastPara="1" rIns="0" wrap="square" tIns="0">
            <a:noAutofit/>
          </a:bodyPr>
          <a:lstStyle/>
          <a:p>
            <a:pPr indent="0" lvl="0" marL="0" marR="0" rtl="0" algn="l">
              <a:lnSpc>
                <a:spcPct val="82000"/>
              </a:lnSpc>
              <a:spcBef>
                <a:spcPts val="0"/>
              </a:spcBef>
              <a:spcAft>
                <a:spcPts val="0"/>
              </a:spcAft>
              <a:buClr>
                <a:srgbClr val="B3202D"/>
              </a:buClr>
              <a:buSzPts val="20000"/>
              <a:buFont typeface="Archivo"/>
              <a:buNone/>
            </a:pPr>
            <a:r>
              <a:rPr i="0" lang="en-US" sz="10000" u="none" cap="none" strike="noStrike">
                <a:solidFill>
                  <a:srgbClr val="B3202D"/>
                </a:solidFill>
                <a:latin typeface="Archivo ExtraBold"/>
                <a:ea typeface="Archivo ExtraBold"/>
                <a:cs typeface="Archivo ExtraBold"/>
                <a:sym typeface="Archivo ExtraBold"/>
              </a:rPr>
              <a:t>KICKOFF</a:t>
            </a:r>
            <a:endParaRPr i="0" sz="10000" u="none" cap="none" strike="noStrike">
              <a:solidFill>
                <a:schemeClr val="dk1"/>
              </a:solidFill>
              <a:latin typeface="Archivo ExtraBold"/>
              <a:ea typeface="Archivo ExtraBold"/>
              <a:cs typeface="Archivo ExtraBold"/>
              <a:sym typeface="Archivo ExtraBold"/>
            </a:endParaRPr>
          </a:p>
        </p:txBody>
      </p:sp>
      <p:pic>
        <p:nvPicPr>
          <p:cNvPr descr="Ballard Center, BYU Marriott logo" id="113" name="Google Shape;113;p19"/>
          <p:cNvPicPr preferRelativeResize="0"/>
          <p:nvPr/>
        </p:nvPicPr>
        <p:blipFill rotWithShape="1">
          <a:blip r:embed="rId3">
            <a:alphaModFix/>
          </a:blip>
          <a:srcRect b="0" l="-40" r="-40" t="0"/>
          <a:stretch/>
        </p:blipFill>
        <p:spPr>
          <a:xfrm>
            <a:off x="812800" y="6083300"/>
            <a:ext cx="1390650" cy="381000"/>
          </a:xfrm>
          <a:prstGeom prst="rect">
            <a:avLst/>
          </a:prstGeom>
          <a:noFill/>
          <a:ln>
            <a:noFill/>
          </a:ln>
        </p:spPr>
      </p:pic>
      <p:sp>
        <p:nvSpPr>
          <p:cNvPr id="114" name="Google Shape;114;p19"/>
          <p:cNvSpPr/>
          <p:nvPr/>
        </p:nvSpPr>
        <p:spPr>
          <a:xfrm>
            <a:off x="2457450" y="6045200"/>
            <a:ext cx="19050" cy="457200"/>
          </a:xfrm>
          <a:prstGeom prst="rect">
            <a:avLst/>
          </a:prstGeom>
          <a:solidFill>
            <a:srgbClr val="1E16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Merit Medical logo" id="115" name="Google Shape;115;p19"/>
          <p:cNvPicPr preferRelativeResize="0"/>
          <p:nvPr/>
        </p:nvPicPr>
        <p:blipFill rotWithShape="1">
          <a:blip r:embed="rId4">
            <a:alphaModFix/>
          </a:blip>
          <a:srcRect b="0" l="-75" r="-75" t="0"/>
          <a:stretch/>
        </p:blipFill>
        <p:spPr>
          <a:xfrm>
            <a:off x="2730500" y="6083300"/>
            <a:ext cx="2425700" cy="381000"/>
          </a:xfrm>
          <a:prstGeom prst="rect">
            <a:avLst/>
          </a:prstGeom>
          <a:noFill/>
          <a:ln>
            <a:noFill/>
          </a:ln>
        </p:spPr>
      </p:pic>
      <p:pic>
        <p:nvPicPr>
          <p:cNvPr descr="Do Good. Better." id="116" name="Google Shape;116;p19"/>
          <p:cNvPicPr preferRelativeResize="0"/>
          <p:nvPr/>
        </p:nvPicPr>
        <p:blipFill rotWithShape="1">
          <a:blip r:embed="rId5">
            <a:alphaModFix/>
          </a:blip>
          <a:srcRect b="-5" l="0" r="0" t="-5"/>
          <a:stretch/>
        </p:blipFill>
        <p:spPr>
          <a:xfrm>
            <a:off x="8001000" y="6121400"/>
            <a:ext cx="3378200" cy="304800"/>
          </a:xfrm>
          <a:prstGeom prst="rect">
            <a:avLst/>
          </a:prstGeom>
          <a:noFill/>
          <a:ln>
            <a:noFill/>
          </a:ln>
        </p:spPr>
      </p:pic>
      <p:pic>
        <p:nvPicPr>
          <p:cNvPr descr="Merit Medical logo" id="117" name="Google Shape;117;p19"/>
          <p:cNvPicPr preferRelativeResize="0"/>
          <p:nvPr/>
        </p:nvPicPr>
        <p:blipFill rotWithShape="1">
          <a:blip r:embed="rId4">
            <a:alphaModFix/>
          </a:blip>
          <a:srcRect b="0" l="-70" r="-80" t="0"/>
          <a:stretch/>
        </p:blipFill>
        <p:spPr>
          <a:xfrm>
            <a:off x="812800" y="1456975"/>
            <a:ext cx="9917991" cy="1557812"/>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616"/>
        </a:solidFill>
      </p:bgPr>
    </p:bg>
    <p:spTree>
      <p:nvGrpSpPr>
        <p:cNvPr id="122" name="Shape 122"/>
        <p:cNvGrpSpPr/>
        <p:nvPr/>
      </p:nvGrpSpPr>
      <p:grpSpPr>
        <a:xfrm>
          <a:off x="0" y="0"/>
          <a:ext cx="0" cy="0"/>
          <a:chOff x="0" y="0"/>
          <a:chExt cx="0" cy="0"/>
        </a:xfrm>
      </p:grpSpPr>
      <p:sp>
        <p:nvSpPr>
          <p:cNvPr id="123" name="Google Shape;123;p20"/>
          <p:cNvSpPr/>
          <p:nvPr/>
        </p:nvSpPr>
        <p:spPr>
          <a:xfrm>
            <a:off x="812800" y="812800"/>
            <a:ext cx="4185920" cy="1968500"/>
          </a:xfrm>
          <a:prstGeom prst="rect">
            <a:avLst/>
          </a:prstGeom>
          <a:noFill/>
          <a:ln>
            <a:noFill/>
          </a:ln>
        </p:spPr>
        <p:txBody>
          <a:bodyPr anchorCtr="0" anchor="t" bIns="0" lIns="0" spcFirstLastPara="1" rIns="0" wrap="square" tIns="0">
            <a:noAutofit/>
          </a:bodyPr>
          <a:lstStyle/>
          <a:p>
            <a:pPr indent="0" lvl="0" marL="0" marR="0" rtl="0" algn="l">
              <a:lnSpc>
                <a:spcPct val="85000"/>
              </a:lnSpc>
              <a:spcBef>
                <a:spcPts val="0"/>
              </a:spcBef>
              <a:spcAft>
                <a:spcPts val="0"/>
              </a:spcAft>
              <a:buClr>
                <a:srgbClr val="D6313F"/>
              </a:buClr>
              <a:buSzPts val="9000"/>
              <a:buFont typeface="Archivo"/>
              <a:buNone/>
            </a:pPr>
            <a:r>
              <a:rPr b="1" i="0" lang="en-US" sz="9000" u="none" cap="none" strike="noStrike">
                <a:solidFill>
                  <a:srgbClr val="D6313F"/>
                </a:solidFill>
                <a:latin typeface="Archivo"/>
                <a:ea typeface="Archivo"/>
                <a:cs typeface="Archivo"/>
                <a:sym typeface="Archivo"/>
              </a:rPr>
              <a:t>TO</a:t>
            </a:r>
            <a:endParaRPr b="0" i="0" sz="9000" u="none" cap="none" strike="noStrike">
              <a:solidFill>
                <a:schemeClr val="dk1"/>
              </a:solidFill>
              <a:latin typeface="Calibri"/>
              <a:ea typeface="Calibri"/>
              <a:cs typeface="Calibri"/>
              <a:sym typeface="Calibri"/>
            </a:endParaRPr>
          </a:p>
          <a:p>
            <a:pPr indent="0" lvl="0" marL="0" marR="0" rtl="0" algn="l">
              <a:lnSpc>
                <a:spcPct val="85000"/>
              </a:lnSpc>
              <a:spcBef>
                <a:spcPts val="0"/>
              </a:spcBef>
              <a:spcAft>
                <a:spcPts val="0"/>
              </a:spcAft>
              <a:buClr>
                <a:srgbClr val="D6313F"/>
              </a:buClr>
              <a:buSzPts val="9000"/>
              <a:buFont typeface="Archivo"/>
              <a:buNone/>
            </a:pPr>
            <a:r>
              <a:rPr b="1" i="0" lang="en-US" sz="9000" u="none" cap="none" strike="noStrike">
                <a:solidFill>
                  <a:srgbClr val="D6313F"/>
                </a:solidFill>
                <a:latin typeface="Archivo"/>
                <a:ea typeface="Archivo"/>
                <a:cs typeface="Archivo"/>
                <a:sym typeface="Archivo"/>
              </a:rPr>
              <a:t>NIGHT</a:t>
            </a:r>
            <a:endParaRPr b="0" i="0" sz="9000" u="none" cap="none" strike="noStrike">
              <a:solidFill>
                <a:schemeClr val="dk1"/>
              </a:solidFill>
              <a:latin typeface="Calibri"/>
              <a:ea typeface="Calibri"/>
              <a:cs typeface="Calibri"/>
              <a:sym typeface="Calibri"/>
            </a:endParaRPr>
          </a:p>
        </p:txBody>
      </p:sp>
      <p:cxnSp>
        <p:nvCxnSpPr>
          <p:cNvPr id="124" name="Google Shape;124;p20"/>
          <p:cNvCxnSpPr/>
          <p:nvPr/>
        </p:nvCxnSpPr>
        <p:spPr>
          <a:xfrm>
            <a:off x="5486400" y="1611610"/>
            <a:ext cx="5892800" cy="0"/>
          </a:xfrm>
          <a:prstGeom prst="straightConnector1">
            <a:avLst/>
          </a:prstGeom>
          <a:noFill/>
          <a:ln cap="flat" cmpd="sng" w="12700">
            <a:solidFill>
              <a:srgbClr val="4A3434"/>
            </a:solidFill>
            <a:prstDash val="solid"/>
            <a:round/>
            <a:headEnd len="sm" w="sm" type="none"/>
            <a:tailEnd len="sm" w="sm" type="none"/>
          </a:ln>
        </p:spPr>
      </p:cxnSp>
      <p:sp>
        <p:nvSpPr>
          <p:cNvPr id="125" name="Google Shape;125;p20"/>
          <p:cNvSpPr/>
          <p:nvPr/>
        </p:nvSpPr>
        <p:spPr>
          <a:xfrm>
            <a:off x="5486400" y="812800"/>
            <a:ext cx="660747" cy="6654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D6313F"/>
              </a:buClr>
              <a:buSzPts val="3600"/>
              <a:buFont typeface="Archivo"/>
              <a:buNone/>
            </a:pPr>
            <a:r>
              <a:rPr b="1" i="0" lang="en-US" sz="3600" u="none" cap="none" strike="noStrike">
                <a:solidFill>
                  <a:srgbClr val="D6313F"/>
                </a:solidFill>
                <a:latin typeface="Archivo"/>
                <a:ea typeface="Archivo"/>
                <a:cs typeface="Archivo"/>
                <a:sym typeface="Archivo"/>
              </a:rPr>
              <a:t>01</a:t>
            </a:r>
            <a:endParaRPr b="0" i="0" sz="3600" u="none" cap="none" strike="noStrike">
              <a:solidFill>
                <a:schemeClr val="dk1"/>
              </a:solidFill>
              <a:latin typeface="Calibri"/>
              <a:ea typeface="Calibri"/>
              <a:cs typeface="Calibri"/>
              <a:sym typeface="Calibri"/>
            </a:endParaRPr>
          </a:p>
        </p:txBody>
      </p:sp>
      <p:sp>
        <p:nvSpPr>
          <p:cNvPr id="126" name="Google Shape;126;p20"/>
          <p:cNvSpPr/>
          <p:nvPr/>
        </p:nvSpPr>
        <p:spPr>
          <a:xfrm>
            <a:off x="6350351" y="993775"/>
            <a:ext cx="5748000" cy="4164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EDE6"/>
              </a:buClr>
              <a:buSzPts val="2200"/>
              <a:buFont typeface="DM Sans"/>
              <a:buNone/>
            </a:pPr>
            <a:r>
              <a:rPr b="1" lang="en-US" sz="2200">
                <a:solidFill>
                  <a:srgbClr val="F2EDE6"/>
                </a:solidFill>
                <a:latin typeface="DM Sans"/>
                <a:ea typeface="DM Sans"/>
                <a:cs typeface="DM Sans"/>
                <a:sym typeface="DM Sans"/>
              </a:rPr>
              <a:t>Welcome! Business for Good Intro</a:t>
            </a:r>
            <a:endParaRPr b="0" i="0" sz="2200" u="none" cap="none" strike="noStrike">
              <a:solidFill>
                <a:schemeClr val="dk1"/>
              </a:solidFill>
              <a:latin typeface="Calibri"/>
              <a:ea typeface="Calibri"/>
              <a:cs typeface="Calibri"/>
              <a:sym typeface="Calibri"/>
            </a:endParaRPr>
          </a:p>
        </p:txBody>
      </p:sp>
      <p:cxnSp>
        <p:nvCxnSpPr>
          <p:cNvPr id="127" name="Google Shape;127;p20"/>
          <p:cNvCxnSpPr/>
          <p:nvPr/>
        </p:nvCxnSpPr>
        <p:spPr>
          <a:xfrm>
            <a:off x="5486400" y="2670820"/>
            <a:ext cx="5892800" cy="0"/>
          </a:xfrm>
          <a:prstGeom prst="straightConnector1">
            <a:avLst/>
          </a:prstGeom>
          <a:noFill/>
          <a:ln cap="flat" cmpd="sng" w="12700">
            <a:solidFill>
              <a:srgbClr val="4A3434"/>
            </a:solidFill>
            <a:prstDash val="solid"/>
            <a:round/>
            <a:headEnd len="sm" w="sm" type="none"/>
            <a:tailEnd len="sm" w="sm" type="none"/>
          </a:ln>
        </p:spPr>
      </p:cxnSp>
      <p:sp>
        <p:nvSpPr>
          <p:cNvPr id="128" name="Google Shape;128;p20"/>
          <p:cNvSpPr/>
          <p:nvPr/>
        </p:nvSpPr>
        <p:spPr>
          <a:xfrm>
            <a:off x="5486400" y="1872010"/>
            <a:ext cx="660747" cy="6654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D6313F"/>
              </a:buClr>
              <a:buSzPts val="3600"/>
              <a:buFont typeface="Archivo"/>
              <a:buNone/>
            </a:pPr>
            <a:r>
              <a:rPr b="1" i="0" lang="en-US" sz="3600" u="none" cap="none" strike="noStrike">
                <a:solidFill>
                  <a:srgbClr val="D6313F"/>
                </a:solidFill>
                <a:latin typeface="Archivo"/>
                <a:ea typeface="Archivo"/>
                <a:cs typeface="Archivo"/>
                <a:sym typeface="Archivo"/>
              </a:rPr>
              <a:t>02</a:t>
            </a:r>
            <a:endParaRPr b="0" i="0" sz="3600" u="none" cap="none" strike="noStrike">
              <a:solidFill>
                <a:schemeClr val="dk1"/>
              </a:solidFill>
              <a:latin typeface="Calibri"/>
              <a:ea typeface="Calibri"/>
              <a:cs typeface="Calibri"/>
              <a:sym typeface="Calibri"/>
            </a:endParaRPr>
          </a:p>
        </p:txBody>
      </p:sp>
      <p:sp>
        <p:nvSpPr>
          <p:cNvPr id="129" name="Google Shape;129;p20"/>
          <p:cNvSpPr/>
          <p:nvPr/>
        </p:nvSpPr>
        <p:spPr>
          <a:xfrm>
            <a:off x="6350347" y="2052985"/>
            <a:ext cx="4485863" cy="4165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EDE6"/>
              </a:buClr>
              <a:buSzPts val="2200"/>
              <a:buFont typeface="DM Sans"/>
              <a:buNone/>
            </a:pPr>
            <a:r>
              <a:rPr b="1" lang="en-US" sz="2200">
                <a:solidFill>
                  <a:srgbClr val="F2EDE6"/>
                </a:solidFill>
                <a:latin typeface="DM Sans"/>
                <a:ea typeface="DM Sans"/>
                <a:cs typeface="DM Sans"/>
                <a:sym typeface="DM Sans"/>
              </a:rPr>
              <a:t>Meet the Ballard Center</a:t>
            </a:r>
            <a:endParaRPr b="0" i="0" sz="2200" u="none" cap="none" strike="noStrike">
              <a:solidFill>
                <a:schemeClr val="dk1"/>
              </a:solidFill>
              <a:latin typeface="Calibri"/>
              <a:ea typeface="Calibri"/>
              <a:cs typeface="Calibri"/>
              <a:sym typeface="Calibri"/>
            </a:endParaRPr>
          </a:p>
        </p:txBody>
      </p:sp>
      <p:cxnSp>
        <p:nvCxnSpPr>
          <p:cNvPr id="130" name="Google Shape;130;p20"/>
          <p:cNvCxnSpPr/>
          <p:nvPr/>
        </p:nvCxnSpPr>
        <p:spPr>
          <a:xfrm>
            <a:off x="5486400" y="3729980"/>
            <a:ext cx="5892800" cy="0"/>
          </a:xfrm>
          <a:prstGeom prst="straightConnector1">
            <a:avLst/>
          </a:prstGeom>
          <a:noFill/>
          <a:ln cap="flat" cmpd="sng" w="12700">
            <a:solidFill>
              <a:srgbClr val="4A3434"/>
            </a:solidFill>
            <a:prstDash val="solid"/>
            <a:round/>
            <a:headEnd len="sm" w="sm" type="none"/>
            <a:tailEnd len="sm" w="sm" type="none"/>
          </a:ln>
        </p:spPr>
      </p:cxnSp>
      <p:sp>
        <p:nvSpPr>
          <p:cNvPr id="131" name="Google Shape;131;p20"/>
          <p:cNvSpPr/>
          <p:nvPr/>
        </p:nvSpPr>
        <p:spPr>
          <a:xfrm>
            <a:off x="5486400" y="2931170"/>
            <a:ext cx="660747" cy="6654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D6313F"/>
              </a:buClr>
              <a:buSzPts val="3600"/>
              <a:buFont typeface="Archivo"/>
              <a:buNone/>
            </a:pPr>
            <a:r>
              <a:rPr b="1" i="0" lang="en-US" sz="3600" u="none" cap="none" strike="noStrike">
                <a:solidFill>
                  <a:srgbClr val="D6313F"/>
                </a:solidFill>
                <a:latin typeface="Archivo"/>
                <a:ea typeface="Archivo"/>
                <a:cs typeface="Archivo"/>
                <a:sym typeface="Archivo"/>
              </a:rPr>
              <a:t>03</a:t>
            </a:r>
            <a:endParaRPr b="0" i="0" sz="3600" u="none" cap="none" strike="noStrike">
              <a:solidFill>
                <a:schemeClr val="dk1"/>
              </a:solidFill>
              <a:latin typeface="Calibri"/>
              <a:ea typeface="Calibri"/>
              <a:cs typeface="Calibri"/>
              <a:sym typeface="Calibri"/>
            </a:endParaRPr>
          </a:p>
        </p:txBody>
      </p:sp>
      <p:sp>
        <p:nvSpPr>
          <p:cNvPr id="132" name="Google Shape;132;p20"/>
          <p:cNvSpPr/>
          <p:nvPr/>
        </p:nvSpPr>
        <p:spPr>
          <a:xfrm>
            <a:off x="6350347" y="3112145"/>
            <a:ext cx="4451066" cy="4165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EDE6"/>
              </a:buClr>
              <a:buSzPts val="2200"/>
              <a:buFont typeface="DM Sans"/>
              <a:buNone/>
            </a:pPr>
            <a:r>
              <a:rPr b="1" lang="en-US" sz="2200">
                <a:solidFill>
                  <a:srgbClr val="F2EDE6"/>
                </a:solidFill>
                <a:latin typeface="DM Sans"/>
                <a:ea typeface="DM Sans"/>
                <a:cs typeface="DM Sans"/>
                <a:sym typeface="DM Sans"/>
              </a:rPr>
              <a:t>Merit Medical Introduction</a:t>
            </a:r>
            <a:endParaRPr b="0" i="0" sz="2200" u="none" cap="none" strike="noStrike">
              <a:solidFill>
                <a:schemeClr val="dk1"/>
              </a:solidFill>
              <a:latin typeface="Calibri"/>
              <a:ea typeface="Calibri"/>
              <a:cs typeface="Calibri"/>
              <a:sym typeface="Calibri"/>
            </a:endParaRPr>
          </a:p>
        </p:txBody>
      </p:sp>
      <p:cxnSp>
        <p:nvCxnSpPr>
          <p:cNvPr id="133" name="Google Shape;133;p20"/>
          <p:cNvCxnSpPr/>
          <p:nvPr/>
        </p:nvCxnSpPr>
        <p:spPr>
          <a:xfrm>
            <a:off x="5486400" y="4789190"/>
            <a:ext cx="5892800" cy="0"/>
          </a:xfrm>
          <a:prstGeom prst="straightConnector1">
            <a:avLst/>
          </a:prstGeom>
          <a:noFill/>
          <a:ln cap="flat" cmpd="sng" w="12700">
            <a:solidFill>
              <a:srgbClr val="4A3434"/>
            </a:solidFill>
            <a:prstDash val="solid"/>
            <a:round/>
            <a:headEnd len="sm" w="sm" type="none"/>
            <a:tailEnd len="sm" w="sm" type="none"/>
          </a:ln>
        </p:spPr>
      </p:cxnSp>
      <p:sp>
        <p:nvSpPr>
          <p:cNvPr id="134" name="Google Shape;134;p20"/>
          <p:cNvSpPr/>
          <p:nvPr/>
        </p:nvSpPr>
        <p:spPr>
          <a:xfrm>
            <a:off x="5486400" y="3990380"/>
            <a:ext cx="660747" cy="6654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D6313F"/>
              </a:buClr>
              <a:buSzPts val="3600"/>
              <a:buFont typeface="Archivo"/>
              <a:buNone/>
            </a:pPr>
            <a:r>
              <a:rPr b="1" i="0" lang="en-US" sz="3600" u="none" cap="none" strike="noStrike">
                <a:solidFill>
                  <a:srgbClr val="D6313F"/>
                </a:solidFill>
                <a:latin typeface="Archivo"/>
                <a:ea typeface="Archivo"/>
                <a:cs typeface="Archivo"/>
                <a:sym typeface="Archivo"/>
              </a:rPr>
              <a:t>04</a:t>
            </a:r>
            <a:endParaRPr b="0" i="0" sz="3600" u="none" cap="none" strike="noStrike">
              <a:solidFill>
                <a:schemeClr val="dk1"/>
              </a:solidFill>
              <a:latin typeface="Calibri"/>
              <a:ea typeface="Calibri"/>
              <a:cs typeface="Calibri"/>
              <a:sym typeface="Calibri"/>
            </a:endParaRPr>
          </a:p>
        </p:txBody>
      </p:sp>
      <p:sp>
        <p:nvSpPr>
          <p:cNvPr id="135" name="Google Shape;135;p20"/>
          <p:cNvSpPr/>
          <p:nvPr/>
        </p:nvSpPr>
        <p:spPr>
          <a:xfrm>
            <a:off x="6350347" y="4171355"/>
            <a:ext cx="4431853" cy="4165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EDE6"/>
              </a:buClr>
              <a:buSzPts val="2200"/>
              <a:buFont typeface="DM Sans"/>
              <a:buNone/>
            </a:pPr>
            <a:r>
              <a:rPr b="1" lang="en-US" sz="2200">
                <a:solidFill>
                  <a:srgbClr val="F2EDE6"/>
                </a:solidFill>
                <a:latin typeface="DM Sans"/>
                <a:ea typeface="DM Sans"/>
                <a:cs typeface="DM Sans"/>
                <a:sym typeface="DM Sans"/>
              </a:rPr>
              <a:t>Case Intro</a:t>
            </a:r>
            <a:endParaRPr b="0" i="0" sz="2200" u="none" cap="none" strike="noStrike">
              <a:solidFill>
                <a:schemeClr val="dk1"/>
              </a:solidFill>
              <a:latin typeface="Calibri"/>
              <a:ea typeface="Calibri"/>
              <a:cs typeface="Calibri"/>
              <a:sym typeface="Calibri"/>
            </a:endParaRPr>
          </a:p>
        </p:txBody>
      </p:sp>
      <p:sp>
        <p:nvSpPr>
          <p:cNvPr id="136" name="Google Shape;136;p20"/>
          <p:cNvSpPr/>
          <p:nvPr/>
        </p:nvSpPr>
        <p:spPr>
          <a:xfrm>
            <a:off x="5486400" y="5049540"/>
            <a:ext cx="660747" cy="6654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D6313F"/>
              </a:buClr>
              <a:buSzPts val="3600"/>
              <a:buFont typeface="Archivo"/>
              <a:buNone/>
            </a:pPr>
            <a:r>
              <a:rPr b="1" i="0" lang="en-US" sz="3600" u="none" cap="none" strike="noStrike">
                <a:solidFill>
                  <a:srgbClr val="D6313F"/>
                </a:solidFill>
                <a:latin typeface="Archivo"/>
                <a:ea typeface="Archivo"/>
                <a:cs typeface="Archivo"/>
                <a:sym typeface="Archivo"/>
              </a:rPr>
              <a:t>05</a:t>
            </a:r>
            <a:endParaRPr b="0" i="0" sz="3600" u="none" cap="none" strike="noStrike">
              <a:solidFill>
                <a:schemeClr val="dk1"/>
              </a:solidFill>
              <a:latin typeface="Calibri"/>
              <a:ea typeface="Calibri"/>
              <a:cs typeface="Calibri"/>
              <a:sym typeface="Calibri"/>
            </a:endParaRPr>
          </a:p>
        </p:txBody>
      </p:sp>
      <p:sp>
        <p:nvSpPr>
          <p:cNvPr id="137" name="Google Shape;137;p20"/>
          <p:cNvSpPr/>
          <p:nvPr/>
        </p:nvSpPr>
        <p:spPr>
          <a:xfrm>
            <a:off x="6350350" y="5230525"/>
            <a:ext cx="4956900" cy="416400"/>
          </a:xfrm>
          <a:prstGeom prst="rect">
            <a:avLst/>
          </a:prstGeom>
          <a:noFill/>
          <a:ln>
            <a:noFill/>
          </a:ln>
        </p:spPr>
        <p:txBody>
          <a:bodyPr anchorCtr="0" anchor="t" bIns="0" lIns="0" spcFirstLastPara="1" rIns="0" wrap="square" tIns="0">
            <a:noAutofit/>
          </a:bodyPr>
          <a:lstStyle/>
          <a:p>
            <a:pPr indent="0" lvl="0" marL="0" rtl="0" algn="l">
              <a:lnSpc>
                <a:spcPct val="140000"/>
              </a:lnSpc>
              <a:spcBef>
                <a:spcPts val="0"/>
              </a:spcBef>
              <a:spcAft>
                <a:spcPts val="0"/>
              </a:spcAft>
              <a:buClr>
                <a:srgbClr val="F2EDE6"/>
              </a:buClr>
              <a:buSzPts val="2200"/>
              <a:buFont typeface="DM Sans"/>
              <a:buNone/>
            </a:pPr>
            <a:r>
              <a:rPr b="1" lang="en-US" sz="2200">
                <a:solidFill>
                  <a:srgbClr val="F2EDE6"/>
                </a:solidFill>
                <a:latin typeface="DM Sans"/>
                <a:ea typeface="DM Sans"/>
                <a:cs typeface="DM Sans"/>
                <a:sym typeface="DM Sans"/>
              </a:rPr>
              <a:t>Rules, timeline &amp; prizes </a:t>
            </a:r>
            <a:br>
              <a:rPr b="1" lang="en-US" sz="2200">
                <a:solidFill>
                  <a:srgbClr val="F2EDE6"/>
                </a:solidFill>
                <a:latin typeface="DM Sans"/>
                <a:ea typeface="DM Sans"/>
                <a:cs typeface="DM Sans"/>
                <a:sym typeface="DM Sans"/>
              </a:rPr>
            </a:br>
            <a:r>
              <a:rPr b="1" lang="en-US" sz="2200">
                <a:solidFill>
                  <a:srgbClr val="F2EDE6"/>
                </a:solidFill>
                <a:latin typeface="DM Sans"/>
                <a:ea typeface="DM Sans"/>
                <a:cs typeface="DM Sans"/>
                <a:sym typeface="DM Sans"/>
              </a:rPr>
              <a:t>Q&amp;A</a:t>
            </a:r>
            <a:endParaRPr b="1" sz="2200">
              <a:solidFill>
                <a:srgbClr val="F2EDE6"/>
              </a:solidFill>
              <a:latin typeface="DM Sans"/>
              <a:ea typeface="DM Sans"/>
              <a:cs typeface="DM Sans"/>
              <a:sym typeface="DM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01E2D"/>
        </a:solidFill>
      </p:bgPr>
    </p:bg>
    <p:spTree>
      <p:nvGrpSpPr>
        <p:cNvPr id="142" name="Shape 142"/>
        <p:cNvGrpSpPr/>
        <p:nvPr/>
      </p:nvGrpSpPr>
      <p:grpSpPr>
        <a:xfrm>
          <a:off x="0" y="0"/>
          <a:ext cx="0" cy="0"/>
          <a:chOff x="0" y="0"/>
          <a:chExt cx="0" cy="0"/>
        </a:xfrm>
      </p:grpSpPr>
      <p:sp>
        <p:nvSpPr>
          <p:cNvPr id="143" name="Google Shape;143;p21"/>
          <p:cNvSpPr/>
          <p:nvPr/>
        </p:nvSpPr>
        <p:spPr>
          <a:xfrm>
            <a:off x="647700" y="2739525"/>
            <a:ext cx="11301900" cy="274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4C9C4"/>
              </a:buClr>
              <a:buSzPts val="1400"/>
              <a:buFont typeface="Archivo"/>
              <a:buNone/>
            </a:pPr>
            <a:r>
              <a:rPr b="1" i="0" lang="en-US" sz="1400" u="none" cap="none" strike="noStrike">
                <a:solidFill>
                  <a:srgbClr val="F4C9C4"/>
                </a:solidFill>
                <a:latin typeface="Archivo"/>
                <a:ea typeface="Archivo"/>
                <a:cs typeface="Archivo"/>
                <a:sym typeface="Archivo"/>
              </a:rPr>
              <a:t>BUSINESS FOR GOOD TEAM</a:t>
            </a:r>
            <a:endParaRPr b="0" i="0" sz="1400" u="none" cap="none" strike="noStrike">
              <a:solidFill>
                <a:schemeClr val="dk1"/>
              </a:solidFill>
              <a:latin typeface="Calibri"/>
              <a:ea typeface="Calibri"/>
              <a:cs typeface="Calibri"/>
              <a:sym typeface="Calibri"/>
            </a:endParaRPr>
          </a:p>
        </p:txBody>
      </p:sp>
      <p:sp>
        <p:nvSpPr>
          <p:cNvPr id="144" name="Google Shape;144;p21"/>
          <p:cNvSpPr/>
          <p:nvPr/>
        </p:nvSpPr>
        <p:spPr>
          <a:xfrm>
            <a:off x="609600" y="1061690"/>
            <a:ext cx="11301984" cy="930275"/>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FBF6EE"/>
              </a:buClr>
              <a:buSzPts val="7500"/>
              <a:buFont typeface="Archivo"/>
              <a:buNone/>
            </a:pPr>
            <a:r>
              <a:rPr b="1" i="0" lang="en-US" sz="7500" u="none" cap="none" strike="noStrike">
                <a:solidFill>
                  <a:srgbClr val="FBF6EE"/>
                </a:solidFill>
                <a:latin typeface="Archivo"/>
                <a:ea typeface="Archivo"/>
                <a:cs typeface="Archivo"/>
                <a:sym typeface="Archivo"/>
              </a:rPr>
              <a:t>WHO WE ARE</a:t>
            </a:r>
            <a:endParaRPr b="0" i="0" sz="7500" u="none" cap="none" strike="noStrike">
              <a:solidFill>
                <a:schemeClr val="dk1"/>
              </a:solidFill>
              <a:latin typeface="Calibri"/>
              <a:ea typeface="Calibri"/>
              <a:cs typeface="Calibri"/>
              <a:sym typeface="Calibri"/>
            </a:endParaRPr>
          </a:p>
        </p:txBody>
      </p:sp>
      <p:pic>
        <p:nvPicPr>
          <p:cNvPr descr="Vienna headshot" id="145" name="Google Shape;145;p21"/>
          <p:cNvPicPr preferRelativeResize="0"/>
          <p:nvPr/>
        </p:nvPicPr>
        <p:blipFill rotWithShape="1">
          <a:blip r:embed="rId3">
            <a:alphaModFix/>
          </a:blip>
          <a:srcRect b="0" l="3029" r="3029" t="0"/>
          <a:stretch/>
        </p:blipFill>
        <p:spPr>
          <a:xfrm>
            <a:off x="647700" y="3140720"/>
            <a:ext cx="1625600" cy="1955800"/>
          </a:xfrm>
          <a:prstGeom prst="rect">
            <a:avLst/>
          </a:prstGeom>
          <a:noFill/>
          <a:ln>
            <a:noFill/>
          </a:ln>
        </p:spPr>
      </p:pic>
      <p:sp>
        <p:nvSpPr>
          <p:cNvPr id="146" name="Google Shape;146;p21"/>
          <p:cNvSpPr/>
          <p:nvPr/>
        </p:nvSpPr>
        <p:spPr>
          <a:xfrm>
            <a:off x="628650" y="3121670"/>
            <a:ext cx="1663700" cy="1993900"/>
          </a:xfrm>
          <a:prstGeom prst="roundRect">
            <a:avLst>
              <a:gd fmla="val 1145" name="adj"/>
            </a:avLst>
          </a:prstGeom>
          <a:noFill/>
          <a:ln cap="flat" cmpd="sng" w="38100">
            <a:solidFill>
              <a:srgbClr val="FBF6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21"/>
          <p:cNvSpPr/>
          <p:nvPr/>
        </p:nvSpPr>
        <p:spPr>
          <a:xfrm>
            <a:off x="609600" y="5223520"/>
            <a:ext cx="1752854" cy="26288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BF6EE"/>
              </a:buClr>
              <a:buSzPts val="1700"/>
              <a:buFont typeface="Archivo"/>
              <a:buNone/>
            </a:pPr>
            <a:r>
              <a:rPr b="1" i="0" lang="en-US" sz="1700" u="none" cap="none" strike="noStrike">
                <a:solidFill>
                  <a:srgbClr val="FBF6EE"/>
                </a:solidFill>
                <a:latin typeface="Archivo"/>
                <a:ea typeface="Archivo"/>
                <a:cs typeface="Archivo"/>
                <a:sym typeface="Archivo"/>
              </a:rPr>
              <a:t>VIENNA</a:t>
            </a:r>
            <a:endParaRPr b="0" i="0" sz="1700" u="none" cap="none" strike="noStrike">
              <a:solidFill>
                <a:schemeClr val="dk1"/>
              </a:solidFill>
              <a:latin typeface="Calibri"/>
              <a:ea typeface="Calibri"/>
              <a:cs typeface="Calibri"/>
              <a:sym typeface="Calibri"/>
            </a:endParaRPr>
          </a:p>
        </p:txBody>
      </p:sp>
      <p:sp>
        <p:nvSpPr>
          <p:cNvPr id="148" name="Google Shape;148;p21"/>
          <p:cNvSpPr/>
          <p:nvPr/>
        </p:nvSpPr>
        <p:spPr>
          <a:xfrm>
            <a:off x="609600" y="5549900"/>
            <a:ext cx="1752854" cy="21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4C9C4"/>
              </a:buClr>
              <a:buSzPts val="1200"/>
              <a:buFont typeface="Archivo"/>
              <a:buNone/>
            </a:pPr>
            <a:r>
              <a:rPr b="0" i="0" lang="en-US" sz="1200" u="none" cap="none" strike="noStrike">
                <a:solidFill>
                  <a:srgbClr val="F4C9C4"/>
                </a:solidFill>
                <a:latin typeface="Archivo"/>
                <a:ea typeface="Archivo"/>
                <a:cs typeface="Archivo"/>
                <a:sym typeface="Archivo"/>
              </a:rPr>
              <a:t>Co-President</a:t>
            </a:r>
            <a:endParaRPr b="0" i="0" sz="1200" u="none" cap="none" strike="noStrike">
              <a:solidFill>
                <a:schemeClr val="dk1"/>
              </a:solidFill>
              <a:latin typeface="Calibri"/>
              <a:ea typeface="Calibri"/>
              <a:cs typeface="Calibri"/>
              <a:sym typeface="Calibri"/>
            </a:endParaRPr>
          </a:p>
        </p:txBody>
      </p:sp>
      <p:pic>
        <p:nvPicPr>
          <p:cNvPr descr="Makay headshot" id="149" name="Google Shape;149;p21"/>
          <p:cNvPicPr preferRelativeResize="0"/>
          <p:nvPr/>
        </p:nvPicPr>
        <p:blipFill rotWithShape="1">
          <a:blip r:embed="rId4">
            <a:alphaModFix/>
          </a:blip>
          <a:srcRect b="0" l="3029" r="3029" t="0"/>
          <a:stretch/>
        </p:blipFill>
        <p:spPr>
          <a:xfrm>
            <a:off x="2501900" y="3140720"/>
            <a:ext cx="1625600" cy="1955800"/>
          </a:xfrm>
          <a:prstGeom prst="rect">
            <a:avLst/>
          </a:prstGeom>
          <a:noFill/>
          <a:ln>
            <a:noFill/>
          </a:ln>
        </p:spPr>
      </p:pic>
      <p:sp>
        <p:nvSpPr>
          <p:cNvPr id="150" name="Google Shape;150;p21"/>
          <p:cNvSpPr/>
          <p:nvPr/>
        </p:nvSpPr>
        <p:spPr>
          <a:xfrm>
            <a:off x="2482850" y="3121670"/>
            <a:ext cx="1663700" cy="1993900"/>
          </a:xfrm>
          <a:prstGeom prst="roundRect">
            <a:avLst>
              <a:gd fmla="val 1145" name="adj"/>
            </a:avLst>
          </a:prstGeom>
          <a:noFill/>
          <a:ln cap="flat" cmpd="sng" w="38100">
            <a:solidFill>
              <a:srgbClr val="FBF6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21"/>
          <p:cNvSpPr/>
          <p:nvPr/>
        </p:nvSpPr>
        <p:spPr>
          <a:xfrm>
            <a:off x="2463800" y="5223520"/>
            <a:ext cx="1752854" cy="26288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BF6EE"/>
              </a:buClr>
              <a:buSzPts val="1700"/>
              <a:buFont typeface="Archivo"/>
              <a:buNone/>
            </a:pPr>
            <a:r>
              <a:rPr b="1" i="0" lang="en-US" sz="1700" u="none" cap="none" strike="noStrike">
                <a:solidFill>
                  <a:srgbClr val="FBF6EE"/>
                </a:solidFill>
                <a:latin typeface="Archivo"/>
                <a:ea typeface="Archivo"/>
                <a:cs typeface="Archivo"/>
                <a:sym typeface="Archivo"/>
              </a:rPr>
              <a:t>MAKAY</a:t>
            </a:r>
            <a:endParaRPr b="0" i="0" sz="1700" u="none" cap="none" strike="noStrike">
              <a:solidFill>
                <a:schemeClr val="dk1"/>
              </a:solidFill>
              <a:latin typeface="Calibri"/>
              <a:ea typeface="Calibri"/>
              <a:cs typeface="Calibri"/>
              <a:sym typeface="Calibri"/>
            </a:endParaRPr>
          </a:p>
        </p:txBody>
      </p:sp>
      <p:sp>
        <p:nvSpPr>
          <p:cNvPr id="152" name="Google Shape;152;p21"/>
          <p:cNvSpPr/>
          <p:nvPr/>
        </p:nvSpPr>
        <p:spPr>
          <a:xfrm>
            <a:off x="2463800" y="5549900"/>
            <a:ext cx="1752854" cy="21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4C9C4"/>
              </a:buClr>
              <a:buSzPts val="1200"/>
              <a:buFont typeface="Archivo"/>
              <a:buNone/>
            </a:pPr>
            <a:r>
              <a:rPr b="0" i="0" lang="en-US" sz="1200" u="none" cap="none" strike="noStrike">
                <a:solidFill>
                  <a:srgbClr val="F4C9C4"/>
                </a:solidFill>
                <a:latin typeface="Archivo"/>
                <a:ea typeface="Archivo"/>
                <a:cs typeface="Archivo"/>
                <a:sym typeface="Archivo"/>
              </a:rPr>
              <a:t>Co-President</a:t>
            </a:r>
            <a:endParaRPr b="0" i="0" sz="1200" u="none" cap="none" strike="noStrike">
              <a:solidFill>
                <a:schemeClr val="dk1"/>
              </a:solidFill>
              <a:latin typeface="Calibri"/>
              <a:ea typeface="Calibri"/>
              <a:cs typeface="Calibri"/>
              <a:sym typeface="Calibri"/>
            </a:endParaRPr>
          </a:p>
        </p:txBody>
      </p:sp>
      <p:pic>
        <p:nvPicPr>
          <p:cNvPr descr="Emma headshot" id="153" name="Google Shape;153;p21"/>
          <p:cNvPicPr preferRelativeResize="0"/>
          <p:nvPr/>
        </p:nvPicPr>
        <p:blipFill rotWithShape="1">
          <a:blip r:embed="rId5">
            <a:alphaModFix/>
          </a:blip>
          <a:srcRect b="0" l="3029" r="3029" t="0"/>
          <a:stretch/>
        </p:blipFill>
        <p:spPr>
          <a:xfrm>
            <a:off x="4356100" y="3140720"/>
            <a:ext cx="1625600" cy="1955800"/>
          </a:xfrm>
          <a:prstGeom prst="rect">
            <a:avLst/>
          </a:prstGeom>
          <a:noFill/>
          <a:ln>
            <a:noFill/>
          </a:ln>
        </p:spPr>
      </p:pic>
      <p:sp>
        <p:nvSpPr>
          <p:cNvPr id="154" name="Google Shape;154;p21"/>
          <p:cNvSpPr/>
          <p:nvPr/>
        </p:nvSpPr>
        <p:spPr>
          <a:xfrm>
            <a:off x="4337050" y="3121670"/>
            <a:ext cx="1663700" cy="1993900"/>
          </a:xfrm>
          <a:prstGeom prst="roundRect">
            <a:avLst>
              <a:gd fmla="val 1145" name="adj"/>
            </a:avLst>
          </a:prstGeom>
          <a:noFill/>
          <a:ln cap="flat" cmpd="sng" w="38100">
            <a:solidFill>
              <a:srgbClr val="FBF6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21"/>
          <p:cNvSpPr/>
          <p:nvPr/>
        </p:nvSpPr>
        <p:spPr>
          <a:xfrm>
            <a:off x="4318000" y="5223520"/>
            <a:ext cx="1752854" cy="26288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BF6EE"/>
              </a:buClr>
              <a:buSzPts val="1700"/>
              <a:buFont typeface="Archivo"/>
              <a:buNone/>
            </a:pPr>
            <a:r>
              <a:rPr b="1" i="0" lang="en-US" sz="1700" u="none" cap="none" strike="noStrike">
                <a:solidFill>
                  <a:srgbClr val="FBF6EE"/>
                </a:solidFill>
                <a:latin typeface="Archivo"/>
                <a:ea typeface="Archivo"/>
                <a:cs typeface="Archivo"/>
                <a:sym typeface="Archivo"/>
              </a:rPr>
              <a:t>EMMA</a:t>
            </a:r>
            <a:endParaRPr b="0" i="0" sz="1700" u="none" cap="none" strike="noStrike">
              <a:solidFill>
                <a:schemeClr val="dk1"/>
              </a:solidFill>
              <a:latin typeface="Calibri"/>
              <a:ea typeface="Calibri"/>
              <a:cs typeface="Calibri"/>
              <a:sym typeface="Calibri"/>
            </a:endParaRPr>
          </a:p>
        </p:txBody>
      </p:sp>
      <p:sp>
        <p:nvSpPr>
          <p:cNvPr id="156" name="Google Shape;156;p21"/>
          <p:cNvSpPr/>
          <p:nvPr/>
        </p:nvSpPr>
        <p:spPr>
          <a:xfrm>
            <a:off x="4318000" y="5549900"/>
            <a:ext cx="1752854" cy="21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4C9C4"/>
              </a:buClr>
              <a:buSzPts val="1200"/>
              <a:buFont typeface="Archivo"/>
              <a:buNone/>
            </a:pPr>
            <a:r>
              <a:rPr b="0" i="0" lang="en-US" sz="1200" u="none" cap="none" strike="noStrike">
                <a:solidFill>
                  <a:srgbClr val="F4C9C4"/>
                </a:solidFill>
                <a:latin typeface="Archivo"/>
                <a:ea typeface="Archivo"/>
                <a:cs typeface="Archivo"/>
                <a:sym typeface="Archivo"/>
              </a:rPr>
              <a:t>Association / Events</a:t>
            </a:r>
            <a:endParaRPr b="0" i="0" sz="1200" u="none" cap="none" strike="noStrike">
              <a:solidFill>
                <a:schemeClr val="dk1"/>
              </a:solidFill>
              <a:latin typeface="Calibri"/>
              <a:ea typeface="Calibri"/>
              <a:cs typeface="Calibri"/>
              <a:sym typeface="Calibri"/>
            </a:endParaRPr>
          </a:p>
        </p:txBody>
      </p:sp>
      <p:pic>
        <p:nvPicPr>
          <p:cNvPr descr="Olivia headshot" id="157" name="Google Shape;157;p21"/>
          <p:cNvPicPr preferRelativeResize="0"/>
          <p:nvPr/>
        </p:nvPicPr>
        <p:blipFill rotWithShape="1">
          <a:blip r:embed="rId6">
            <a:alphaModFix/>
          </a:blip>
          <a:srcRect b="0" l="3029" r="3029" t="0"/>
          <a:stretch/>
        </p:blipFill>
        <p:spPr>
          <a:xfrm>
            <a:off x="6210300" y="3140720"/>
            <a:ext cx="1625600" cy="1955800"/>
          </a:xfrm>
          <a:prstGeom prst="rect">
            <a:avLst/>
          </a:prstGeom>
          <a:noFill/>
          <a:ln>
            <a:noFill/>
          </a:ln>
        </p:spPr>
      </p:pic>
      <p:sp>
        <p:nvSpPr>
          <p:cNvPr id="158" name="Google Shape;158;p21"/>
          <p:cNvSpPr/>
          <p:nvPr/>
        </p:nvSpPr>
        <p:spPr>
          <a:xfrm>
            <a:off x="6191250" y="3121670"/>
            <a:ext cx="1663700" cy="1993900"/>
          </a:xfrm>
          <a:prstGeom prst="roundRect">
            <a:avLst>
              <a:gd fmla="val 1145" name="adj"/>
            </a:avLst>
          </a:prstGeom>
          <a:noFill/>
          <a:ln cap="flat" cmpd="sng" w="38100">
            <a:solidFill>
              <a:srgbClr val="FBF6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21"/>
          <p:cNvSpPr/>
          <p:nvPr/>
        </p:nvSpPr>
        <p:spPr>
          <a:xfrm>
            <a:off x="6172200" y="5223520"/>
            <a:ext cx="1752854" cy="26288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BF6EE"/>
              </a:buClr>
              <a:buSzPts val="1700"/>
              <a:buFont typeface="Archivo"/>
              <a:buNone/>
            </a:pPr>
            <a:r>
              <a:rPr b="1" i="0" lang="en-US" sz="1700" u="none" cap="none" strike="noStrike">
                <a:solidFill>
                  <a:srgbClr val="FBF6EE"/>
                </a:solidFill>
                <a:latin typeface="Archivo"/>
                <a:ea typeface="Archivo"/>
                <a:cs typeface="Archivo"/>
                <a:sym typeface="Archivo"/>
              </a:rPr>
              <a:t>OLIVIA</a:t>
            </a:r>
            <a:endParaRPr b="0" i="0" sz="1700" u="none" cap="none" strike="noStrike">
              <a:solidFill>
                <a:schemeClr val="dk1"/>
              </a:solidFill>
              <a:latin typeface="Calibri"/>
              <a:ea typeface="Calibri"/>
              <a:cs typeface="Calibri"/>
              <a:sym typeface="Calibri"/>
            </a:endParaRPr>
          </a:p>
        </p:txBody>
      </p:sp>
      <p:sp>
        <p:nvSpPr>
          <p:cNvPr id="160" name="Google Shape;160;p21"/>
          <p:cNvSpPr/>
          <p:nvPr/>
        </p:nvSpPr>
        <p:spPr>
          <a:xfrm>
            <a:off x="6172200" y="5549900"/>
            <a:ext cx="1752854" cy="21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4C9C4"/>
              </a:buClr>
              <a:buSzPts val="1200"/>
              <a:buFont typeface="Archivo"/>
              <a:buNone/>
            </a:pPr>
            <a:r>
              <a:rPr b="0" i="0" lang="en-US" sz="1200" u="none" cap="none" strike="noStrike">
                <a:solidFill>
                  <a:srgbClr val="F4C9C4"/>
                </a:solidFill>
                <a:latin typeface="Archivo"/>
                <a:ea typeface="Archivo"/>
                <a:cs typeface="Archivo"/>
                <a:sym typeface="Archivo"/>
              </a:rPr>
              <a:t>MBA Strategy</a:t>
            </a:r>
            <a:endParaRPr b="0" i="0" sz="1200" u="none" cap="none" strike="noStrike">
              <a:solidFill>
                <a:schemeClr val="dk1"/>
              </a:solidFill>
              <a:latin typeface="Calibri"/>
              <a:ea typeface="Calibri"/>
              <a:cs typeface="Calibri"/>
              <a:sym typeface="Calibri"/>
            </a:endParaRPr>
          </a:p>
        </p:txBody>
      </p:sp>
      <p:pic>
        <p:nvPicPr>
          <p:cNvPr descr="Cleo headshot" id="161" name="Google Shape;161;p21"/>
          <p:cNvPicPr preferRelativeResize="0"/>
          <p:nvPr/>
        </p:nvPicPr>
        <p:blipFill rotWithShape="1">
          <a:blip r:embed="rId7">
            <a:alphaModFix/>
          </a:blip>
          <a:srcRect b="0" l="3029" r="3029" t="0"/>
          <a:stretch/>
        </p:blipFill>
        <p:spPr>
          <a:xfrm>
            <a:off x="8064500" y="3140720"/>
            <a:ext cx="1625600" cy="1955800"/>
          </a:xfrm>
          <a:prstGeom prst="rect">
            <a:avLst/>
          </a:prstGeom>
          <a:noFill/>
          <a:ln>
            <a:noFill/>
          </a:ln>
        </p:spPr>
      </p:pic>
      <p:sp>
        <p:nvSpPr>
          <p:cNvPr id="162" name="Google Shape;162;p21"/>
          <p:cNvSpPr/>
          <p:nvPr/>
        </p:nvSpPr>
        <p:spPr>
          <a:xfrm>
            <a:off x="8045450" y="3121670"/>
            <a:ext cx="1663700" cy="1993900"/>
          </a:xfrm>
          <a:prstGeom prst="roundRect">
            <a:avLst>
              <a:gd fmla="val 1145" name="adj"/>
            </a:avLst>
          </a:prstGeom>
          <a:noFill/>
          <a:ln cap="flat" cmpd="sng" w="38100">
            <a:solidFill>
              <a:srgbClr val="FBF6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21"/>
          <p:cNvSpPr/>
          <p:nvPr/>
        </p:nvSpPr>
        <p:spPr>
          <a:xfrm>
            <a:off x="8026400" y="5223520"/>
            <a:ext cx="1752854" cy="26288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BF6EE"/>
              </a:buClr>
              <a:buSzPts val="1700"/>
              <a:buFont typeface="Archivo"/>
              <a:buNone/>
            </a:pPr>
            <a:r>
              <a:rPr b="1" i="0" lang="en-US" sz="1700" u="none" cap="none" strike="noStrike">
                <a:solidFill>
                  <a:srgbClr val="FBF6EE"/>
                </a:solidFill>
                <a:latin typeface="Archivo"/>
                <a:ea typeface="Archivo"/>
                <a:cs typeface="Archivo"/>
                <a:sym typeface="Archivo"/>
              </a:rPr>
              <a:t>CLEO</a:t>
            </a:r>
            <a:endParaRPr b="0" i="0" sz="1700" u="none" cap="none" strike="noStrike">
              <a:solidFill>
                <a:schemeClr val="dk1"/>
              </a:solidFill>
              <a:latin typeface="Calibri"/>
              <a:ea typeface="Calibri"/>
              <a:cs typeface="Calibri"/>
              <a:sym typeface="Calibri"/>
            </a:endParaRPr>
          </a:p>
        </p:txBody>
      </p:sp>
      <p:sp>
        <p:nvSpPr>
          <p:cNvPr id="164" name="Google Shape;164;p21"/>
          <p:cNvSpPr/>
          <p:nvPr/>
        </p:nvSpPr>
        <p:spPr>
          <a:xfrm>
            <a:off x="8026400" y="5549900"/>
            <a:ext cx="1752854" cy="21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4C9C4"/>
              </a:buClr>
              <a:buSzPts val="1200"/>
              <a:buFont typeface="Archivo"/>
              <a:buNone/>
            </a:pPr>
            <a:r>
              <a:rPr b="0" i="0" lang="en-US" sz="1200" u="none" cap="none" strike="noStrike">
                <a:solidFill>
                  <a:srgbClr val="F4C9C4"/>
                </a:solidFill>
                <a:latin typeface="Archivo"/>
                <a:ea typeface="Archivo"/>
                <a:cs typeface="Archivo"/>
                <a:sym typeface="Archivo"/>
              </a:rPr>
              <a:t>Case Writer</a:t>
            </a:r>
            <a:endParaRPr b="0" i="0" sz="1200" u="none" cap="none" strike="noStrike">
              <a:solidFill>
                <a:schemeClr val="dk1"/>
              </a:solidFill>
              <a:latin typeface="Calibri"/>
              <a:ea typeface="Calibri"/>
              <a:cs typeface="Calibri"/>
              <a:sym typeface="Calibri"/>
            </a:endParaRPr>
          </a:p>
        </p:txBody>
      </p:sp>
      <p:pic>
        <p:nvPicPr>
          <p:cNvPr descr="Sean headshot" id="165" name="Google Shape;165;p21"/>
          <p:cNvPicPr preferRelativeResize="0"/>
          <p:nvPr/>
        </p:nvPicPr>
        <p:blipFill rotWithShape="1">
          <a:blip r:embed="rId8">
            <a:alphaModFix/>
          </a:blip>
          <a:srcRect b="0" l="3247" r="3247" t="0"/>
          <a:stretch/>
        </p:blipFill>
        <p:spPr>
          <a:xfrm>
            <a:off x="9918700" y="3140720"/>
            <a:ext cx="1625600" cy="1955800"/>
          </a:xfrm>
          <a:prstGeom prst="rect">
            <a:avLst/>
          </a:prstGeom>
          <a:noFill/>
          <a:ln>
            <a:noFill/>
          </a:ln>
        </p:spPr>
      </p:pic>
      <p:sp>
        <p:nvSpPr>
          <p:cNvPr id="166" name="Google Shape;166;p21"/>
          <p:cNvSpPr/>
          <p:nvPr/>
        </p:nvSpPr>
        <p:spPr>
          <a:xfrm>
            <a:off x="9899650" y="3121670"/>
            <a:ext cx="1663700" cy="1993900"/>
          </a:xfrm>
          <a:prstGeom prst="roundRect">
            <a:avLst>
              <a:gd fmla="val 1145" name="adj"/>
            </a:avLst>
          </a:prstGeom>
          <a:noFill/>
          <a:ln cap="flat" cmpd="sng" w="38100">
            <a:solidFill>
              <a:srgbClr val="FBF6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21"/>
          <p:cNvSpPr/>
          <p:nvPr/>
        </p:nvSpPr>
        <p:spPr>
          <a:xfrm>
            <a:off x="9880600" y="5223520"/>
            <a:ext cx="1752854" cy="26288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BF6EE"/>
              </a:buClr>
              <a:buSzPts val="1700"/>
              <a:buFont typeface="Archivo"/>
              <a:buNone/>
            </a:pPr>
            <a:r>
              <a:rPr b="1" i="0" lang="en-US" sz="1700" u="none" cap="none" strike="noStrike">
                <a:solidFill>
                  <a:srgbClr val="FBF6EE"/>
                </a:solidFill>
                <a:latin typeface="Archivo"/>
                <a:ea typeface="Archivo"/>
                <a:cs typeface="Archivo"/>
                <a:sym typeface="Archivo"/>
              </a:rPr>
              <a:t>SEAN</a:t>
            </a:r>
            <a:endParaRPr b="0" i="0" sz="1700" u="none" cap="none" strike="noStrike">
              <a:solidFill>
                <a:schemeClr val="dk1"/>
              </a:solidFill>
              <a:latin typeface="Calibri"/>
              <a:ea typeface="Calibri"/>
              <a:cs typeface="Calibri"/>
              <a:sym typeface="Calibri"/>
            </a:endParaRPr>
          </a:p>
        </p:txBody>
      </p:sp>
      <p:sp>
        <p:nvSpPr>
          <p:cNvPr id="168" name="Google Shape;168;p21"/>
          <p:cNvSpPr/>
          <p:nvPr/>
        </p:nvSpPr>
        <p:spPr>
          <a:xfrm>
            <a:off x="9880600" y="5549900"/>
            <a:ext cx="1752854" cy="21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4C9C4"/>
              </a:buClr>
              <a:buSzPts val="1200"/>
              <a:buFont typeface="Archivo"/>
              <a:buNone/>
            </a:pPr>
            <a:r>
              <a:rPr b="0" i="0" lang="en-US" sz="1200" u="none" cap="none" strike="noStrike">
                <a:solidFill>
                  <a:srgbClr val="F4C9C4"/>
                </a:solidFill>
                <a:latin typeface="Archivo"/>
                <a:ea typeface="Archivo"/>
                <a:cs typeface="Archivo"/>
                <a:sym typeface="Archivo"/>
              </a:rPr>
              <a:t>Entrepreneurship</a:t>
            </a:r>
            <a:endParaRPr b="0" i="0" sz="1200" u="none" cap="none" strike="noStrike">
              <a:solidFill>
                <a:schemeClr val="dk1"/>
              </a:solidFill>
              <a:latin typeface="Calibri"/>
              <a:ea typeface="Calibri"/>
              <a:cs typeface="Calibri"/>
              <a:sym typeface="Calibri"/>
            </a:endParaRPr>
          </a:p>
        </p:txBody>
      </p:sp>
      <p:pic>
        <p:nvPicPr>
          <p:cNvPr descr="line" id="169" name="Google Shape;169;p21"/>
          <p:cNvPicPr preferRelativeResize="0"/>
          <p:nvPr/>
        </p:nvPicPr>
        <p:blipFill rotWithShape="1">
          <a:blip r:embed="rId9">
            <a:alphaModFix/>
          </a:blip>
          <a:srcRect b="0" l="0" r="0" t="0"/>
          <a:stretch/>
        </p:blipFill>
        <p:spPr>
          <a:xfrm>
            <a:off x="609600" y="6038850"/>
            <a:ext cx="10972800" cy="25400"/>
          </a:xfrm>
          <a:prstGeom prst="rect">
            <a:avLst/>
          </a:prstGeom>
          <a:noFill/>
          <a:ln>
            <a:noFill/>
          </a:ln>
        </p:spPr>
      </p:pic>
      <p:sp>
        <p:nvSpPr>
          <p:cNvPr id="170" name="Google Shape;170;p21"/>
          <p:cNvSpPr/>
          <p:nvPr/>
        </p:nvSpPr>
        <p:spPr>
          <a:xfrm>
            <a:off x="10019457" y="6220470"/>
            <a:ext cx="1613743"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BF6EE"/>
              </a:buClr>
              <a:buSzPts val="1300"/>
              <a:buFont typeface="Archivo"/>
              <a:buNone/>
            </a:pPr>
            <a:r>
              <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3202D"/>
        </a:solidFill>
      </p:bgPr>
    </p:bg>
    <p:spTree>
      <p:nvGrpSpPr>
        <p:cNvPr id="175" name="Shape 175"/>
        <p:cNvGrpSpPr/>
        <p:nvPr/>
      </p:nvGrpSpPr>
      <p:grpSpPr>
        <a:xfrm>
          <a:off x="0" y="0"/>
          <a:ext cx="0" cy="0"/>
          <a:chOff x="0" y="0"/>
          <a:chExt cx="0" cy="0"/>
        </a:xfrm>
      </p:grpSpPr>
      <p:sp>
        <p:nvSpPr>
          <p:cNvPr id="176" name="Google Shape;176;p22"/>
          <p:cNvSpPr/>
          <p:nvPr/>
        </p:nvSpPr>
        <p:spPr>
          <a:xfrm>
            <a:off x="812800" y="1434670"/>
            <a:ext cx="10883400" cy="2508300"/>
          </a:xfrm>
          <a:prstGeom prst="rect">
            <a:avLst/>
          </a:prstGeom>
          <a:noFill/>
          <a:ln>
            <a:noFill/>
          </a:ln>
        </p:spPr>
        <p:txBody>
          <a:bodyPr anchorCtr="0" anchor="t" bIns="0" lIns="0" spcFirstLastPara="1" rIns="0" wrap="square" tIns="0">
            <a:noAutofit/>
          </a:bodyPr>
          <a:lstStyle/>
          <a:p>
            <a:pPr indent="0" lvl="0" marL="0" marR="0" rtl="0" algn="l">
              <a:lnSpc>
                <a:spcPct val="85000"/>
              </a:lnSpc>
              <a:spcBef>
                <a:spcPts val="0"/>
              </a:spcBef>
              <a:spcAft>
                <a:spcPts val="0"/>
              </a:spcAft>
              <a:buClr>
                <a:srgbClr val="F7ECE8"/>
              </a:buClr>
              <a:buSzPts val="11500"/>
              <a:buFont typeface="Archivo"/>
              <a:buNone/>
            </a:pPr>
            <a:r>
              <a:rPr b="1" i="0" lang="en-US" sz="11500" u="none" cap="none" strike="noStrike">
                <a:solidFill>
                  <a:srgbClr val="F7ECE8"/>
                </a:solidFill>
                <a:latin typeface="Archivo"/>
                <a:ea typeface="Archivo"/>
                <a:cs typeface="Archivo"/>
                <a:sym typeface="Archivo"/>
              </a:rPr>
              <a:t>BUSINESS</a:t>
            </a:r>
            <a:endParaRPr b="0" i="0" sz="11500" u="none" cap="none" strike="noStrike">
              <a:solidFill>
                <a:schemeClr val="dk1"/>
              </a:solidFill>
              <a:latin typeface="Calibri"/>
              <a:ea typeface="Calibri"/>
              <a:cs typeface="Calibri"/>
              <a:sym typeface="Calibri"/>
            </a:endParaRPr>
          </a:p>
          <a:p>
            <a:pPr indent="0" lvl="0" marL="0" marR="0" rtl="0" algn="l">
              <a:lnSpc>
                <a:spcPct val="85000"/>
              </a:lnSpc>
              <a:spcBef>
                <a:spcPts val="0"/>
              </a:spcBef>
              <a:spcAft>
                <a:spcPts val="0"/>
              </a:spcAft>
              <a:buClr>
                <a:srgbClr val="F7ECE8"/>
              </a:buClr>
              <a:buSzPts val="11500"/>
              <a:buFont typeface="Archivo"/>
              <a:buNone/>
            </a:pPr>
            <a:r>
              <a:rPr b="1" i="0" lang="en-US" sz="11500" u="none" cap="none" strike="noStrike">
                <a:solidFill>
                  <a:srgbClr val="F7ECE8"/>
                </a:solidFill>
                <a:latin typeface="Archivo"/>
                <a:ea typeface="Archivo"/>
                <a:cs typeface="Archivo"/>
                <a:sym typeface="Archivo"/>
              </a:rPr>
              <a:t>FOR GOOD</a:t>
            </a:r>
            <a:endParaRPr b="0" i="0" sz="11500" u="none" cap="none" strike="noStrike">
              <a:solidFill>
                <a:schemeClr val="dk1"/>
              </a:solidFill>
              <a:latin typeface="Calibri"/>
              <a:ea typeface="Calibri"/>
              <a:cs typeface="Calibri"/>
              <a:sym typeface="Calibri"/>
            </a:endParaRPr>
          </a:p>
        </p:txBody>
      </p:sp>
      <p:sp>
        <p:nvSpPr>
          <p:cNvPr id="177" name="Google Shape;177;p22"/>
          <p:cNvSpPr/>
          <p:nvPr/>
        </p:nvSpPr>
        <p:spPr>
          <a:xfrm>
            <a:off x="812800" y="4664319"/>
            <a:ext cx="762000" cy="38100"/>
          </a:xfrm>
          <a:prstGeom prst="rect">
            <a:avLst/>
          </a:prstGeom>
          <a:solidFill>
            <a:srgbClr val="F7EC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22"/>
          <p:cNvSpPr/>
          <p:nvPr/>
        </p:nvSpPr>
        <p:spPr>
          <a:xfrm>
            <a:off x="1748913" y="4509325"/>
            <a:ext cx="8694300" cy="381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7ECE8"/>
              </a:buClr>
              <a:buSzPts val="2000"/>
              <a:buFont typeface="DM Sans"/>
              <a:buNone/>
            </a:pPr>
            <a:r>
              <a:rPr b="1" i="0" lang="en-US" sz="2000" u="none" cap="none" strike="noStrike">
                <a:solidFill>
                  <a:srgbClr val="F7ECE8"/>
                </a:solidFill>
                <a:latin typeface="DM Sans"/>
                <a:ea typeface="DM Sans"/>
                <a:cs typeface="DM Sans"/>
                <a:sym typeface="DM Sans"/>
              </a:rPr>
              <a:t>Empowering BYU students to use business as a force for doing good.</a:t>
            </a:r>
            <a:endParaRPr b="0" i="0" sz="2000" u="none" cap="none" strike="noStrike">
              <a:solidFill>
                <a:schemeClr val="dk1"/>
              </a:solidFill>
              <a:latin typeface="Calibri"/>
              <a:ea typeface="Calibri"/>
              <a:cs typeface="Calibri"/>
              <a:sym typeface="Calibri"/>
            </a:endParaRPr>
          </a:p>
        </p:txBody>
      </p:sp>
      <p:pic>
        <p:nvPicPr>
          <p:cNvPr descr="Ballard Center, BYU Marriott logo" id="179" name="Google Shape;179;p22"/>
          <p:cNvPicPr preferRelativeResize="0"/>
          <p:nvPr/>
        </p:nvPicPr>
        <p:blipFill rotWithShape="1">
          <a:blip r:embed="rId3">
            <a:alphaModFix/>
          </a:blip>
          <a:srcRect b="0" l="-40" r="-40" t="0"/>
          <a:stretch/>
        </p:blipFill>
        <p:spPr>
          <a:xfrm>
            <a:off x="812800" y="6121400"/>
            <a:ext cx="1390650" cy="381000"/>
          </a:xfrm>
          <a:prstGeom prst="rect">
            <a:avLst/>
          </a:prstGeom>
          <a:noFill/>
          <a:ln>
            <a:noFill/>
          </a:ln>
        </p:spPr>
      </p:pic>
      <p:pic>
        <p:nvPicPr>
          <p:cNvPr descr="Do Good. Better." id="180" name="Google Shape;180;p22"/>
          <p:cNvPicPr preferRelativeResize="0"/>
          <p:nvPr/>
        </p:nvPicPr>
        <p:blipFill rotWithShape="1">
          <a:blip r:embed="rId4">
            <a:alphaModFix/>
          </a:blip>
          <a:srcRect b="-43" l="0" r="0" t="-43"/>
          <a:stretch/>
        </p:blipFill>
        <p:spPr>
          <a:xfrm>
            <a:off x="8883149" y="6184900"/>
            <a:ext cx="2813051" cy="254000"/>
          </a:xfrm>
          <a:prstGeom prst="rect">
            <a:avLst/>
          </a:prstGeom>
          <a:noFill/>
          <a:ln>
            <a:noFill/>
          </a:ln>
        </p:spPr>
      </p:pic>
      <p:pic>
        <p:nvPicPr>
          <p:cNvPr id="181" name="Google Shape;181;p22"/>
          <p:cNvPicPr preferRelativeResize="0"/>
          <p:nvPr/>
        </p:nvPicPr>
        <p:blipFill>
          <a:blip r:embed="rId5">
            <a:alphaModFix/>
          </a:blip>
          <a:stretch>
            <a:fillRect/>
          </a:stretch>
        </p:blipFill>
        <p:spPr>
          <a:xfrm>
            <a:off x="9564550" y="1644025"/>
            <a:ext cx="1662875" cy="1662875"/>
          </a:xfrm>
          <a:prstGeom prst="rect">
            <a:avLst/>
          </a:prstGeom>
          <a:noFill/>
          <a:ln>
            <a:noFill/>
          </a:ln>
        </p:spPr>
      </p:pic>
      <p:sp>
        <p:nvSpPr>
          <p:cNvPr id="182" name="Google Shape;182;p22"/>
          <p:cNvSpPr txBox="1"/>
          <p:nvPr/>
        </p:nvSpPr>
        <p:spPr>
          <a:xfrm>
            <a:off x="9378888" y="3306900"/>
            <a:ext cx="2813100" cy="323100"/>
          </a:xfrm>
          <a:prstGeom prst="rect">
            <a:avLst/>
          </a:prstGeom>
          <a:noFill/>
          <a:ln>
            <a:noFill/>
          </a:ln>
        </p:spPr>
        <p:txBody>
          <a:bodyPr anchorCtr="0" anchor="t" bIns="91425" lIns="91425" spcFirstLastPara="1" rIns="91425" wrap="square" tIns="91425">
            <a:spAutoFit/>
          </a:bodyPr>
          <a:lstStyle/>
          <a:p>
            <a:pPr indent="0" lvl="0" marL="0" rtl="0" algn="l">
              <a:lnSpc>
                <a:spcPct val="140000"/>
              </a:lnSpc>
              <a:spcBef>
                <a:spcPts val="0"/>
              </a:spcBef>
              <a:spcAft>
                <a:spcPts val="0"/>
              </a:spcAft>
              <a:buNone/>
            </a:pPr>
            <a:r>
              <a:rPr b="1" lang="en-US" sz="900">
                <a:solidFill>
                  <a:srgbClr val="F7ECE8"/>
                </a:solidFill>
                <a:latin typeface="DM Sans"/>
                <a:ea typeface="DM Sans"/>
                <a:cs typeface="DM Sans"/>
                <a:sym typeface="DM Sans"/>
              </a:rPr>
              <a:t>Scan here to </a:t>
            </a:r>
            <a:r>
              <a:rPr b="1" lang="en-US" sz="900">
                <a:solidFill>
                  <a:srgbClr val="F7ECE8"/>
                </a:solidFill>
                <a:latin typeface="DM Sans"/>
                <a:ea typeface="DM Sans"/>
                <a:cs typeface="DM Sans"/>
                <a:sym typeface="DM Sans"/>
              </a:rPr>
              <a:t>join our association</a:t>
            </a:r>
            <a:endParaRPr sz="3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EDE6"/>
        </a:solidFill>
      </p:bgPr>
    </p:bg>
    <p:spTree>
      <p:nvGrpSpPr>
        <p:cNvPr id="187" name="Shape 187"/>
        <p:cNvGrpSpPr/>
        <p:nvPr/>
      </p:nvGrpSpPr>
      <p:grpSpPr>
        <a:xfrm>
          <a:off x="0" y="0"/>
          <a:ext cx="0" cy="0"/>
          <a:chOff x="0" y="0"/>
          <a:chExt cx="0" cy="0"/>
        </a:xfrm>
      </p:grpSpPr>
      <p:sp>
        <p:nvSpPr>
          <p:cNvPr id="188" name="Google Shape;188;p23"/>
          <p:cNvSpPr/>
          <p:nvPr/>
        </p:nvSpPr>
        <p:spPr>
          <a:xfrm>
            <a:off x="812800" y="812800"/>
            <a:ext cx="5482779" cy="7112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B3202D"/>
              </a:buClr>
              <a:buSzPts val="6000"/>
              <a:buFont typeface="Archivo"/>
              <a:buNone/>
            </a:pPr>
            <a:r>
              <a:rPr b="1" i="0" lang="en-US" sz="6000" u="none" cap="none" strike="noStrike">
                <a:solidFill>
                  <a:srgbClr val="B3202D"/>
                </a:solidFill>
                <a:latin typeface="Archivo"/>
                <a:ea typeface="Archivo"/>
                <a:cs typeface="Archivo"/>
                <a:sym typeface="Archivo"/>
              </a:rPr>
              <a:t>OUR MISSION</a:t>
            </a:r>
            <a:endParaRPr b="0" i="0" sz="6000" u="none" cap="none" strike="noStrike">
              <a:solidFill>
                <a:schemeClr val="dk1"/>
              </a:solidFill>
              <a:latin typeface="Calibri"/>
              <a:ea typeface="Calibri"/>
              <a:cs typeface="Calibri"/>
              <a:sym typeface="Calibri"/>
            </a:endParaRPr>
          </a:p>
        </p:txBody>
      </p:sp>
      <p:cxnSp>
        <p:nvCxnSpPr>
          <p:cNvPr id="189" name="Google Shape;189;p23"/>
          <p:cNvCxnSpPr/>
          <p:nvPr/>
        </p:nvCxnSpPr>
        <p:spPr>
          <a:xfrm>
            <a:off x="812800" y="2142220"/>
            <a:ext cx="0" cy="1920300"/>
          </a:xfrm>
          <a:prstGeom prst="straightConnector1">
            <a:avLst/>
          </a:prstGeom>
          <a:noFill/>
          <a:ln cap="flat" cmpd="sng" w="101600">
            <a:solidFill>
              <a:srgbClr val="B3202D"/>
            </a:solidFill>
            <a:prstDash val="solid"/>
            <a:round/>
            <a:headEnd len="sm" w="sm" type="none"/>
            <a:tailEnd len="sm" w="sm" type="none"/>
          </a:ln>
        </p:spPr>
      </p:cxnSp>
      <p:sp>
        <p:nvSpPr>
          <p:cNvPr id="190" name="Google Shape;190;p23"/>
          <p:cNvSpPr/>
          <p:nvPr/>
        </p:nvSpPr>
        <p:spPr>
          <a:xfrm>
            <a:off x="1251775" y="2219083"/>
            <a:ext cx="10412400" cy="1945500"/>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1E1616"/>
              </a:buClr>
              <a:buSzPts val="4800"/>
              <a:buFont typeface="Archivo"/>
              <a:buNone/>
            </a:pPr>
            <a:r>
              <a:rPr b="1" i="0" lang="en-US" sz="4800" u="none" cap="none" strike="noStrike">
                <a:solidFill>
                  <a:srgbClr val="1E1616"/>
                </a:solidFill>
                <a:latin typeface="Archivo"/>
                <a:ea typeface="Archivo"/>
                <a:cs typeface="Archivo"/>
                <a:sym typeface="Archivo"/>
              </a:rPr>
              <a:t>We use the power of business and markets to address </a:t>
            </a:r>
            <a:r>
              <a:rPr b="1" i="0" lang="en-US" sz="4800" u="none" cap="none" strike="noStrike">
                <a:solidFill>
                  <a:srgbClr val="B3202D"/>
                </a:solidFill>
                <a:latin typeface="Archivo"/>
                <a:ea typeface="Archivo"/>
                <a:cs typeface="Archivo"/>
                <a:sym typeface="Archivo"/>
              </a:rPr>
              <a:t>complex global problems.</a:t>
            </a:r>
            <a:endParaRPr b="0" i="0" sz="4800" u="none" cap="none" strike="noStrike">
              <a:solidFill>
                <a:schemeClr val="dk1"/>
              </a:solidFill>
              <a:latin typeface="Calibri"/>
              <a:ea typeface="Calibri"/>
              <a:cs typeface="Calibri"/>
              <a:sym typeface="Calibri"/>
            </a:endParaRPr>
          </a:p>
        </p:txBody>
      </p:sp>
      <p:pic>
        <p:nvPicPr>
          <p:cNvPr descr="Ballard Center, BYU Marriott logo" id="191" name="Google Shape;191;p23"/>
          <p:cNvPicPr preferRelativeResize="0"/>
          <p:nvPr/>
        </p:nvPicPr>
        <p:blipFill rotWithShape="1">
          <a:blip r:embed="rId3">
            <a:alphaModFix/>
          </a:blip>
          <a:srcRect b="0" l="-40" r="-40" t="0"/>
          <a:stretch/>
        </p:blipFill>
        <p:spPr>
          <a:xfrm>
            <a:off x="812800" y="6108700"/>
            <a:ext cx="1390650" cy="381000"/>
          </a:xfrm>
          <a:prstGeom prst="rect">
            <a:avLst/>
          </a:prstGeom>
          <a:noFill/>
          <a:ln>
            <a:noFill/>
          </a:ln>
        </p:spPr>
      </p:pic>
      <p:sp>
        <p:nvSpPr>
          <p:cNvPr id="192" name="Google Shape;192;p23"/>
          <p:cNvSpPr/>
          <p:nvPr/>
        </p:nvSpPr>
        <p:spPr>
          <a:xfrm>
            <a:off x="2406650" y="6096000"/>
            <a:ext cx="19050" cy="406400"/>
          </a:xfrm>
          <a:prstGeom prst="rect">
            <a:avLst/>
          </a:prstGeom>
          <a:solidFill>
            <a:srgbClr val="1E16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23"/>
          <p:cNvSpPr/>
          <p:nvPr/>
        </p:nvSpPr>
        <p:spPr>
          <a:xfrm>
            <a:off x="2628900" y="6174730"/>
            <a:ext cx="1986524" cy="2742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E1616"/>
              </a:buClr>
              <a:buSzPts val="1400"/>
              <a:buFont typeface="DM Sans"/>
              <a:buNone/>
            </a:pPr>
            <a:r>
              <a:rPr b="1" i="0" lang="en-US" sz="1400" u="none" cap="none" strike="noStrike">
                <a:solidFill>
                  <a:srgbClr val="1E1616"/>
                </a:solidFill>
                <a:latin typeface="DM Sans"/>
                <a:ea typeface="DM Sans"/>
                <a:cs typeface="DM Sans"/>
                <a:sym typeface="DM Sans"/>
              </a:rPr>
              <a:t>BUSINESS FOR GOOD</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616"/>
        </a:solidFill>
      </p:bgPr>
    </p:bg>
    <p:spTree>
      <p:nvGrpSpPr>
        <p:cNvPr id="198" name="Shape 198"/>
        <p:cNvGrpSpPr/>
        <p:nvPr/>
      </p:nvGrpSpPr>
      <p:grpSpPr>
        <a:xfrm>
          <a:off x="0" y="0"/>
          <a:ext cx="0" cy="0"/>
          <a:chOff x="0" y="0"/>
          <a:chExt cx="0" cy="0"/>
        </a:xfrm>
      </p:grpSpPr>
      <p:sp>
        <p:nvSpPr>
          <p:cNvPr id="199" name="Google Shape;199;p24"/>
          <p:cNvSpPr/>
          <p:nvPr/>
        </p:nvSpPr>
        <p:spPr>
          <a:xfrm>
            <a:off x="858525" y="2425700"/>
            <a:ext cx="3662700" cy="1701900"/>
          </a:xfrm>
          <a:prstGeom prst="rect">
            <a:avLst/>
          </a:prstGeom>
          <a:noFill/>
          <a:ln>
            <a:noFill/>
          </a:ln>
        </p:spPr>
        <p:txBody>
          <a:bodyPr anchorCtr="0" anchor="t" bIns="0" lIns="0" spcFirstLastPara="1" rIns="0" wrap="square" tIns="0">
            <a:noAutofit/>
          </a:bodyPr>
          <a:lstStyle/>
          <a:p>
            <a:pPr indent="0" lvl="0" marL="0" marR="0" rtl="0" algn="l">
              <a:lnSpc>
                <a:spcPct val="88000"/>
              </a:lnSpc>
              <a:spcBef>
                <a:spcPts val="0"/>
              </a:spcBef>
              <a:spcAft>
                <a:spcPts val="0"/>
              </a:spcAft>
              <a:buClr>
                <a:srgbClr val="D6313F"/>
              </a:buClr>
              <a:buSzPts val="7500"/>
              <a:buFont typeface="Archivo"/>
              <a:buNone/>
            </a:pPr>
            <a:r>
              <a:rPr b="1" i="0" lang="en-US" sz="7500" u="none" cap="none" strike="noStrike">
                <a:solidFill>
                  <a:srgbClr val="D6313F"/>
                </a:solidFill>
                <a:latin typeface="Archivo"/>
                <a:ea typeface="Archivo"/>
                <a:cs typeface="Archivo"/>
                <a:sym typeface="Archivo"/>
              </a:rPr>
              <a:t>OUR</a:t>
            </a:r>
            <a:endParaRPr b="0" i="0" sz="7500" u="none" cap="none" strike="noStrike">
              <a:solidFill>
                <a:schemeClr val="dk1"/>
              </a:solidFill>
              <a:latin typeface="Calibri"/>
              <a:ea typeface="Calibri"/>
              <a:cs typeface="Calibri"/>
              <a:sym typeface="Calibri"/>
            </a:endParaRPr>
          </a:p>
          <a:p>
            <a:pPr indent="0" lvl="0" marL="0" marR="0" rtl="0" algn="l">
              <a:lnSpc>
                <a:spcPct val="88000"/>
              </a:lnSpc>
              <a:spcBef>
                <a:spcPts val="0"/>
              </a:spcBef>
              <a:spcAft>
                <a:spcPts val="0"/>
              </a:spcAft>
              <a:buClr>
                <a:srgbClr val="D6313F"/>
              </a:buClr>
              <a:buSzPts val="7500"/>
              <a:buFont typeface="Archivo"/>
              <a:buNone/>
            </a:pPr>
            <a:r>
              <a:rPr b="1" i="0" lang="en-US" sz="7500" u="none" cap="none" strike="noStrike">
                <a:solidFill>
                  <a:srgbClr val="D6313F"/>
                </a:solidFill>
                <a:latin typeface="Archivo"/>
                <a:ea typeface="Archivo"/>
                <a:cs typeface="Archivo"/>
                <a:sym typeface="Archivo"/>
              </a:rPr>
              <a:t>VISION</a:t>
            </a:r>
            <a:endParaRPr b="0" i="0" sz="7500" u="none" cap="none" strike="noStrike">
              <a:solidFill>
                <a:schemeClr val="dk1"/>
              </a:solidFill>
              <a:latin typeface="Calibri"/>
              <a:ea typeface="Calibri"/>
              <a:cs typeface="Calibri"/>
              <a:sym typeface="Calibri"/>
            </a:endParaRPr>
          </a:p>
        </p:txBody>
      </p:sp>
      <p:cxnSp>
        <p:nvCxnSpPr>
          <p:cNvPr id="200" name="Google Shape;200;p24"/>
          <p:cNvCxnSpPr/>
          <p:nvPr/>
        </p:nvCxnSpPr>
        <p:spPr>
          <a:xfrm>
            <a:off x="4991100" y="812800"/>
            <a:ext cx="0" cy="4927600"/>
          </a:xfrm>
          <a:prstGeom prst="straightConnector1">
            <a:avLst/>
          </a:prstGeom>
          <a:noFill/>
          <a:ln cap="flat" cmpd="sng" w="25400">
            <a:solidFill>
              <a:srgbClr val="D6313F"/>
            </a:solidFill>
            <a:prstDash val="solid"/>
            <a:round/>
            <a:headEnd len="sm" w="sm" type="none"/>
            <a:tailEnd len="sm" w="sm" type="none"/>
          </a:ln>
        </p:spPr>
      </p:cxnSp>
      <p:sp>
        <p:nvSpPr>
          <p:cNvPr id="201" name="Google Shape;201;p24"/>
          <p:cNvSpPr/>
          <p:nvPr/>
        </p:nvSpPr>
        <p:spPr>
          <a:xfrm>
            <a:off x="5461000" y="1836440"/>
            <a:ext cx="6095746" cy="290572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F2EDE6"/>
              </a:buClr>
              <a:buSzPts val="4200"/>
              <a:buFont typeface="Archivo"/>
              <a:buNone/>
            </a:pPr>
            <a:r>
              <a:rPr b="1" i="0" lang="en-US" sz="4200" u="none" cap="none" strike="noStrike">
                <a:solidFill>
                  <a:srgbClr val="F2EDE6"/>
                </a:solidFill>
                <a:latin typeface="Archivo"/>
                <a:ea typeface="Archivo"/>
                <a:cs typeface="Archivo"/>
                <a:sym typeface="Archivo"/>
              </a:rPr>
              <a:t>We live in a world where business creates and deploys value to </a:t>
            </a:r>
            <a:r>
              <a:rPr b="1" i="0" lang="en-US" sz="4200" u="none" cap="none" strike="noStrike">
                <a:solidFill>
                  <a:srgbClr val="D6313F"/>
                </a:solidFill>
                <a:latin typeface="Archivo"/>
                <a:ea typeface="Archivo"/>
                <a:cs typeface="Archivo"/>
                <a:sym typeface="Archivo"/>
              </a:rPr>
              <a:t>improve the world.</a:t>
            </a:r>
            <a:endParaRPr b="0" i="0" sz="4200" u="none" cap="none" strike="noStrike">
              <a:solidFill>
                <a:schemeClr val="dk1"/>
              </a:solidFill>
              <a:latin typeface="Calibri"/>
              <a:ea typeface="Calibri"/>
              <a:cs typeface="Calibri"/>
              <a:sym typeface="Calibri"/>
            </a:endParaRPr>
          </a:p>
        </p:txBody>
      </p:sp>
      <p:pic>
        <p:nvPicPr>
          <p:cNvPr descr="Ballard Center, BYU Marriott logo" id="202" name="Google Shape;202;p24"/>
          <p:cNvPicPr preferRelativeResize="0"/>
          <p:nvPr/>
        </p:nvPicPr>
        <p:blipFill rotWithShape="1">
          <a:blip r:embed="rId3">
            <a:alphaModFix/>
          </a:blip>
          <a:srcRect b="0" l="-40" r="-40" t="0"/>
          <a:stretch/>
        </p:blipFill>
        <p:spPr>
          <a:xfrm>
            <a:off x="812800" y="6108700"/>
            <a:ext cx="1390650" cy="381000"/>
          </a:xfrm>
          <a:prstGeom prst="rect">
            <a:avLst/>
          </a:prstGeom>
          <a:noFill/>
          <a:ln>
            <a:noFill/>
          </a:ln>
        </p:spPr>
      </p:pic>
      <p:sp>
        <p:nvSpPr>
          <p:cNvPr id="203" name="Google Shape;203;p24"/>
          <p:cNvSpPr/>
          <p:nvPr/>
        </p:nvSpPr>
        <p:spPr>
          <a:xfrm>
            <a:off x="2406650" y="6096000"/>
            <a:ext cx="19050" cy="406400"/>
          </a:xfrm>
          <a:prstGeom prst="rect">
            <a:avLst/>
          </a:prstGeom>
          <a:solidFill>
            <a:srgbClr val="F2ED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24"/>
          <p:cNvSpPr/>
          <p:nvPr/>
        </p:nvSpPr>
        <p:spPr>
          <a:xfrm>
            <a:off x="2628900" y="6174730"/>
            <a:ext cx="1986524" cy="2742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EDE6"/>
              </a:buClr>
              <a:buSzPts val="1400"/>
              <a:buFont typeface="DM Sans"/>
              <a:buNone/>
            </a:pPr>
            <a:r>
              <a:rPr b="1" i="0" lang="en-US" sz="1400" u="none" cap="none" strike="noStrike">
                <a:solidFill>
                  <a:srgbClr val="F2EDE6"/>
                </a:solidFill>
                <a:latin typeface="DM Sans"/>
                <a:ea typeface="DM Sans"/>
                <a:cs typeface="DM Sans"/>
                <a:sym typeface="DM Sans"/>
              </a:rPr>
              <a:t>BUSINESS FOR GOOD</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3202D"/>
        </a:solidFill>
      </p:bgPr>
    </p:bg>
    <p:spTree>
      <p:nvGrpSpPr>
        <p:cNvPr id="209" name="Shape 209"/>
        <p:cNvGrpSpPr/>
        <p:nvPr/>
      </p:nvGrpSpPr>
      <p:grpSpPr>
        <a:xfrm>
          <a:off x="0" y="0"/>
          <a:ext cx="0" cy="0"/>
          <a:chOff x="0" y="0"/>
          <a:chExt cx="0" cy="0"/>
        </a:xfrm>
      </p:grpSpPr>
      <p:sp>
        <p:nvSpPr>
          <p:cNvPr id="210" name="Google Shape;210;p25"/>
          <p:cNvSpPr/>
          <p:nvPr/>
        </p:nvSpPr>
        <p:spPr>
          <a:xfrm>
            <a:off x="812800" y="1402445"/>
            <a:ext cx="10883400" cy="2052300"/>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F7ECE8"/>
              </a:buClr>
              <a:buSzPts val="5600"/>
              <a:buFont typeface="Archivo"/>
              <a:buNone/>
            </a:pPr>
            <a:r>
              <a:rPr b="1" lang="en-US" sz="3700">
                <a:solidFill>
                  <a:srgbClr val="F7ECE8"/>
                </a:solidFill>
                <a:latin typeface="Archivo"/>
                <a:ea typeface="Archivo"/>
                <a:cs typeface="Archivo"/>
                <a:sym typeface="Archivo"/>
              </a:rPr>
              <a:t>18 But before ye seek for riches, seek ye for the kingdom of God.</a:t>
            </a:r>
            <a:br>
              <a:rPr b="1" lang="en-US" sz="3700">
                <a:solidFill>
                  <a:srgbClr val="F7ECE8"/>
                </a:solidFill>
                <a:latin typeface="Archivo"/>
                <a:ea typeface="Archivo"/>
                <a:cs typeface="Archivo"/>
                <a:sym typeface="Archivo"/>
              </a:rPr>
            </a:br>
            <a:r>
              <a:rPr b="1" lang="en-US" sz="3700">
                <a:solidFill>
                  <a:srgbClr val="F7ECE8"/>
                </a:solidFill>
                <a:latin typeface="Archivo"/>
                <a:ea typeface="Archivo"/>
                <a:cs typeface="Archivo"/>
                <a:sym typeface="Archivo"/>
              </a:rPr>
              <a:t>19 And after ye have obtained a hope in Christ ye shall obtain riches, if ye seek them; and ye will seek them for the intent to </a:t>
            </a:r>
            <a:r>
              <a:rPr lang="en-US" sz="3700">
                <a:solidFill>
                  <a:srgbClr val="F7ECE8"/>
                </a:solidFill>
                <a:latin typeface="Archivo Black"/>
                <a:ea typeface="Archivo Black"/>
                <a:cs typeface="Archivo Black"/>
                <a:sym typeface="Archivo Black"/>
              </a:rPr>
              <a:t>do good</a:t>
            </a:r>
            <a:r>
              <a:rPr b="1" lang="en-US" sz="3700">
                <a:solidFill>
                  <a:srgbClr val="F7ECE8"/>
                </a:solidFill>
                <a:latin typeface="Archivo"/>
                <a:ea typeface="Archivo"/>
                <a:cs typeface="Archivo"/>
                <a:sym typeface="Archivo"/>
              </a:rPr>
              <a:t>–to clothe the naked, and to feed the hungry, and to liberate the captive, and administer relief to the sick and the </a:t>
            </a:r>
            <a:r>
              <a:rPr b="1" lang="en-US" sz="3700">
                <a:solidFill>
                  <a:srgbClr val="F7ECE8"/>
                </a:solidFill>
                <a:latin typeface="Archivo"/>
                <a:ea typeface="Archivo"/>
                <a:cs typeface="Archivo"/>
                <a:sym typeface="Archivo"/>
              </a:rPr>
              <a:t>afflicted</a:t>
            </a:r>
            <a:r>
              <a:rPr b="1" lang="en-US" sz="3700">
                <a:solidFill>
                  <a:srgbClr val="F7ECE8"/>
                </a:solidFill>
                <a:latin typeface="Archivo"/>
                <a:ea typeface="Archivo"/>
                <a:cs typeface="Archivo"/>
                <a:sym typeface="Archivo"/>
              </a:rPr>
              <a:t>.</a:t>
            </a:r>
            <a:endParaRPr b="1" sz="3700">
              <a:solidFill>
                <a:srgbClr val="F7ECE8"/>
              </a:solidFill>
              <a:latin typeface="Archivo"/>
              <a:ea typeface="Archivo"/>
              <a:cs typeface="Archivo"/>
              <a:sym typeface="Archivo"/>
            </a:endParaRPr>
          </a:p>
        </p:txBody>
      </p:sp>
      <p:sp>
        <p:nvSpPr>
          <p:cNvPr id="211" name="Google Shape;211;p25"/>
          <p:cNvSpPr/>
          <p:nvPr/>
        </p:nvSpPr>
        <p:spPr>
          <a:xfrm>
            <a:off x="812800" y="812800"/>
            <a:ext cx="10883392" cy="2742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7ECE8"/>
              </a:buClr>
              <a:buSzPts val="1400"/>
              <a:buFont typeface="DM Sans"/>
              <a:buNone/>
            </a:pPr>
            <a:r>
              <a:rPr b="1" lang="en-US" sz="1800">
                <a:solidFill>
                  <a:srgbClr val="F7ECE8"/>
                </a:solidFill>
                <a:latin typeface="DM Sans"/>
                <a:ea typeface="DM Sans"/>
                <a:cs typeface="DM Sans"/>
                <a:sym typeface="DM Sans"/>
              </a:rPr>
              <a:t>JACOB 2:18-19</a:t>
            </a:r>
            <a:endParaRPr b="0" i="0" sz="1800" u="none" cap="none" strike="noStrike">
              <a:solidFill>
                <a:schemeClr val="dk1"/>
              </a:solidFill>
              <a:latin typeface="Calibri"/>
              <a:ea typeface="Calibri"/>
              <a:cs typeface="Calibri"/>
              <a:sym typeface="Calibri"/>
            </a:endParaRPr>
          </a:p>
        </p:txBody>
      </p:sp>
      <p:pic>
        <p:nvPicPr>
          <p:cNvPr descr="Do Good. Better." id="212" name="Google Shape;212;p25"/>
          <p:cNvPicPr preferRelativeResize="0"/>
          <p:nvPr/>
        </p:nvPicPr>
        <p:blipFill rotWithShape="1">
          <a:blip r:embed="rId3">
            <a:alphaModFix/>
          </a:blip>
          <a:srcRect b="-43" l="0" r="0" t="-43"/>
          <a:stretch/>
        </p:blipFill>
        <p:spPr>
          <a:xfrm>
            <a:off x="8883150" y="6230150"/>
            <a:ext cx="2813051" cy="2540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3202D"/>
        </a:solidFill>
      </p:bgPr>
    </p:bg>
    <p:spTree>
      <p:nvGrpSpPr>
        <p:cNvPr id="216" name="Shape 216"/>
        <p:cNvGrpSpPr/>
        <p:nvPr/>
      </p:nvGrpSpPr>
      <p:grpSpPr>
        <a:xfrm>
          <a:off x="0" y="0"/>
          <a:ext cx="0" cy="0"/>
          <a:chOff x="0" y="0"/>
          <a:chExt cx="0" cy="0"/>
        </a:xfrm>
      </p:grpSpPr>
      <p:pic>
        <p:nvPicPr>
          <p:cNvPr descr="Ballard Center, BYU Marriott logo" id="217" name="Google Shape;217;p26"/>
          <p:cNvPicPr preferRelativeResize="0"/>
          <p:nvPr/>
        </p:nvPicPr>
        <p:blipFill rotWithShape="1">
          <a:blip r:embed="rId3">
            <a:alphaModFix/>
          </a:blip>
          <a:srcRect b="0" l="-40" r="-40" t="0"/>
          <a:stretch/>
        </p:blipFill>
        <p:spPr>
          <a:xfrm>
            <a:off x="812800" y="6121400"/>
            <a:ext cx="1390650" cy="381000"/>
          </a:xfrm>
          <a:prstGeom prst="rect">
            <a:avLst/>
          </a:prstGeom>
          <a:noFill/>
          <a:ln>
            <a:noFill/>
          </a:ln>
        </p:spPr>
      </p:pic>
      <p:sp>
        <p:nvSpPr>
          <p:cNvPr id="218" name="Google Shape;218;p26"/>
          <p:cNvSpPr txBox="1"/>
          <p:nvPr/>
        </p:nvSpPr>
        <p:spPr>
          <a:xfrm>
            <a:off x="813816" y="658368"/>
            <a:ext cx="9601200" cy="914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6600" u="none" cap="none" strike="noStrike">
                <a:solidFill>
                  <a:srgbClr val="FFFFFF"/>
                </a:solidFill>
                <a:latin typeface="Archivo"/>
                <a:ea typeface="Archivo"/>
                <a:cs typeface="Archivo"/>
                <a:sym typeface="Archivo"/>
              </a:rPr>
              <a:t>DO GOOD. BETTER.</a:t>
            </a:r>
            <a:endParaRPr/>
          </a:p>
        </p:txBody>
      </p:sp>
      <p:sp>
        <p:nvSpPr>
          <p:cNvPr id="219" name="Google Shape;219;p26"/>
          <p:cNvSpPr txBox="1"/>
          <p:nvPr/>
        </p:nvSpPr>
        <p:spPr>
          <a:xfrm>
            <a:off x="813816" y="1810512"/>
            <a:ext cx="7315200"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600" u="none" cap="none" strike="noStrike">
                <a:solidFill>
                  <a:srgbClr val="F7ECE8"/>
                </a:solidFill>
                <a:latin typeface="DM Sans"/>
                <a:ea typeface="DM Sans"/>
                <a:cs typeface="DM Sans"/>
                <a:sym typeface="DM Sans"/>
              </a:rPr>
              <a:t>What is </a:t>
            </a:r>
            <a:r>
              <a:rPr b="1" i="0" lang="en-US" sz="2600" u="sng" cap="none" strike="noStrike">
                <a:solidFill>
                  <a:srgbClr val="F7ECE8"/>
                </a:solidFill>
                <a:latin typeface="DM Sans"/>
                <a:ea typeface="DM Sans"/>
                <a:cs typeface="DM Sans"/>
                <a:sym typeface="DM Sans"/>
              </a:rPr>
              <a:t>social impact</a:t>
            </a:r>
            <a:r>
              <a:rPr b="1" i="0" lang="en-US" sz="2600" u="none" cap="none" strike="noStrike">
                <a:solidFill>
                  <a:srgbClr val="F7ECE8"/>
                </a:solidFill>
                <a:latin typeface="DM Sans"/>
                <a:ea typeface="DM Sans"/>
                <a:cs typeface="DM Sans"/>
                <a:sym typeface="DM Sans"/>
              </a:rPr>
              <a:t>?</a:t>
            </a:r>
            <a:endParaRPr/>
          </a:p>
        </p:txBody>
      </p:sp>
      <p:cxnSp>
        <p:nvCxnSpPr>
          <p:cNvPr id="220" name="Google Shape;220;p26"/>
          <p:cNvCxnSpPr/>
          <p:nvPr/>
        </p:nvCxnSpPr>
        <p:spPr>
          <a:xfrm rot="10800000">
            <a:off x="1143000" y="2606040"/>
            <a:ext cx="0" cy="3017520"/>
          </a:xfrm>
          <a:prstGeom prst="straightConnector1">
            <a:avLst/>
          </a:prstGeom>
          <a:noFill/>
          <a:ln cap="flat" cmpd="sng" w="50800">
            <a:solidFill>
              <a:srgbClr val="FFFFFF"/>
            </a:solidFill>
            <a:prstDash val="solid"/>
            <a:round/>
            <a:headEnd len="sm" w="sm" type="none"/>
            <a:tailEnd len="med" w="med" type="triangle"/>
          </a:ln>
        </p:spPr>
      </p:cxnSp>
      <p:sp>
        <p:nvSpPr>
          <p:cNvPr id="221" name="Google Shape;221;p26"/>
          <p:cNvSpPr txBox="1"/>
          <p:nvPr/>
        </p:nvSpPr>
        <p:spPr>
          <a:xfrm>
            <a:off x="1600200" y="2670048"/>
            <a:ext cx="5120640" cy="1188720"/>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None/>
            </a:pPr>
            <a:r>
              <a:rPr b="1" i="0" lang="en-US" sz="3600" u="none" cap="none" strike="noStrike">
                <a:solidFill>
                  <a:srgbClr val="FFFFFF"/>
                </a:solidFill>
                <a:latin typeface="Archivo"/>
                <a:ea typeface="Archivo"/>
                <a:cs typeface="Archivo"/>
                <a:sym typeface="Archivo"/>
              </a:rPr>
              <a:t>INCREASE HUMAN</a:t>
            </a:r>
            <a:endParaRPr/>
          </a:p>
          <a:p>
            <a:pPr indent="0" lvl="0" marL="0" marR="0" rtl="0" algn="l">
              <a:lnSpc>
                <a:spcPct val="95000"/>
              </a:lnSpc>
              <a:spcBef>
                <a:spcPts val="0"/>
              </a:spcBef>
              <a:spcAft>
                <a:spcPts val="0"/>
              </a:spcAft>
              <a:buNone/>
            </a:pPr>
            <a:r>
              <a:rPr b="1" i="0" lang="en-US" sz="3600" u="none" cap="none" strike="noStrike">
                <a:solidFill>
                  <a:srgbClr val="FFFFFF"/>
                </a:solidFill>
                <a:latin typeface="Archivo"/>
                <a:ea typeface="Archivo"/>
                <a:cs typeface="Archivo"/>
                <a:sym typeface="Archivo"/>
              </a:rPr>
              <a:t>FLOURISHING</a:t>
            </a:r>
            <a:endParaRPr/>
          </a:p>
        </p:txBody>
      </p:sp>
      <p:cxnSp>
        <p:nvCxnSpPr>
          <p:cNvPr id="222" name="Google Shape;222;p26"/>
          <p:cNvCxnSpPr/>
          <p:nvPr/>
        </p:nvCxnSpPr>
        <p:spPr>
          <a:xfrm>
            <a:off x="11155680" y="914400"/>
            <a:ext cx="0" cy="4709160"/>
          </a:xfrm>
          <a:prstGeom prst="straightConnector1">
            <a:avLst/>
          </a:prstGeom>
          <a:noFill/>
          <a:ln cap="flat" cmpd="sng" w="50800">
            <a:solidFill>
              <a:srgbClr val="FFFFFF"/>
            </a:solidFill>
            <a:prstDash val="solid"/>
            <a:round/>
            <a:headEnd len="sm" w="sm" type="none"/>
            <a:tailEnd len="med" w="med" type="triangle"/>
          </a:ln>
        </p:spPr>
      </p:cxnSp>
      <p:sp>
        <p:nvSpPr>
          <p:cNvPr id="223" name="Google Shape;223;p26"/>
          <p:cNvSpPr txBox="1"/>
          <p:nvPr/>
        </p:nvSpPr>
        <p:spPr>
          <a:xfrm>
            <a:off x="5394960" y="4498848"/>
            <a:ext cx="5303520" cy="1188720"/>
          </a:xfrm>
          <a:prstGeom prst="rect">
            <a:avLst/>
          </a:prstGeom>
          <a:noFill/>
          <a:ln>
            <a:noFill/>
          </a:ln>
        </p:spPr>
        <p:txBody>
          <a:bodyPr anchorCtr="0" anchor="t" bIns="0" lIns="0" spcFirstLastPara="1" rIns="0" wrap="square" tIns="0">
            <a:spAutoFit/>
          </a:bodyPr>
          <a:lstStyle/>
          <a:p>
            <a:pPr indent="0" lvl="0" marL="0" marR="0" rtl="0" algn="r">
              <a:lnSpc>
                <a:spcPct val="95000"/>
              </a:lnSpc>
              <a:spcBef>
                <a:spcPts val="0"/>
              </a:spcBef>
              <a:spcAft>
                <a:spcPts val="0"/>
              </a:spcAft>
              <a:buNone/>
            </a:pPr>
            <a:r>
              <a:rPr b="1" i="0" lang="en-US" sz="3600" u="none" cap="none" strike="noStrike">
                <a:solidFill>
                  <a:srgbClr val="FFFFFF"/>
                </a:solidFill>
                <a:latin typeface="Archivo"/>
                <a:ea typeface="Archivo"/>
                <a:cs typeface="Archivo"/>
                <a:sym typeface="Archivo"/>
              </a:rPr>
              <a:t>DECREASE HUMAN</a:t>
            </a:r>
            <a:endParaRPr/>
          </a:p>
          <a:p>
            <a:pPr indent="0" lvl="0" marL="0" marR="0" rtl="0" algn="r">
              <a:lnSpc>
                <a:spcPct val="95000"/>
              </a:lnSpc>
              <a:spcBef>
                <a:spcPts val="0"/>
              </a:spcBef>
              <a:spcAft>
                <a:spcPts val="0"/>
              </a:spcAft>
              <a:buNone/>
            </a:pPr>
            <a:r>
              <a:rPr b="1" i="0" lang="en-US" sz="3600" u="none" cap="none" strike="noStrike">
                <a:solidFill>
                  <a:srgbClr val="FFFFFF"/>
                </a:solidFill>
                <a:latin typeface="Archivo"/>
                <a:ea typeface="Archivo"/>
                <a:cs typeface="Archivo"/>
                <a:sym typeface="Archivo"/>
              </a:rPr>
              <a:t>SUFFERING</a:t>
            </a:r>
            <a:endParaRPr/>
          </a:p>
        </p:txBody>
      </p:sp>
      <p:sp>
        <p:nvSpPr>
          <p:cNvPr id="224" name="Google Shape;224;p26"/>
          <p:cNvSpPr txBox="1"/>
          <p:nvPr/>
        </p:nvSpPr>
        <p:spPr>
          <a:xfrm>
            <a:off x="8138160" y="2468880"/>
            <a:ext cx="292608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2200" u="none" cap="none" strike="noStrike">
                <a:solidFill>
                  <a:srgbClr val="F4C9C4"/>
                </a:solidFill>
                <a:latin typeface="DM Sans"/>
                <a:ea typeface="DM Sans"/>
                <a:cs typeface="DM Sans"/>
                <a:sym typeface="DM Sans"/>
              </a:rPr>
              <a:t>Sustainability</a:t>
            </a:r>
            <a:endParaRPr/>
          </a:p>
        </p:txBody>
      </p:sp>
      <p:sp>
        <p:nvSpPr>
          <p:cNvPr id="225" name="Google Shape;225;p26"/>
          <p:cNvSpPr txBox="1"/>
          <p:nvPr/>
        </p:nvSpPr>
        <p:spPr>
          <a:xfrm>
            <a:off x="6812280" y="3017520"/>
            <a:ext cx="292608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2200" u="none" cap="none" strike="noStrike">
                <a:solidFill>
                  <a:srgbClr val="F4C9C4"/>
                </a:solidFill>
                <a:latin typeface="DM Sans"/>
                <a:ea typeface="DM Sans"/>
                <a:cs typeface="DM Sans"/>
                <a:sym typeface="DM Sans"/>
              </a:rPr>
              <a:t>Food security</a:t>
            </a:r>
            <a:endParaRPr/>
          </a:p>
        </p:txBody>
      </p:sp>
      <p:sp>
        <p:nvSpPr>
          <p:cNvPr id="226" name="Google Shape;226;p26"/>
          <p:cNvSpPr txBox="1"/>
          <p:nvPr/>
        </p:nvSpPr>
        <p:spPr>
          <a:xfrm>
            <a:off x="8549640" y="3547872"/>
            <a:ext cx="292608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2200" u="none" cap="none" strike="noStrike">
                <a:solidFill>
                  <a:srgbClr val="F4C9C4"/>
                </a:solidFill>
                <a:latin typeface="DM Sans"/>
                <a:ea typeface="DM Sans"/>
                <a:cs typeface="DM Sans"/>
                <a:sym typeface="DM Sans"/>
              </a:rPr>
              <a:t>Homelessness</a:t>
            </a:r>
            <a:endParaRPr/>
          </a:p>
        </p:txBody>
      </p:sp>
      <p:sp>
        <p:nvSpPr>
          <p:cNvPr id="227" name="Google Shape;227;p26"/>
          <p:cNvSpPr txBox="1"/>
          <p:nvPr/>
        </p:nvSpPr>
        <p:spPr>
          <a:xfrm>
            <a:off x="5806440" y="3931920"/>
            <a:ext cx="292608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2200" u="none" cap="none" strike="noStrike">
                <a:solidFill>
                  <a:srgbClr val="F4C9C4"/>
                </a:solidFill>
                <a:latin typeface="DM Sans"/>
                <a:ea typeface="DM Sans"/>
                <a:cs typeface="DM Sans"/>
                <a:sym typeface="DM Sans"/>
              </a:rPr>
              <a:t>Healthcare access</a:t>
            </a:r>
            <a:endParaRPr/>
          </a:p>
        </p:txBody>
      </p:sp>
      <p:sp>
        <p:nvSpPr>
          <p:cNvPr id="228" name="Google Shape;228;p26"/>
          <p:cNvSpPr txBox="1"/>
          <p:nvPr/>
        </p:nvSpPr>
        <p:spPr>
          <a:xfrm>
            <a:off x="1600200" y="4206240"/>
            <a:ext cx="292608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2200" u="none" cap="none" strike="noStrike">
                <a:solidFill>
                  <a:srgbClr val="F4C9C4"/>
                </a:solidFill>
                <a:latin typeface="DM Sans"/>
                <a:ea typeface="DM Sans"/>
                <a:cs typeface="DM Sans"/>
                <a:sym typeface="DM Sans"/>
              </a:rPr>
              <a:t>Humanitarian work</a:t>
            </a:r>
            <a:endParaRPr/>
          </a:p>
        </p:txBody>
      </p:sp>
      <p:sp>
        <p:nvSpPr>
          <p:cNvPr id="229" name="Google Shape;229;p26"/>
          <p:cNvSpPr txBox="1"/>
          <p:nvPr/>
        </p:nvSpPr>
        <p:spPr>
          <a:xfrm>
            <a:off x="2606040" y="4983480"/>
            <a:ext cx="292608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2200" u="none" cap="none" strike="noStrike">
                <a:solidFill>
                  <a:srgbClr val="F4C9C4"/>
                </a:solidFill>
                <a:latin typeface="DM Sans"/>
                <a:ea typeface="DM Sans"/>
                <a:cs typeface="DM Sans"/>
                <a:sym typeface="DM Sans"/>
              </a:rPr>
              <a:t>Poverty alleviation</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EDE6"/>
        </a:solidFill>
      </p:bgPr>
    </p:bg>
    <p:spTree>
      <p:nvGrpSpPr>
        <p:cNvPr id="233" name="Shape 233"/>
        <p:cNvGrpSpPr/>
        <p:nvPr/>
      </p:nvGrpSpPr>
      <p:grpSpPr>
        <a:xfrm>
          <a:off x="0" y="0"/>
          <a:ext cx="0" cy="0"/>
          <a:chOff x="0" y="0"/>
          <a:chExt cx="0" cy="0"/>
        </a:xfrm>
      </p:grpSpPr>
      <p:pic>
        <p:nvPicPr>
          <p:cNvPr descr="Ballard Center, BYU Marriott logo" id="234" name="Google Shape;234;p27"/>
          <p:cNvPicPr preferRelativeResize="0"/>
          <p:nvPr/>
        </p:nvPicPr>
        <p:blipFill rotWithShape="1">
          <a:blip r:embed="rId3">
            <a:alphaModFix/>
          </a:blip>
          <a:srcRect b="0" l="-40" r="-40" t="0"/>
          <a:stretch/>
        </p:blipFill>
        <p:spPr>
          <a:xfrm>
            <a:off x="812800" y="6108700"/>
            <a:ext cx="1390650" cy="381000"/>
          </a:xfrm>
          <a:prstGeom prst="rect">
            <a:avLst/>
          </a:prstGeom>
          <a:noFill/>
          <a:ln>
            <a:noFill/>
          </a:ln>
        </p:spPr>
      </p:pic>
      <p:sp>
        <p:nvSpPr>
          <p:cNvPr id="235" name="Google Shape;235;p27"/>
          <p:cNvSpPr/>
          <p:nvPr/>
        </p:nvSpPr>
        <p:spPr>
          <a:xfrm>
            <a:off x="2406650" y="6096000"/>
            <a:ext cx="19050" cy="406400"/>
          </a:xfrm>
          <a:prstGeom prst="rect">
            <a:avLst/>
          </a:prstGeom>
          <a:solidFill>
            <a:srgbClr val="1E161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27"/>
          <p:cNvSpPr/>
          <p:nvPr/>
        </p:nvSpPr>
        <p:spPr>
          <a:xfrm>
            <a:off x="2628900" y="6174730"/>
            <a:ext cx="1986524" cy="2742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E1616"/>
              </a:buClr>
              <a:buSzPts val="1400"/>
              <a:buFont typeface="DM Sans"/>
              <a:buNone/>
            </a:pPr>
            <a:r>
              <a:rPr b="1" i="0" lang="en-US" sz="1400" u="none" cap="none" strike="noStrike">
                <a:solidFill>
                  <a:srgbClr val="1E1616"/>
                </a:solidFill>
                <a:latin typeface="DM Sans"/>
                <a:ea typeface="DM Sans"/>
                <a:cs typeface="DM Sans"/>
                <a:sym typeface="DM Sans"/>
              </a:rPr>
              <a:t>BUSINESS FOR GOOD</a:t>
            </a:r>
            <a:endParaRPr b="0" i="0" sz="1400" u="none" cap="none" strike="noStrike">
              <a:solidFill>
                <a:schemeClr val="dk1"/>
              </a:solidFill>
              <a:latin typeface="Calibri"/>
              <a:ea typeface="Calibri"/>
              <a:cs typeface="Calibri"/>
              <a:sym typeface="Calibri"/>
            </a:endParaRPr>
          </a:p>
        </p:txBody>
      </p:sp>
      <p:sp>
        <p:nvSpPr>
          <p:cNvPr id="237" name="Google Shape;237;p27"/>
          <p:cNvSpPr txBox="1"/>
          <p:nvPr/>
        </p:nvSpPr>
        <p:spPr>
          <a:xfrm>
            <a:off x="813828" y="1234450"/>
            <a:ext cx="6981000" cy="29922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i="0" lang="en-US" sz="5400" u="none" cap="none" strike="noStrike">
                <a:solidFill>
                  <a:srgbClr val="B3202D"/>
                </a:solidFill>
                <a:latin typeface="Archivo"/>
                <a:ea typeface="Archivo"/>
                <a:cs typeface="Archivo"/>
                <a:sym typeface="Archivo"/>
              </a:rPr>
              <a:t>THE</a:t>
            </a:r>
            <a:endParaRPr/>
          </a:p>
          <a:p>
            <a:pPr indent="0" lvl="0" marL="0" marR="0" rtl="0" algn="l">
              <a:lnSpc>
                <a:spcPct val="90000"/>
              </a:lnSpc>
              <a:spcBef>
                <a:spcPts val="0"/>
              </a:spcBef>
              <a:spcAft>
                <a:spcPts val="0"/>
              </a:spcAft>
              <a:buNone/>
            </a:pPr>
            <a:r>
              <a:rPr b="1" i="0" lang="en-US" sz="5400" u="none" cap="none" strike="noStrike">
                <a:solidFill>
                  <a:srgbClr val="B3202D"/>
                </a:solidFill>
                <a:latin typeface="Archivo"/>
                <a:ea typeface="Archivo"/>
                <a:cs typeface="Archivo"/>
                <a:sym typeface="Archivo"/>
              </a:rPr>
              <a:t>SOCIAL</a:t>
            </a:r>
            <a:endParaRPr/>
          </a:p>
          <a:p>
            <a:pPr indent="0" lvl="0" marL="0" marR="0" rtl="0" algn="l">
              <a:lnSpc>
                <a:spcPct val="90000"/>
              </a:lnSpc>
              <a:spcBef>
                <a:spcPts val="0"/>
              </a:spcBef>
              <a:spcAft>
                <a:spcPts val="0"/>
              </a:spcAft>
              <a:buNone/>
            </a:pPr>
            <a:r>
              <a:rPr b="1" i="0" lang="en-US" sz="5400" u="none" cap="none" strike="noStrike">
                <a:solidFill>
                  <a:srgbClr val="B3202D"/>
                </a:solidFill>
                <a:latin typeface="Archivo"/>
                <a:ea typeface="Archivo"/>
                <a:cs typeface="Archivo"/>
                <a:sym typeface="Archivo"/>
              </a:rPr>
              <a:t>IMPACT</a:t>
            </a:r>
            <a:endParaRPr/>
          </a:p>
          <a:p>
            <a:pPr indent="0" lvl="0" marL="0" marR="0" rtl="0" algn="l">
              <a:lnSpc>
                <a:spcPct val="90000"/>
              </a:lnSpc>
              <a:spcBef>
                <a:spcPts val="0"/>
              </a:spcBef>
              <a:spcAft>
                <a:spcPts val="0"/>
              </a:spcAft>
              <a:buNone/>
            </a:pPr>
            <a:r>
              <a:rPr b="1" i="0" lang="en-US" sz="5400" u="none" cap="none" strike="noStrike">
                <a:solidFill>
                  <a:srgbClr val="B3202D"/>
                </a:solidFill>
                <a:latin typeface="Archivo"/>
                <a:ea typeface="Archivo"/>
                <a:cs typeface="Archivo"/>
                <a:sym typeface="Archivo"/>
              </a:rPr>
              <a:t>CYCLE</a:t>
            </a:r>
            <a:endParaRPr/>
          </a:p>
        </p:txBody>
      </p:sp>
      <p:pic>
        <p:nvPicPr>
          <p:cNvPr descr="The Social Impact Cycle: Love the Problem, Design the Change, Implement, Evaluate, across Individual, Community and World levels" id="238" name="Google Shape;238;p27"/>
          <p:cNvPicPr preferRelativeResize="0"/>
          <p:nvPr/>
        </p:nvPicPr>
        <p:blipFill rotWithShape="1">
          <a:blip r:embed="rId4">
            <a:alphaModFix/>
          </a:blip>
          <a:srcRect b="0" l="0" r="0" t="0"/>
          <a:stretch/>
        </p:blipFill>
        <p:spPr>
          <a:xfrm>
            <a:off x="6019495" y="566928"/>
            <a:ext cx="5486400" cy="566928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EDE6"/>
        </a:solidFill>
      </p:bgPr>
    </p:bg>
    <p:spTree>
      <p:nvGrpSpPr>
        <p:cNvPr id="242" name="Shape 242"/>
        <p:cNvGrpSpPr/>
        <p:nvPr/>
      </p:nvGrpSpPr>
      <p:grpSpPr>
        <a:xfrm>
          <a:off x="0" y="0"/>
          <a:ext cx="0" cy="0"/>
          <a:chOff x="0" y="0"/>
          <a:chExt cx="0" cy="0"/>
        </a:xfrm>
      </p:grpSpPr>
      <p:pic>
        <p:nvPicPr>
          <p:cNvPr descr="Ballard Center, BYU Marriott logo" id="243" name="Google Shape;243;p28"/>
          <p:cNvPicPr preferRelativeResize="0"/>
          <p:nvPr/>
        </p:nvPicPr>
        <p:blipFill rotWithShape="1">
          <a:blip r:embed="rId3">
            <a:alphaModFix/>
          </a:blip>
          <a:srcRect b="0" l="-40" r="-40" t="0"/>
          <a:stretch/>
        </p:blipFill>
        <p:spPr>
          <a:xfrm>
            <a:off x="812800" y="6108700"/>
            <a:ext cx="1390650" cy="381000"/>
          </a:xfrm>
          <a:prstGeom prst="rect">
            <a:avLst/>
          </a:prstGeom>
          <a:noFill/>
          <a:ln>
            <a:noFill/>
          </a:ln>
        </p:spPr>
      </p:pic>
      <p:sp>
        <p:nvSpPr>
          <p:cNvPr id="244" name="Google Shape;244;p28"/>
          <p:cNvSpPr/>
          <p:nvPr/>
        </p:nvSpPr>
        <p:spPr>
          <a:xfrm>
            <a:off x="2406650" y="6096000"/>
            <a:ext cx="19050" cy="406400"/>
          </a:xfrm>
          <a:prstGeom prst="rect">
            <a:avLst/>
          </a:prstGeom>
          <a:solidFill>
            <a:srgbClr val="1E161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 name="Google Shape;245;p28"/>
          <p:cNvSpPr/>
          <p:nvPr/>
        </p:nvSpPr>
        <p:spPr>
          <a:xfrm>
            <a:off x="2628900" y="6174730"/>
            <a:ext cx="1986524" cy="2742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E1616"/>
              </a:buClr>
              <a:buSzPts val="1400"/>
              <a:buFont typeface="DM Sans"/>
              <a:buNone/>
            </a:pPr>
            <a:r>
              <a:rPr b="1" i="0" lang="en-US" sz="1400" u="none" cap="none" strike="noStrike">
                <a:solidFill>
                  <a:srgbClr val="1E1616"/>
                </a:solidFill>
                <a:latin typeface="DM Sans"/>
                <a:ea typeface="DM Sans"/>
                <a:cs typeface="DM Sans"/>
                <a:sym typeface="DM Sans"/>
              </a:rPr>
              <a:t>BUSINESS FOR GOOD</a:t>
            </a:r>
            <a:endParaRPr b="0" i="0" sz="1400" u="none" cap="none" strike="noStrike">
              <a:solidFill>
                <a:schemeClr val="dk1"/>
              </a:solidFill>
              <a:latin typeface="Calibri"/>
              <a:ea typeface="Calibri"/>
              <a:cs typeface="Calibri"/>
              <a:sym typeface="Calibri"/>
            </a:endParaRPr>
          </a:p>
        </p:txBody>
      </p:sp>
      <p:sp>
        <p:nvSpPr>
          <p:cNvPr id="246" name="Google Shape;246;p28"/>
          <p:cNvSpPr txBox="1"/>
          <p:nvPr/>
        </p:nvSpPr>
        <p:spPr>
          <a:xfrm>
            <a:off x="813816" y="813816"/>
            <a:ext cx="10515600" cy="677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4400">
                <a:solidFill>
                  <a:srgbClr val="B3202D"/>
                </a:solidFill>
                <a:latin typeface="Archivo"/>
                <a:ea typeface="Archivo"/>
                <a:cs typeface="Archivo"/>
                <a:sym typeface="Archivo"/>
              </a:rPr>
              <a:t>The Social Impact Journey…</a:t>
            </a:r>
            <a:endParaRPr/>
          </a:p>
        </p:txBody>
      </p:sp>
      <p:sp>
        <p:nvSpPr>
          <p:cNvPr id="247" name="Google Shape;247;p28"/>
          <p:cNvSpPr/>
          <p:nvPr/>
        </p:nvSpPr>
        <p:spPr>
          <a:xfrm>
            <a:off x="868680" y="3054096"/>
            <a:ext cx="1481328" cy="1481328"/>
          </a:xfrm>
          <a:prstGeom prst="ellipse">
            <a:avLst/>
          </a:prstGeom>
          <a:solidFill>
            <a:srgbClr val="B3202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8" name="Google Shape;248;p28"/>
          <p:cNvSpPr/>
          <p:nvPr/>
        </p:nvSpPr>
        <p:spPr>
          <a:xfrm>
            <a:off x="1124529" y="3976542"/>
            <a:ext cx="347400" cy="347400"/>
          </a:xfrm>
          <a:prstGeom prst="ellipse">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9" name="Google Shape;249;p28"/>
          <p:cNvSpPr/>
          <p:nvPr/>
        </p:nvSpPr>
        <p:spPr>
          <a:xfrm>
            <a:off x="2642616" y="3054096"/>
            <a:ext cx="1481328" cy="1481328"/>
          </a:xfrm>
          <a:prstGeom prst="ellipse">
            <a:avLst/>
          </a:prstGeom>
          <a:solidFill>
            <a:srgbClr val="B3202D"/>
          </a:solidFill>
          <a:ln cap="flat" cmpd="sng" w="88900">
            <a:solidFill>
              <a:srgbClr val="1E161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0" name="Google Shape;250;p28"/>
          <p:cNvSpPr/>
          <p:nvPr/>
        </p:nvSpPr>
        <p:spPr>
          <a:xfrm>
            <a:off x="2898465" y="3976542"/>
            <a:ext cx="347472" cy="347472"/>
          </a:xfrm>
          <a:prstGeom prst="ellipse">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cxnSp>
        <p:nvCxnSpPr>
          <p:cNvPr id="251" name="Google Shape;251;p28"/>
          <p:cNvCxnSpPr/>
          <p:nvPr/>
        </p:nvCxnSpPr>
        <p:spPr>
          <a:xfrm flipH="1" rot="10800000">
            <a:off x="5707636" y="2919810"/>
            <a:ext cx="421310" cy="379349"/>
          </a:xfrm>
          <a:prstGeom prst="straightConnector1">
            <a:avLst/>
          </a:prstGeom>
          <a:noFill/>
          <a:ln cap="flat" cmpd="sng" w="25400">
            <a:solidFill>
              <a:srgbClr val="1E1616"/>
            </a:solidFill>
            <a:prstDash val="solid"/>
            <a:round/>
            <a:headEnd len="sm" w="sm" type="none"/>
            <a:tailEnd len="sm" w="sm" type="none"/>
          </a:ln>
        </p:spPr>
      </p:cxnSp>
      <p:sp>
        <p:nvSpPr>
          <p:cNvPr id="252" name="Google Shape;252;p28"/>
          <p:cNvSpPr/>
          <p:nvPr/>
        </p:nvSpPr>
        <p:spPr>
          <a:xfrm>
            <a:off x="5964354" y="2755218"/>
            <a:ext cx="329184" cy="329184"/>
          </a:xfrm>
          <a:prstGeom prst="ellipse">
            <a:avLst/>
          </a:prstGeom>
          <a:solidFill>
            <a:srgbClr val="1E161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3" name="Google Shape;253;p28"/>
          <p:cNvSpPr/>
          <p:nvPr/>
        </p:nvSpPr>
        <p:spPr>
          <a:xfrm>
            <a:off x="4416552" y="3054096"/>
            <a:ext cx="1481328" cy="1481328"/>
          </a:xfrm>
          <a:prstGeom prst="ellipse">
            <a:avLst/>
          </a:prstGeom>
          <a:solidFill>
            <a:srgbClr val="B3202D"/>
          </a:solidFill>
          <a:ln cap="flat" cmpd="sng" w="88900">
            <a:solidFill>
              <a:srgbClr val="1E161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4" name="Google Shape;254;p28"/>
          <p:cNvSpPr/>
          <p:nvPr/>
        </p:nvSpPr>
        <p:spPr>
          <a:xfrm>
            <a:off x="4672401" y="3976542"/>
            <a:ext cx="347472" cy="347472"/>
          </a:xfrm>
          <a:prstGeom prst="ellipse">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cxnSp>
        <p:nvCxnSpPr>
          <p:cNvPr id="255" name="Google Shape;255;p28"/>
          <p:cNvCxnSpPr/>
          <p:nvPr/>
        </p:nvCxnSpPr>
        <p:spPr>
          <a:xfrm flipH="1" rot="10800000">
            <a:off x="7481572" y="2919810"/>
            <a:ext cx="421310" cy="379349"/>
          </a:xfrm>
          <a:prstGeom prst="straightConnector1">
            <a:avLst/>
          </a:prstGeom>
          <a:noFill/>
          <a:ln cap="flat" cmpd="sng" w="25400">
            <a:solidFill>
              <a:srgbClr val="1E1616"/>
            </a:solidFill>
            <a:prstDash val="solid"/>
            <a:round/>
            <a:headEnd len="sm" w="sm" type="none"/>
            <a:tailEnd len="sm" w="sm" type="none"/>
          </a:ln>
        </p:spPr>
      </p:cxnSp>
      <p:sp>
        <p:nvSpPr>
          <p:cNvPr id="256" name="Google Shape;256;p28"/>
          <p:cNvSpPr/>
          <p:nvPr/>
        </p:nvSpPr>
        <p:spPr>
          <a:xfrm>
            <a:off x="7738290" y="2755218"/>
            <a:ext cx="329184" cy="329184"/>
          </a:xfrm>
          <a:prstGeom prst="ellipse">
            <a:avLst/>
          </a:prstGeom>
          <a:solidFill>
            <a:srgbClr val="1E161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7" name="Google Shape;257;p28"/>
          <p:cNvSpPr/>
          <p:nvPr/>
        </p:nvSpPr>
        <p:spPr>
          <a:xfrm>
            <a:off x="6190488" y="3054096"/>
            <a:ext cx="1481328" cy="1481328"/>
          </a:xfrm>
          <a:prstGeom prst="ellipse">
            <a:avLst/>
          </a:prstGeom>
          <a:solidFill>
            <a:srgbClr val="F4C9C4"/>
          </a:solidFill>
          <a:ln cap="flat" cmpd="sng" w="88900">
            <a:solidFill>
              <a:srgbClr val="1E161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8" name="Google Shape;258;p28"/>
          <p:cNvSpPr/>
          <p:nvPr/>
        </p:nvSpPr>
        <p:spPr>
          <a:xfrm>
            <a:off x="6446337" y="3976542"/>
            <a:ext cx="347472" cy="347472"/>
          </a:xfrm>
          <a:prstGeom prst="ellipse">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9" name="Google Shape;259;p28"/>
          <p:cNvSpPr/>
          <p:nvPr/>
        </p:nvSpPr>
        <p:spPr>
          <a:xfrm>
            <a:off x="7964424" y="3054096"/>
            <a:ext cx="1481328" cy="1481328"/>
          </a:xfrm>
          <a:prstGeom prst="ellipse">
            <a:avLst/>
          </a:prstGeom>
          <a:solidFill>
            <a:srgbClr val="1E161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0" name="Google Shape;260;p28"/>
          <p:cNvSpPr/>
          <p:nvPr/>
        </p:nvSpPr>
        <p:spPr>
          <a:xfrm>
            <a:off x="8220273" y="3976542"/>
            <a:ext cx="347472" cy="347472"/>
          </a:xfrm>
          <a:prstGeom prst="ellipse">
            <a:avLst/>
          </a:prstGeom>
          <a:solidFill>
            <a:srgbClr val="F4C9C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1" name="Google Shape;261;p28"/>
          <p:cNvSpPr/>
          <p:nvPr/>
        </p:nvSpPr>
        <p:spPr>
          <a:xfrm>
            <a:off x="10890612" y="3084393"/>
            <a:ext cx="329100" cy="329100"/>
          </a:xfrm>
          <a:prstGeom prst="ellipse">
            <a:avLst/>
          </a:prstGeom>
          <a:solidFill>
            <a:srgbClr val="1E161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2" name="Google Shape;262;p28"/>
          <p:cNvSpPr/>
          <p:nvPr/>
        </p:nvSpPr>
        <p:spPr>
          <a:xfrm>
            <a:off x="9738360" y="3054096"/>
            <a:ext cx="1481328" cy="1481328"/>
          </a:xfrm>
          <a:prstGeom prst="ellipse">
            <a:avLst/>
          </a:prstGeom>
          <a:solidFill>
            <a:srgbClr val="1E161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3" name="Google Shape;263;p28"/>
          <p:cNvSpPr txBox="1"/>
          <p:nvPr/>
        </p:nvSpPr>
        <p:spPr>
          <a:xfrm>
            <a:off x="603503" y="2194560"/>
            <a:ext cx="2011680" cy="29260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1600" u="none" cap="none" strike="noStrike">
                <a:solidFill>
                  <a:srgbClr val="1E1616"/>
                </a:solidFill>
                <a:latin typeface="DM Sans"/>
                <a:ea typeface="DM Sans"/>
                <a:cs typeface="DM Sans"/>
                <a:sym typeface="DM Sans"/>
              </a:rPr>
              <a:t>Unmitigated harm</a:t>
            </a:r>
            <a:endParaRPr/>
          </a:p>
        </p:txBody>
      </p:sp>
      <p:cxnSp>
        <p:nvCxnSpPr>
          <p:cNvPr id="264" name="Google Shape;264;p28"/>
          <p:cNvCxnSpPr/>
          <p:nvPr/>
        </p:nvCxnSpPr>
        <p:spPr>
          <a:xfrm>
            <a:off x="1609344" y="2542032"/>
            <a:ext cx="0" cy="457200"/>
          </a:xfrm>
          <a:prstGeom prst="straightConnector1">
            <a:avLst/>
          </a:prstGeom>
          <a:noFill/>
          <a:ln cap="flat" cmpd="sng" w="15875">
            <a:solidFill>
              <a:srgbClr val="B3202D"/>
            </a:solidFill>
            <a:prstDash val="solid"/>
            <a:round/>
            <a:headEnd len="sm" w="sm" type="none"/>
            <a:tailEnd len="med" w="med" type="oval"/>
          </a:ln>
        </p:spPr>
      </p:cxnSp>
      <p:sp>
        <p:nvSpPr>
          <p:cNvPr id="265" name="Google Shape;265;p28"/>
          <p:cNvSpPr txBox="1"/>
          <p:nvPr/>
        </p:nvSpPr>
        <p:spPr>
          <a:xfrm>
            <a:off x="2377440" y="5029200"/>
            <a:ext cx="2011680" cy="29260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1600" u="none" cap="none" strike="noStrike">
                <a:solidFill>
                  <a:srgbClr val="1E1616"/>
                </a:solidFill>
                <a:latin typeface="DM Sans"/>
                <a:ea typeface="DM Sans"/>
                <a:cs typeface="DM Sans"/>
                <a:sym typeface="DM Sans"/>
              </a:rPr>
              <a:t>Prosocial marketing</a:t>
            </a:r>
            <a:endParaRPr/>
          </a:p>
        </p:txBody>
      </p:sp>
      <p:cxnSp>
        <p:nvCxnSpPr>
          <p:cNvPr id="266" name="Google Shape;266;p28"/>
          <p:cNvCxnSpPr/>
          <p:nvPr/>
        </p:nvCxnSpPr>
        <p:spPr>
          <a:xfrm rot="10800000">
            <a:off x="3383280" y="4553712"/>
            <a:ext cx="0" cy="402336"/>
          </a:xfrm>
          <a:prstGeom prst="straightConnector1">
            <a:avLst/>
          </a:prstGeom>
          <a:noFill/>
          <a:ln cap="flat" cmpd="sng" w="15875">
            <a:solidFill>
              <a:srgbClr val="B3202D"/>
            </a:solidFill>
            <a:prstDash val="solid"/>
            <a:round/>
            <a:headEnd len="sm" w="sm" type="none"/>
            <a:tailEnd len="med" w="med" type="oval"/>
          </a:ln>
        </p:spPr>
      </p:cxnSp>
      <p:sp>
        <p:nvSpPr>
          <p:cNvPr id="267" name="Google Shape;267;p28"/>
          <p:cNvSpPr txBox="1"/>
          <p:nvPr/>
        </p:nvSpPr>
        <p:spPr>
          <a:xfrm>
            <a:off x="3474720" y="2194560"/>
            <a:ext cx="1828800" cy="29260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1" lang="en-US" sz="1600" u="none" cap="none" strike="noStrike">
                <a:solidFill>
                  <a:srgbClr val="1E1616"/>
                </a:solidFill>
                <a:latin typeface="DM Sans"/>
                <a:ea typeface="DM Sans"/>
                <a:cs typeface="DM Sans"/>
                <a:sym typeface="DM Sans"/>
              </a:rPr>
              <a:t>(Relatedness)</a:t>
            </a:r>
            <a:endParaRPr/>
          </a:p>
        </p:txBody>
      </p:sp>
      <p:cxnSp>
        <p:nvCxnSpPr>
          <p:cNvPr id="268" name="Google Shape;268;p28"/>
          <p:cNvCxnSpPr/>
          <p:nvPr/>
        </p:nvCxnSpPr>
        <p:spPr>
          <a:xfrm>
            <a:off x="4617720" y="2523744"/>
            <a:ext cx="1254851" cy="558308"/>
          </a:xfrm>
          <a:prstGeom prst="straightConnector1">
            <a:avLst/>
          </a:prstGeom>
          <a:noFill/>
          <a:ln cap="flat" cmpd="sng" w="15875">
            <a:solidFill>
              <a:srgbClr val="B3202D"/>
            </a:solidFill>
            <a:prstDash val="solid"/>
            <a:round/>
            <a:headEnd len="sm" w="sm" type="none"/>
            <a:tailEnd len="med" w="med" type="oval"/>
          </a:ln>
        </p:spPr>
      </p:cxnSp>
      <p:sp>
        <p:nvSpPr>
          <p:cNvPr id="269" name="Google Shape;269;p28"/>
          <p:cNvSpPr txBox="1"/>
          <p:nvPr/>
        </p:nvSpPr>
        <p:spPr>
          <a:xfrm>
            <a:off x="5077386" y="1691639"/>
            <a:ext cx="2103120" cy="29260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1600" u="none" cap="none" strike="noStrike">
                <a:solidFill>
                  <a:srgbClr val="1E1616"/>
                </a:solidFill>
                <a:latin typeface="DM Sans"/>
                <a:ea typeface="DM Sans"/>
                <a:cs typeface="DM Sans"/>
                <a:sym typeface="DM Sans"/>
              </a:rPr>
              <a:t>Offsets / philanthropy</a:t>
            </a:r>
            <a:endParaRPr/>
          </a:p>
        </p:txBody>
      </p:sp>
      <p:cxnSp>
        <p:nvCxnSpPr>
          <p:cNvPr id="270" name="Google Shape;270;p28"/>
          <p:cNvCxnSpPr/>
          <p:nvPr/>
        </p:nvCxnSpPr>
        <p:spPr>
          <a:xfrm>
            <a:off x="6128946" y="2039112"/>
            <a:ext cx="0" cy="679530"/>
          </a:xfrm>
          <a:prstGeom prst="straightConnector1">
            <a:avLst/>
          </a:prstGeom>
          <a:noFill/>
          <a:ln cap="flat" cmpd="sng" w="15875">
            <a:solidFill>
              <a:srgbClr val="B3202D"/>
            </a:solidFill>
            <a:prstDash val="solid"/>
            <a:round/>
            <a:headEnd len="sm" w="sm" type="none"/>
            <a:tailEnd len="med" w="med" type="oval"/>
          </a:ln>
        </p:spPr>
      </p:cxnSp>
      <p:sp>
        <p:nvSpPr>
          <p:cNvPr id="271" name="Google Shape;271;p28"/>
          <p:cNvSpPr txBox="1"/>
          <p:nvPr/>
        </p:nvSpPr>
        <p:spPr>
          <a:xfrm>
            <a:off x="5925312" y="5029200"/>
            <a:ext cx="2011680" cy="29260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1600" u="none" cap="none" strike="noStrike">
                <a:solidFill>
                  <a:srgbClr val="1E1616"/>
                </a:solidFill>
                <a:latin typeface="DM Sans"/>
                <a:ea typeface="DM Sans"/>
                <a:cs typeface="DM Sans"/>
                <a:sym typeface="DM Sans"/>
              </a:rPr>
              <a:t>Internal initiatives</a:t>
            </a:r>
            <a:endParaRPr/>
          </a:p>
        </p:txBody>
      </p:sp>
      <p:cxnSp>
        <p:nvCxnSpPr>
          <p:cNvPr id="272" name="Google Shape;272;p28"/>
          <p:cNvCxnSpPr/>
          <p:nvPr/>
        </p:nvCxnSpPr>
        <p:spPr>
          <a:xfrm rot="10800000">
            <a:off x="7068312" y="4023360"/>
            <a:ext cx="0" cy="932688"/>
          </a:xfrm>
          <a:prstGeom prst="straightConnector1">
            <a:avLst/>
          </a:prstGeom>
          <a:noFill/>
          <a:ln cap="flat" cmpd="sng" w="15875">
            <a:solidFill>
              <a:srgbClr val="B3202D"/>
            </a:solidFill>
            <a:prstDash val="solid"/>
            <a:round/>
            <a:headEnd len="sm" w="sm" type="none"/>
            <a:tailEnd len="med" w="med" type="oval"/>
          </a:ln>
        </p:spPr>
      </p:cxnSp>
      <p:sp>
        <p:nvSpPr>
          <p:cNvPr id="273" name="Google Shape;273;p28"/>
          <p:cNvSpPr txBox="1"/>
          <p:nvPr/>
        </p:nvSpPr>
        <p:spPr>
          <a:xfrm>
            <a:off x="7699248" y="2194560"/>
            <a:ext cx="2011680" cy="29260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1600" u="none" cap="none" strike="noStrike">
                <a:solidFill>
                  <a:srgbClr val="1E1616"/>
                </a:solidFill>
                <a:latin typeface="DM Sans"/>
                <a:ea typeface="DM Sans"/>
                <a:cs typeface="DM Sans"/>
                <a:sym typeface="DM Sans"/>
              </a:rPr>
              <a:t>Socially strategic</a:t>
            </a:r>
            <a:endParaRPr/>
          </a:p>
        </p:txBody>
      </p:sp>
      <p:cxnSp>
        <p:nvCxnSpPr>
          <p:cNvPr id="274" name="Google Shape;274;p28"/>
          <p:cNvCxnSpPr/>
          <p:nvPr/>
        </p:nvCxnSpPr>
        <p:spPr>
          <a:xfrm>
            <a:off x="8705088" y="2542032"/>
            <a:ext cx="0" cy="1161288"/>
          </a:xfrm>
          <a:prstGeom prst="straightConnector1">
            <a:avLst/>
          </a:prstGeom>
          <a:noFill/>
          <a:ln cap="flat" cmpd="sng" w="15875">
            <a:solidFill>
              <a:srgbClr val="B3202D"/>
            </a:solidFill>
            <a:prstDash val="solid"/>
            <a:round/>
            <a:headEnd len="sm" w="sm" type="none"/>
            <a:tailEnd len="med" w="med" type="oval"/>
          </a:ln>
        </p:spPr>
      </p:cxnSp>
      <p:sp>
        <p:nvSpPr>
          <p:cNvPr id="275" name="Google Shape;275;p28"/>
          <p:cNvSpPr txBox="1"/>
          <p:nvPr/>
        </p:nvSpPr>
        <p:spPr>
          <a:xfrm>
            <a:off x="8065008" y="5440680"/>
            <a:ext cx="2011680" cy="29260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1600" u="none" cap="none" strike="noStrike">
                <a:solidFill>
                  <a:srgbClr val="1E1616"/>
                </a:solidFill>
                <a:latin typeface="DM Sans"/>
                <a:ea typeface="DM Sans"/>
                <a:cs typeface="DM Sans"/>
                <a:sym typeface="DM Sans"/>
              </a:rPr>
              <a:t>Mitigating harm</a:t>
            </a:r>
            <a:endParaRPr/>
          </a:p>
        </p:txBody>
      </p:sp>
      <p:cxnSp>
        <p:nvCxnSpPr>
          <p:cNvPr id="276" name="Google Shape;276;p28"/>
          <p:cNvCxnSpPr/>
          <p:nvPr/>
        </p:nvCxnSpPr>
        <p:spPr>
          <a:xfrm rot="10800000">
            <a:off x="8394009" y="4351446"/>
            <a:ext cx="0" cy="1016082"/>
          </a:xfrm>
          <a:prstGeom prst="straightConnector1">
            <a:avLst/>
          </a:prstGeom>
          <a:noFill/>
          <a:ln cap="flat" cmpd="sng" w="15875">
            <a:solidFill>
              <a:srgbClr val="B3202D"/>
            </a:solidFill>
            <a:prstDash val="solid"/>
            <a:round/>
            <a:headEnd len="sm" w="sm" type="none"/>
            <a:tailEnd len="med" w="med" type="oval"/>
          </a:ln>
        </p:spPr>
      </p:cxnSp>
      <p:sp>
        <p:nvSpPr>
          <p:cNvPr id="277" name="Google Shape;277;p28"/>
          <p:cNvSpPr/>
          <p:nvPr/>
        </p:nvSpPr>
        <p:spPr>
          <a:xfrm>
            <a:off x="9994223" y="3976555"/>
            <a:ext cx="347400" cy="347400"/>
          </a:xfrm>
          <a:prstGeom prst="ellipse">
            <a:avLst/>
          </a:prstGeom>
          <a:solidFill>
            <a:srgbClr val="F4C9C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EDE6"/>
        </a:solidFill>
      </p:bgPr>
    </p:bg>
    <p:spTree>
      <p:nvGrpSpPr>
        <p:cNvPr id="282" name="Shape 282"/>
        <p:cNvGrpSpPr/>
        <p:nvPr/>
      </p:nvGrpSpPr>
      <p:grpSpPr>
        <a:xfrm>
          <a:off x="0" y="0"/>
          <a:ext cx="0" cy="0"/>
          <a:chOff x="0" y="0"/>
          <a:chExt cx="0" cy="0"/>
        </a:xfrm>
      </p:grpSpPr>
      <p:sp>
        <p:nvSpPr>
          <p:cNvPr id="283" name="Google Shape;283;p29"/>
          <p:cNvSpPr txBox="1"/>
          <p:nvPr/>
        </p:nvSpPr>
        <p:spPr>
          <a:xfrm>
            <a:off x="813816" y="813816"/>
            <a:ext cx="731520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00" u="none" cap="none" strike="noStrike">
                <a:solidFill>
                  <a:srgbClr val="B3202D"/>
                </a:solidFill>
                <a:latin typeface="DM Sans"/>
                <a:ea typeface="DM Sans"/>
                <a:cs typeface="DM Sans"/>
                <a:sym typeface="DM Sans"/>
              </a:rPr>
              <a:t>OUR PARTNER</a:t>
            </a:r>
            <a:endParaRPr/>
          </a:p>
        </p:txBody>
      </p:sp>
      <p:sp>
        <p:nvSpPr>
          <p:cNvPr id="284" name="Google Shape;284;p29"/>
          <p:cNvSpPr txBox="1"/>
          <p:nvPr/>
        </p:nvSpPr>
        <p:spPr>
          <a:xfrm>
            <a:off x="813825" y="3337550"/>
            <a:ext cx="7022700" cy="26784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1100"/>
              <a:buFont typeface="Arial"/>
              <a:buNone/>
            </a:pPr>
            <a:r>
              <a:rPr lang="en-US" sz="1650">
                <a:solidFill>
                  <a:schemeClr val="dk1"/>
                </a:solidFill>
              </a:rPr>
              <a:t>Founded in 1987, Merit Medical Systems, Inc. is a leading manufacturer and marketer of </a:t>
            </a:r>
            <a:r>
              <a:rPr b="1" lang="en-US" sz="1650">
                <a:solidFill>
                  <a:schemeClr val="dk1"/>
                </a:solidFill>
              </a:rPr>
              <a:t>proprietary disposable medical devices</a:t>
            </a:r>
            <a:r>
              <a:rPr lang="en-US" sz="1650">
                <a:solidFill>
                  <a:schemeClr val="dk1"/>
                </a:solidFill>
              </a:rPr>
              <a:t> used in interventional, diagnostic and therapeutic procedures, particularly in cardiology, radiology, oncology, critical care and endoscopy. </a:t>
            </a:r>
            <a:r>
              <a:rPr b="1" lang="en-US" sz="1650">
                <a:solidFill>
                  <a:schemeClr val="dk1"/>
                </a:solidFill>
              </a:rPr>
              <a:t>Merit serves client hospitals and physicians worldwide</a:t>
            </a:r>
            <a:r>
              <a:rPr lang="en-US" sz="1650">
                <a:solidFill>
                  <a:schemeClr val="dk1"/>
                </a:solidFill>
              </a:rPr>
              <a:t>, and employs approximately 7,000 people worldwide.</a:t>
            </a:r>
            <a:endParaRPr sz="1650">
              <a:solidFill>
                <a:schemeClr val="dk1"/>
              </a:solidFill>
            </a:endParaRPr>
          </a:p>
          <a:p>
            <a:pPr indent="0" lvl="0" marL="0" rtl="0" algn="l">
              <a:lnSpc>
                <a:spcPct val="100000"/>
              </a:lnSpc>
              <a:spcBef>
                <a:spcPts val="4800"/>
              </a:spcBef>
              <a:spcAft>
                <a:spcPts val="0"/>
              </a:spcAft>
              <a:buClr>
                <a:schemeClr val="dk1"/>
              </a:buClr>
              <a:buSzPts val="1100"/>
              <a:buFont typeface="Arial"/>
              <a:buNone/>
            </a:pPr>
            <a:r>
              <a:t/>
            </a:r>
            <a:endParaRPr>
              <a:solidFill>
                <a:schemeClr val="dk1"/>
              </a:solidFill>
            </a:endParaRPr>
          </a:p>
          <a:p>
            <a:pPr indent="0" lvl="0" marL="0" marR="0" rtl="0" algn="l">
              <a:lnSpc>
                <a:spcPct val="100000"/>
              </a:lnSpc>
              <a:spcBef>
                <a:spcPts val="0"/>
              </a:spcBef>
              <a:spcAft>
                <a:spcPts val="0"/>
              </a:spcAft>
              <a:buNone/>
            </a:pPr>
            <a:r>
              <a:t/>
            </a:r>
            <a:endParaRPr sz="2100">
              <a:solidFill>
                <a:schemeClr val="dk1"/>
              </a:solidFill>
              <a:latin typeface="DM Sans"/>
              <a:ea typeface="DM Sans"/>
              <a:cs typeface="DM Sans"/>
              <a:sym typeface="DM Sans"/>
            </a:endParaRPr>
          </a:p>
        </p:txBody>
      </p:sp>
      <p:pic>
        <p:nvPicPr>
          <p:cNvPr descr="Merit Medical logo" id="285" name="Google Shape;285;p29"/>
          <p:cNvPicPr preferRelativeResize="0"/>
          <p:nvPr/>
        </p:nvPicPr>
        <p:blipFill rotWithShape="1">
          <a:blip r:embed="rId3">
            <a:alphaModFix/>
          </a:blip>
          <a:srcRect b="0" l="0" r="0" t="0"/>
          <a:stretch/>
        </p:blipFill>
        <p:spPr>
          <a:xfrm>
            <a:off x="813825" y="2103125"/>
            <a:ext cx="6652373" cy="1046450"/>
          </a:xfrm>
          <a:prstGeom prst="rect">
            <a:avLst/>
          </a:prstGeom>
          <a:noFill/>
          <a:ln>
            <a:noFill/>
          </a:ln>
        </p:spPr>
      </p:pic>
      <p:cxnSp>
        <p:nvCxnSpPr>
          <p:cNvPr id="286" name="Google Shape;286;p29"/>
          <p:cNvCxnSpPr/>
          <p:nvPr/>
        </p:nvCxnSpPr>
        <p:spPr>
          <a:xfrm>
            <a:off x="7836408" y="813816"/>
            <a:ext cx="0" cy="4992624"/>
          </a:xfrm>
          <a:prstGeom prst="straightConnector1">
            <a:avLst/>
          </a:prstGeom>
          <a:noFill/>
          <a:ln cap="flat" cmpd="sng" w="19050">
            <a:solidFill>
              <a:srgbClr val="B3202D"/>
            </a:solidFill>
            <a:prstDash val="solid"/>
            <a:round/>
            <a:headEnd len="sm" w="sm" type="none"/>
            <a:tailEnd len="sm" w="sm" type="none"/>
          </a:ln>
        </p:spPr>
      </p:cxnSp>
      <p:sp>
        <p:nvSpPr>
          <p:cNvPr id="287" name="Google Shape;287;p29"/>
          <p:cNvSpPr txBox="1"/>
          <p:nvPr/>
        </p:nvSpPr>
        <p:spPr>
          <a:xfrm>
            <a:off x="8257031" y="868680"/>
            <a:ext cx="3200400" cy="86868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i="0" lang="en-US" sz="6000" u="none" cap="none" strike="noStrike">
                <a:solidFill>
                  <a:srgbClr val="B3202D"/>
                </a:solidFill>
                <a:latin typeface="Archivo"/>
                <a:ea typeface="Archivo"/>
                <a:cs typeface="Archivo"/>
                <a:sym typeface="Archivo"/>
              </a:rPr>
              <a:t>7,100</a:t>
            </a:r>
            <a:endParaRPr/>
          </a:p>
        </p:txBody>
      </p:sp>
      <p:sp>
        <p:nvSpPr>
          <p:cNvPr id="288" name="Google Shape;288;p29"/>
          <p:cNvSpPr txBox="1"/>
          <p:nvPr/>
        </p:nvSpPr>
        <p:spPr>
          <a:xfrm>
            <a:off x="8257031" y="1783080"/>
            <a:ext cx="320040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600" u="none" cap="none" strike="noStrike">
                <a:solidFill>
                  <a:srgbClr val="1E1616"/>
                </a:solidFill>
                <a:latin typeface="DM Sans"/>
                <a:ea typeface="DM Sans"/>
                <a:cs typeface="DM Sans"/>
                <a:sym typeface="DM Sans"/>
              </a:rPr>
              <a:t>Associates worldwide</a:t>
            </a:r>
            <a:endParaRPr/>
          </a:p>
        </p:txBody>
      </p:sp>
      <p:sp>
        <p:nvSpPr>
          <p:cNvPr id="289" name="Google Shape;289;p29"/>
          <p:cNvSpPr txBox="1"/>
          <p:nvPr/>
        </p:nvSpPr>
        <p:spPr>
          <a:xfrm>
            <a:off x="8257031" y="2560320"/>
            <a:ext cx="3200400" cy="86868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i="0" lang="en-US" sz="6000" u="none" cap="none" strike="noStrike">
                <a:solidFill>
                  <a:srgbClr val="B3202D"/>
                </a:solidFill>
                <a:latin typeface="Archivo"/>
                <a:ea typeface="Archivo"/>
                <a:cs typeface="Archivo"/>
                <a:sym typeface="Archivo"/>
              </a:rPr>
              <a:t>$1.5B</a:t>
            </a:r>
            <a:endParaRPr/>
          </a:p>
        </p:txBody>
      </p:sp>
      <p:sp>
        <p:nvSpPr>
          <p:cNvPr id="290" name="Google Shape;290;p29"/>
          <p:cNvSpPr txBox="1"/>
          <p:nvPr/>
        </p:nvSpPr>
        <p:spPr>
          <a:xfrm>
            <a:off x="8257031" y="3474720"/>
            <a:ext cx="320040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600" u="none" cap="none" strike="noStrike">
                <a:solidFill>
                  <a:srgbClr val="1E1616"/>
                </a:solidFill>
                <a:latin typeface="DM Sans"/>
                <a:ea typeface="DM Sans"/>
                <a:cs typeface="DM Sans"/>
                <a:sym typeface="DM Sans"/>
              </a:rPr>
              <a:t>Net sales in 2025</a:t>
            </a:r>
            <a:endParaRPr/>
          </a:p>
        </p:txBody>
      </p:sp>
      <p:sp>
        <p:nvSpPr>
          <p:cNvPr id="291" name="Google Shape;291;p29"/>
          <p:cNvSpPr txBox="1"/>
          <p:nvPr/>
        </p:nvSpPr>
        <p:spPr>
          <a:xfrm>
            <a:off x="8257031" y="4251960"/>
            <a:ext cx="3200400" cy="86868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i="0" lang="en-US" sz="6000" u="none" cap="none" strike="noStrike">
                <a:solidFill>
                  <a:srgbClr val="B3202D"/>
                </a:solidFill>
                <a:latin typeface="Archivo"/>
                <a:ea typeface="Archivo"/>
                <a:cs typeface="Archivo"/>
                <a:sym typeface="Archivo"/>
              </a:rPr>
              <a:t>42</a:t>
            </a:r>
            <a:endParaRPr/>
          </a:p>
        </p:txBody>
      </p:sp>
      <p:sp>
        <p:nvSpPr>
          <p:cNvPr id="292" name="Google Shape;292;p29"/>
          <p:cNvSpPr txBox="1"/>
          <p:nvPr/>
        </p:nvSpPr>
        <p:spPr>
          <a:xfrm>
            <a:off x="8257031" y="5166360"/>
            <a:ext cx="320040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600" u="none" cap="none" strike="noStrike">
                <a:solidFill>
                  <a:srgbClr val="1E1616"/>
                </a:solidFill>
                <a:latin typeface="DM Sans"/>
                <a:ea typeface="DM Sans"/>
                <a:cs typeface="DM Sans"/>
                <a:sym typeface="DM Sans"/>
              </a:rPr>
              <a:t>Countries in its supply base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3202D"/>
        </a:solidFill>
      </p:bgPr>
    </p:bg>
    <p:spTree>
      <p:nvGrpSpPr>
        <p:cNvPr id="296" name="Shape 296"/>
        <p:cNvGrpSpPr/>
        <p:nvPr/>
      </p:nvGrpSpPr>
      <p:grpSpPr>
        <a:xfrm>
          <a:off x="0" y="0"/>
          <a:ext cx="0" cy="0"/>
          <a:chOff x="0" y="0"/>
          <a:chExt cx="0" cy="0"/>
        </a:xfrm>
      </p:grpSpPr>
      <p:sp>
        <p:nvSpPr>
          <p:cNvPr id="297" name="Google Shape;297;p30"/>
          <p:cNvSpPr txBox="1"/>
          <p:nvPr/>
        </p:nvSpPr>
        <p:spPr>
          <a:xfrm>
            <a:off x="1260600" y="454472"/>
            <a:ext cx="9670800" cy="16209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lang="en-US" sz="6300">
                <a:solidFill>
                  <a:srgbClr val="FFFFFF"/>
                </a:solidFill>
                <a:latin typeface="Archivo"/>
                <a:ea typeface="Archivo"/>
                <a:cs typeface="Archivo"/>
                <a:sym typeface="Archivo"/>
              </a:rPr>
              <a:t>ABOUT MERIT MEDICAL</a:t>
            </a:r>
            <a:endParaRPr b="1" i="0" sz="6300" u="none" cap="none" strike="noStrike">
              <a:solidFill>
                <a:srgbClr val="FFFFFF"/>
              </a:solidFill>
              <a:latin typeface="Archivo"/>
              <a:ea typeface="Archivo"/>
              <a:cs typeface="Archivo"/>
              <a:sym typeface="Archivo"/>
            </a:endParaRPr>
          </a:p>
          <a:p>
            <a:pPr indent="0" lvl="0" marL="0" marR="0" rtl="0" algn="l">
              <a:lnSpc>
                <a:spcPct val="90000"/>
              </a:lnSpc>
              <a:spcBef>
                <a:spcPts val="0"/>
              </a:spcBef>
              <a:spcAft>
                <a:spcPts val="0"/>
              </a:spcAft>
              <a:buNone/>
            </a:pPr>
            <a:r>
              <a:t/>
            </a:r>
            <a:endParaRPr sz="5400"/>
          </a:p>
        </p:txBody>
      </p:sp>
      <p:pic>
        <p:nvPicPr>
          <p:cNvPr descr="Ballard Center, BYU Marriott logo" id="298" name="Google Shape;298;p30"/>
          <p:cNvPicPr preferRelativeResize="0"/>
          <p:nvPr/>
        </p:nvPicPr>
        <p:blipFill rotWithShape="1">
          <a:blip r:embed="rId3">
            <a:alphaModFix/>
          </a:blip>
          <a:srcRect b="0" l="0" r="0" t="0"/>
          <a:stretch/>
        </p:blipFill>
        <p:spPr>
          <a:xfrm>
            <a:off x="813816" y="6053328"/>
            <a:ext cx="1400646" cy="384048"/>
          </a:xfrm>
          <a:prstGeom prst="rect">
            <a:avLst/>
          </a:prstGeom>
          <a:noFill/>
          <a:ln>
            <a:noFill/>
          </a:ln>
        </p:spPr>
      </p:pic>
      <p:pic>
        <p:nvPicPr>
          <p:cNvPr descr="Do Good. Better." id="299" name="Google Shape;299;p30"/>
          <p:cNvPicPr preferRelativeResize="0"/>
          <p:nvPr/>
        </p:nvPicPr>
        <p:blipFill rotWithShape="1">
          <a:blip r:embed="rId4">
            <a:alphaModFix/>
          </a:blip>
          <a:srcRect b="0" l="0" r="0" t="0"/>
          <a:stretch/>
        </p:blipFill>
        <p:spPr>
          <a:xfrm>
            <a:off x="8814816" y="6144768"/>
            <a:ext cx="2560320" cy="230982"/>
          </a:xfrm>
          <a:prstGeom prst="rect">
            <a:avLst/>
          </a:prstGeom>
          <a:noFill/>
          <a:ln>
            <a:noFill/>
          </a:ln>
        </p:spPr>
      </p:pic>
      <p:pic>
        <p:nvPicPr>
          <p:cNvPr descr="Merit is more than just a medical device company. We’re a team of people with a common vision: to improve healthcare across the globe, one innovative product at a time. See how we do it." id="300" name="Google Shape;300;p30" title="Merit Medical Systems, Inc. Corporate Video">
            <a:hlinkClick r:id="rId5"/>
          </p:cNvPr>
          <p:cNvPicPr preferRelativeResize="0"/>
          <p:nvPr/>
        </p:nvPicPr>
        <p:blipFill>
          <a:blip r:embed="rId6">
            <a:alphaModFix/>
          </a:blip>
          <a:stretch>
            <a:fillRect/>
          </a:stretch>
        </p:blipFill>
        <p:spPr>
          <a:xfrm>
            <a:off x="2280101" y="1563986"/>
            <a:ext cx="7631800" cy="42928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0"/>
                                        </p:tgtEl>
                                        <p:attrNameLst>
                                          <p:attrName>style.visibility</p:attrName>
                                        </p:attrNameLst>
                                      </p:cBhvr>
                                      <p:to>
                                        <p:strVal val="visible"/>
                                      </p:to>
                                    </p:set>
                                    <p:animEffect filter="fade" transition="in">
                                      <p:cBhvr>
                                        <p:cTn dur="1000"/>
                                        <p:tgtEl>
                                          <p:spTgt spid="3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1ECE4"/>
        </a:solidFill>
      </p:bgPr>
    </p:bg>
    <p:spTree>
      <p:nvGrpSpPr>
        <p:cNvPr id="305" name="Shape 305"/>
        <p:cNvGrpSpPr/>
        <p:nvPr/>
      </p:nvGrpSpPr>
      <p:grpSpPr>
        <a:xfrm>
          <a:off x="0" y="0"/>
          <a:ext cx="0" cy="0"/>
          <a:chOff x="0" y="0"/>
          <a:chExt cx="0" cy="0"/>
        </a:xfrm>
      </p:grpSpPr>
      <p:sp>
        <p:nvSpPr>
          <p:cNvPr id="306" name="Google Shape;306;p31"/>
          <p:cNvSpPr txBox="1"/>
          <p:nvPr/>
        </p:nvSpPr>
        <p:spPr>
          <a:xfrm>
            <a:off x="853440" y="670560"/>
            <a:ext cx="6096000" cy="30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4262C"/>
              </a:buClr>
              <a:buSzPts val="1500"/>
              <a:buFont typeface="Arial"/>
              <a:buNone/>
            </a:pPr>
            <a:r>
              <a:rPr b="1" i="0" lang="en-US" sz="1500" u="none" cap="none" strike="noStrike">
                <a:solidFill>
                  <a:srgbClr val="A4262C"/>
                </a:solidFill>
                <a:latin typeface="Arial"/>
                <a:ea typeface="Arial"/>
                <a:cs typeface="Arial"/>
                <a:sym typeface="Arial"/>
              </a:rPr>
              <a:t>MEET OUR SPEAKER</a:t>
            </a:r>
            <a:endParaRPr b="0" i="0" sz="1500" u="none" cap="none" strike="noStrike">
              <a:solidFill>
                <a:schemeClr val="dk1"/>
              </a:solidFill>
              <a:latin typeface="Calibri"/>
              <a:ea typeface="Calibri"/>
              <a:cs typeface="Calibri"/>
              <a:sym typeface="Calibri"/>
            </a:endParaRPr>
          </a:p>
        </p:txBody>
      </p:sp>
      <p:sp>
        <p:nvSpPr>
          <p:cNvPr id="307" name="Google Shape;307;p31"/>
          <p:cNvSpPr txBox="1"/>
          <p:nvPr/>
        </p:nvSpPr>
        <p:spPr>
          <a:xfrm>
            <a:off x="853440" y="1036320"/>
            <a:ext cx="6705600" cy="8534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4262C"/>
              </a:buClr>
              <a:buSzPts val="5100"/>
              <a:buFont typeface="Arial"/>
              <a:buNone/>
            </a:pPr>
            <a:r>
              <a:rPr b="1" i="0" lang="en-US" sz="5100" u="none" cap="none" strike="noStrike">
                <a:solidFill>
                  <a:srgbClr val="A4262C"/>
                </a:solidFill>
                <a:latin typeface="Arial"/>
                <a:ea typeface="Arial"/>
                <a:cs typeface="Arial"/>
                <a:sym typeface="Arial"/>
              </a:rPr>
              <a:t>Alisha Jerauld</a:t>
            </a:r>
            <a:endParaRPr b="0" i="0" sz="5100" u="none" cap="none" strike="noStrike">
              <a:solidFill>
                <a:schemeClr val="dk1"/>
              </a:solidFill>
              <a:latin typeface="Calibri"/>
              <a:ea typeface="Calibri"/>
              <a:cs typeface="Calibri"/>
              <a:sym typeface="Calibri"/>
            </a:endParaRPr>
          </a:p>
        </p:txBody>
      </p:sp>
      <p:sp>
        <p:nvSpPr>
          <p:cNvPr id="308" name="Google Shape;308;p31"/>
          <p:cNvSpPr txBox="1"/>
          <p:nvPr/>
        </p:nvSpPr>
        <p:spPr>
          <a:xfrm>
            <a:off x="853440" y="1950720"/>
            <a:ext cx="6705600" cy="3901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1A17"/>
              </a:buClr>
              <a:buSzPts val="2100"/>
              <a:buFont typeface="Arial"/>
              <a:buNone/>
            </a:pPr>
            <a:r>
              <a:rPr b="1" i="0" lang="en-US" sz="2100" u="none" cap="none" strike="noStrike">
                <a:solidFill>
                  <a:srgbClr val="1E1A17"/>
                </a:solidFill>
                <a:latin typeface="Arial"/>
                <a:ea typeface="Arial"/>
                <a:cs typeface="Arial"/>
                <a:sym typeface="Arial"/>
              </a:rPr>
              <a:t>VP, Environment, Social &amp; Governance</a:t>
            </a:r>
            <a:endParaRPr b="0" i="0" sz="2100" u="none" cap="none" strike="noStrike">
              <a:solidFill>
                <a:schemeClr val="dk1"/>
              </a:solidFill>
              <a:latin typeface="Calibri"/>
              <a:ea typeface="Calibri"/>
              <a:cs typeface="Calibri"/>
              <a:sym typeface="Calibri"/>
            </a:endParaRPr>
          </a:p>
        </p:txBody>
      </p:sp>
      <p:sp>
        <p:nvSpPr>
          <p:cNvPr id="309" name="Google Shape;309;p31"/>
          <p:cNvSpPr txBox="1"/>
          <p:nvPr/>
        </p:nvSpPr>
        <p:spPr>
          <a:xfrm>
            <a:off x="853440" y="2377440"/>
            <a:ext cx="6705600" cy="34137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A332E"/>
              </a:buClr>
              <a:buSzPts val="1600"/>
              <a:buFont typeface="Arial"/>
              <a:buNone/>
            </a:pPr>
            <a:r>
              <a:rPr b="0" i="0" lang="en-US" sz="1600" u="none" cap="none" strike="noStrike">
                <a:solidFill>
                  <a:srgbClr val="3A332E"/>
                </a:solidFill>
                <a:latin typeface="Arial"/>
                <a:ea typeface="Arial"/>
                <a:cs typeface="Arial"/>
                <a:sym typeface="Arial"/>
              </a:rPr>
              <a:t>Merit Medical Systems</a:t>
            </a:r>
            <a:endParaRPr b="0" i="0" sz="1600" u="none" cap="none" strike="noStrike">
              <a:solidFill>
                <a:schemeClr val="dk1"/>
              </a:solidFill>
              <a:latin typeface="Calibri"/>
              <a:ea typeface="Calibri"/>
              <a:cs typeface="Calibri"/>
              <a:sym typeface="Calibri"/>
            </a:endParaRPr>
          </a:p>
        </p:txBody>
      </p:sp>
      <p:sp>
        <p:nvSpPr>
          <p:cNvPr id="310" name="Google Shape;310;p31"/>
          <p:cNvSpPr txBox="1"/>
          <p:nvPr/>
        </p:nvSpPr>
        <p:spPr>
          <a:xfrm>
            <a:off x="853440" y="3048000"/>
            <a:ext cx="6461760" cy="12192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A332E"/>
              </a:buClr>
              <a:buSzPts val="1900"/>
              <a:buFont typeface="Arial"/>
              <a:buNone/>
            </a:pPr>
            <a:r>
              <a:rPr lang="en-US" sz="1900">
                <a:solidFill>
                  <a:srgbClr val="3A332E"/>
                </a:solidFill>
              </a:rPr>
              <a:t>Alisha has</a:t>
            </a:r>
            <a:r>
              <a:rPr b="0" i="0" lang="en-US" sz="1900" u="none" cap="none" strike="noStrike">
                <a:solidFill>
                  <a:srgbClr val="3A332E"/>
                </a:solidFill>
                <a:latin typeface="Arial"/>
                <a:ea typeface="Arial"/>
                <a:cs typeface="Arial"/>
                <a:sym typeface="Arial"/>
              </a:rPr>
              <a:t> led Merit's global sustainability program since 2018, building its ESG reporting across 6 countries and advising the Board of Directors on ESG strategy.</a:t>
            </a:r>
            <a:endParaRPr b="0" i="0" sz="1900" u="none" cap="none" strike="noStrike">
              <a:solidFill>
                <a:schemeClr val="dk1"/>
              </a:solidFill>
              <a:latin typeface="Calibri"/>
              <a:ea typeface="Calibri"/>
              <a:cs typeface="Calibri"/>
              <a:sym typeface="Calibri"/>
            </a:endParaRPr>
          </a:p>
        </p:txBody>
      </p:sp>
      <p:sp>
        <p:nvSpPr>
          <p:cNvPr id="311" name="Google Shape;311;p31"/>
          <p:cNvSpPr/>
          <p:nvPr/>
        </p:nvSpPr>
        <p:spPr>
          <a:xfrm>
            <a:off x="853440" y="4815840"/>
            <a:ext cx="2401824" cy="1219200"/>
          </a:xfrm>
          <a:prstGeom prst="rect">
            <a:avLst/>
          </a:prstGeom>
          <a:solidFill>
            <a:srgbClr val="A4262C"/>
          </a:solidFill>
          <a:ln cap="flat" cmpd="sng" w="12700">
            <a:solidFill>
              <a:srgbClr val="A4262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12" name="Google Shape;312;p31"/>
          <p:cNvSpPr txBox="1"/>
          <p:nvPr/>
        </p:nvSpPr>
        <p:spPr>
          <a:xfrm>
            <a:off x="1072896" y="4962144"/>
            <a:ext cx="2036064" cy="51206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3200"/>
              <a:buFont typeface="Arial"/>
              <a:buNone/>
            </a:pPr>
            <a:r>
              <a:rPr b="1" i="0" lang="en-US" sz="3200" u="none" cap="none" strike="noStrike">
                <a:solidFill>
                  <a:srgbClr val="FFFFFF"/>
                </a:solidFill>
                <a:latin typeface="Arial"/>
                <a:ea typeface="Arial"/>
                <a:cs typeface="Arial"/>
                <a:sym typeface="Arial"/>
              </a:rPr>
              <a:t>40%</a:t>
            </a:r>
            <a:endParaRPr b="0" i="0" sz="3200" u="none" cap="none" strike="noStrike">
              <a:solidFill>
                <a:schemeClr val="dk1"/>
              </a:solidFill>
              <a:latin typeface="Calibri"/>
              <a:ea typeface="Calibri"/>
              <a:cs typeface="Calibri"/>
              <a:sym typeface="Calibri"/>
            </a:endParaRPr>
          </a:p>
        </p:txBody>
      </p:sp>
      <p:sp>
        <p:nvSpPr>
          <p:cNvPr id="313" name="Google Shape;313;p31"/>
          <p:cNvSpPr txBox="1"/>
          <p:nvPr/>
        </p:nvSpPr>
        <p:spPr>
          <a:xfrm>
            <a:off x="1072896" y="5486400"/>
            <a:ext cx="2036064" cy="487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6DADB"/>
              </a:buClr>
              <a:buSzPts val="1300"/>
              <a:buFont typeface="Arial"/>
              <a:buNone/>
            </a:pPr>
            <a:r>
              <a:rPr b="0" i="0" lang="en-US" sz="1300" u="none" cap="none" strike="noStrike">
                <a:solidFill>
                  <a:srgbClr val="F6DADB"/>
                </a:solidFill>
                <a:latin typeface="Arial"/>
                <a:ea typeface="Arial"/>
                <a:cs typeface="Arial"/>
                <a:sym typeface="Arial"/>
              </a:rPr>
              <a:t>GHG intensity reduction</a:t>
            </a:r>
            <a:endParaRPr b="0" i="0" sz="1300" u="none" cap="none" strike="noStrike">
              <a:solidFill>
                <a:schemeClr val="dk1"/>
              </a:solidFill>
              <a:latin typeface="Calibri"/>
              <a:ea typeface="Calibri"/>
              <a:cs typeface="Calibri"/>
              <a:sym typeface="Calibri"/>
            </a:endParaRPr>
          </a:p>
        </p:txBody>
      </p:sp>
      <p:sp>
        <p:nvSpPr>
          <p:cNvPr id="314" name="Google Shape;314;p31"/>
          <p:cNvSpPr/>
          <p:nvPr/>
        </p:nvSpPr>
        <p:spPr>
          <a:xfrm>
            <a:off x="3547872" y="4815840"/>
            <a:ext cx="2401824" cy="1219200"/>
          </a:xfrm>
          <a:prstGeom prst="rect">
            <a:avLst/>
          </a:prstGeom>
          <a:solidFill>
            <a:srgbClr val="FAF6F1"/>
          </a:solidFill>
          <a:ln cap="flat" cmpd="sng" w="12700">
            <a:solidFill>
              <a:srgbClr val="FAF6F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15" name="Google Shape;315;p31"/>
          <p:cNvSpPr txBox="1"/>
          <p:nvPr/>
        </p:nvSpPr>
        <p:spPr>
          <a:xfrm>
            <a:off x="3767328" y="4962144"/>
            <a:ext cx="2036064" cy="51206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4262C"/>
              </a:buClr>
              <a:buSzPts val="3200"/>
              <a:buFont typeface="Arial"/>
              <a:buNone/>
            </a:pPr>
            <a:r>
              <a:rPr b="1" i="0" lang="en-US" sz="3200" u="none" cap="none" strike="noStrike">
                <a:solidFill>
                  <a:srgbClr val="A4262C"/>
                </a:solidFill>
                <a:latin typeface="Arial"/>
                <a:ea typeface="Arial"/>
                <a:cs typeface="Arial"/>
                <a:sym typeface="Arial"/>
              </a:rPr>
              <a:t>6</a:t>
            </a:r>
            <a:endParaRPr b="0" i="0" sz="3200" u="none" cap="none" strike="noStrike">
              <a:solidFill>
                <a:schemeClr val="dk1"/>
              </a:solidFill>
              <a:latin typeface="Calibri"/>
              <a:ea typeface="Calibri"/>
              <a:cs typeface="Calibri"/>
              <a:sym typeface="Calibri"/>
            </a:endParaRPr>
          </a:p>
        </p:txBody>
      </p:sp>
      <p:sp>
        <p:nvSpPr>
          <p:cNvPr id="316" name="Google Shape;316;p31"/>
          <p:cNvSpPr txBox="1"/>
          <p:nvPr/>
        </p:nvSpPr>
        <p:spPr>
          <a:xfrm>
            <a:off x="3767328" y="5486400"/>
            <a:ext cx="2036064" cy="487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A332E"/>
              </a:buClr>
              <a:buSzPts val="1300"/>
              <a:buFont typeface="Arial"/>
              <a:buNone/>
            </a:pPr>
            <a:r>
              <a:rPr b="0" i="0" lang="en-US" sz="1300" u="none" cap="none" strike="noStrike">
                <a:solidFill>
                  <a:srgbClr val="3A332E"/>
                </a:solidFill>
                <a:latin typeface="Arial"/>
                <a:ea typeface="Arial"/>
                <a:cs typeface="Arial"/>
                <a:sym typeface="Arial"/>
              </a:rPr>
              <a:t>countries, 100% ISO 14001 certified</a:t>
            </a:r>
            <a:endParaRPr b="0" i="0" sz="1300" u="none" cap="none" strike="noStrike">
              <a:solidFill>
                <a:schemeClr val="dk1"/>
              </a:solidFill>
              <a:latin typeface="Calibri"/>
              <a:ea typeface="Calibri"/>
              <a:cs typeface="Calibri"/>
              <a:sym typeface="Calibri"/>
            </a:endParaRPr>
          </a:p>
        </p:txBody>
      </p:sp>
      <p:sp>
        <p:nvSpPr>
          <p:cNvPr id="317" name="Google Shape;317;p31"/>
          <p:cNvSpPr/>
          <p:nvPr/>
        </p:nvSpPr>
        <p:spPr>
          <a:xfrm>
            <a:off x="6242304" y="4815840"/>
            <a:ext cx="2401824" cy="1219200"/>
          </a:xfrm>
          <a:prstGeom prst="rect">
            <a:avLst/>
          </a:prstGeom>
          <a:solidFill>
            <a:srgbClr val="FAF6F1"/>
          </a:solidFill>
          <a:ln cap="flat" cmpd="sng" w="12700">
            <a:solidFill>
              <a:srgbClr val="FAF6F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18" name="Google Shape;318;p31"/>
          <p:cNvSpPr txBox="1"/>
          <p:nvPr/>
        </p:nvSpPr>
        <p:spPr>
          <a:xfrm>
            <a:off x="6461760" y="4962144"/>
            <a:ext cx="2036064" cy="51206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4262C"/>
              </a:buClr>
              <a:buSzPts val="3200"/>
              <a:buFont typeface="Arial"/>
              <a:buNone/>
            </a:pPr>
            <a:r>
              <a:rPr b="1" i="0" lang="en-US" sz="3200" u="none" cap="none" strike="noStrike">
                <a:solidFill>
                  <a:srgbClr val="A4262C"/>
                </a:solidFill>
                <a:latin typeface="Arial"/>
                <a:ea typeface="Arial"/>
                <a:cs typeface="Arial"/>
                <a:sym typeface="Arial"/>
              </a:rPr>
              <a:t>AA</a:t>
            </a:r>
            <a:endParaRPr b="0" i="0" sz="3200" u="none" cap="none" strike="noStrike">
              <a:solidFill>
                <a:schemeClr val="dk1"/>
              </a:solidFill>
              <a:latin typeface="Calibri"/>
              <a:ea typeface="Calibri"/>
              <a:cs typeface="Calibri"/>
              <a:sym typeface="Calibri"/>
            </a:endParaRPr>
          </a:p>
        </p:txBody>
      </p:sp>
      <p:sp>
        <p:nvSpPr>
          <p:cNvPr id="319" name="Google Shape;319;p31"/>
          <p:cNvSpPr txBox="1"/>
          <p:nvPr/>
        </p:nvSpPr>
        <p:spPr>
          <a:xfrm>
            <a:off x="6461760" y="5486400"/>
            <a:ext cx="2036064" cy="487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A332E"/>
              </a:buClr>
              <a:buSzPts val="1300"/>
              <a:buFont typeface="Arial"/>
              <a:buNone/>
            </a:pPr>
            <a:r>
              <a:rPr b="0" i="0" lang="en-US" sz="1300" u="none" cap="none" strike="noStrike">
                <a:solidFill>
                  <a:srgbClr val="3A332E"/>
                </a:solidFill>
                <a:latin typeface="Arial"/>
                <a:ea typeface="Arial"/>
                <a:cs typeface="Arial"/>
                <a:sym typeface="Arial"/>
              </a:rPr>
              <a:t>MSCI ESG rating</a:t>
            </a:r>
            <a:endParaRPr b="0" i="0" sz="1300" u="none" cap="none" strike="noStrike">
              <a:solidFill>
                <a:schemeClr val="dk1"/>
              </a:solidFill>
              <a:latin typeface="Calibri"/>
              <a:ea typeface="Calibri"/>
              <a:cs typeface="Calibri"/>
              <a:sym typeface="Calibri"/>
            </a:endParaRPr>
          </a:p>
        </p:txBody>
      </p:sp>
      <p:sp>
        <p:nvSpPr>
          <p:cNvPr id="320" name="Google Shape;320;p31"/>
          <p:cNvSpPr/>
          <p:nvPr/>
        </p:nvSpPr>
        <p:spPr>
          <a:xfrm>
            <a:off x="8936736" y="4815840"/>
            <a:ext cx="2401824" cy="1219200"/>
          </a:xfrm>
          <a:prstGeom prst="rect">
            <a:avLst/>
          </a:prstGeom>
          <a:solidFill>
            <a:srgbClr val="FAF6F1"/>
          </a:solidFill>
          <a:ln cap="flat" cmpd="sng" w="12700">
            <a:solidFill>
              <a:srgbClr val="FAF6F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21" name="Google Shape;321;p31"/>
          <p:cNvSpPr txBox="1"/>
          <p:nvPr/>
        </p:nvSpPr>
        <p:spPr>
          <a:xfrm>
            <a:off x="9156192" y="4962144"/>
            <a:ext cx="2036064" cy="51206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4262C"/>
              </a:buClr>
              <a:buSzPts val="3200"/>
              <a:buFont typeface="Arial"/>
              <a:buNone/>
            </a:pPr>
            <a:r>
              <a:rPr b="1" i="0" lang="en-US" sz="3200" u="none" cap="none" strike="noStrike">
                <a:solidFill>
                  <a:srgbClr val="A4262C"/>
                </a:solidFill>
                <a:latin typeface="Arial"/>
                <a:ea typeface="Arial"/>
                <a:cs typeface="Arial"/>
                <a:sym typeface="Arial"/>
              </a:rPr>
              <a:t>2×</a:t>
            </a:r>
            <a:endParaRPr b="0" i="0" sz="3200" u="none" cap="none" strike="noStrike">
              <a:solidFill>
                <a:schemeClr val="dk1"/>
              </a:solidFill>
              <a:latin typeface="Calibri"/>
              <a:ea typeface="Calibri"/>
              <a:cs typeface="Calibri"/>
              <a:sym typeface="Calibri"/>
            </a:endParaRPr>
          </a:p>
        </p:txBody>
      </p:sp>
      <p:sp>
        <p:nvSpPr>
          <p:cNvPr id="322" name="Google Shape;322;p31"/>
          <p:cNvSpPr txBox="1"/>
          <p:nvPr/>
        </p:nvSpPr>
        <p:spPr>
          <a:xfrm>
            <a:off x="9156192" y="5486400"/>
            <a:ext cx="2036064" cy="487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A332E"/>
              </a:buClr>
              <a:buSzPts val="1300"/>
              <a:buFont typeface="Arial"/>
              <a:buNone/>
            </a:pPr>
            <a:r>
              <a:rPr b="0" i="0" lang="en-US" sz="1300" u="none" cap="none" strike="noStrike">
                <a:solidFill>
                  <a:srgbClr val="3A332E"/>
                </a:solidFill>
                <a:latin typeface="Arial"/>
                <a:ea typeface="Arial"/>
                <a:cs typeface="Arial"/>
                <a:sym typeface="Arial"/>
              </a:rPr>
              <a:t>Newsweek's World's Greenest Companies</a:t>
            </a:r>
            <a:endParaRPr b="0" i="0" sz="1300" u="none" cap="none" strike="noStrike">
              <a:solidFill>
                <a:schemeClr val="dk1"/>
              </a:solidFill>
              <a:latin typeface="Calibri"/>
              <a:ea typeface="Calibri"/>
              <a:cs typeface="Calibri"/>
              <a:sym typeface="Calibri"/>
            </a:endParaRPr>
          </a:p>
        </p:txBody>
      </p:sp>
      <p:pic>
        <p:nvPicPr>
          <p:cNvPr id="323" name="Google Shape;323;p31"/>
          <p:cNvPicPr preferRelativeResize="0"/>
          <p:nvPr/>
        </p:nvPicPr>
        <p:blipFill>
          <a:blip r:embed="rId3">
            <a:alphaModFix/>
          </a:blip>
          <a:stretch>
            <a:fillRect/>
          </a:stretch>
        </p:blipFill>
        <p:spPr>
          <a:xfrm>
            <a:off x="7559050" y="731538"/>
            <a:ext cx="3633200" cy="36332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3202D"/>
        </a:solidFill>
      </p:bgPr>
    </p:bg>
    <p:spTree>
      <p:nvGrpSpPr>
        <p:cNvPr id="327" name="Shape 327"/>
        <p:cNvGrpSpPr/>
        <p:nvPr/>
      </p:nvGrpSpPr>
      <p:grpSpPr>
        <a:xfrm>
          <a:off x="0" y="0"/>
          <a:ext cx="0" cy="0"/>
          <a:chOff x="0" y="0"/>
          <a:chExt cx="0" cy="0"/>
        </a:xfrm>
      </p:grpSpPr>
      <p:cxnSp>
        <p:nvCxnSpPr>
          <p:cNvPr id="328" name="Google Shape;328;p32"/>
          <p:cNvCxnSpPr/>
          <p:nvPr/>
        </p:nvCxnSpPr>
        <p:spPr>
          <a:xfrm>
            <a:off x="815391" y="5892613"/>
            <a:ext cx="10561200" cy="0"/>
          </a:xfrm>
          <a:prstGeom prst="straightConnector1">
            <a:avLst/>
          </a:prstGeom>
          <a:noFill/>
          <a:ln cap="flat" cmpd="sng" w="12700">
            <a:solidFill>
              <a:srgbClr val="F2C4C0"/>
            </a:solidFill>
            <a:prstDash val="solid"/>
            <a:round/>
            <a:headEnd len="sm" w="sm" type="none"/>
            <a:tailEnd len="sm" w="sm" type="none"/>
          </a:ln>
        </p:spPr>
      </p:cxnSp>
      <p:sp>
        <p:nvSpPr>
          <p:cNvPr id="329" name="Google Shape;329;p32"/>
          <p:cNvSpPr txBox="1"/>
          <p:nvPr/>
        </p:nvSpPr>
        <p:spPr>
          <a:xfrm>
            <a:off x="849904" y="2777841"/>
            <a:ext cx="10492200" cy="26043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i="0" lang="en-US" sz="9400" u="none" cap="none" strike="noStrike">
                <a:solidFill>
                  <a:srgbClr val="FFFFFF"/>
                </a:solidFill>
                <a:latin typeface="Archivo"/>
                <a:ea typeface="Archivo"/>
                <a:cs typeface="Archivo"/>
                <a:sym typeface="Archivo"/>
              </a:rPr>
              <a:t>CASE</a:t>
            </a:r>
            <a:endParaRPr b="1" i="0" sz="9400" u="none" cap="none" strike="noStrike">
              <a:solidFill>
                <a:srgbClr val="FFFFFF"/>
              </a:solidFill>
              <a:latin typeface="Archivo"/>
              <a:ea typeface="Archivo"/>
              <a:cs typeface="Archivo"/>
              <a:sym typeface="Archivo"/>
            </a:endParaRPr>
          </a:p>
          <a:p>
            <a:pPr indent="0" lvl="0" marL="0" marR="0" rtl="0" algn="l">
              <a:lnSpc>
                <a:spcPct val="90000"/>
              </a:lnSpc>
              <a:spcBef>
                <a:spcPts val="0"/>
              </a:spcBef>
              <a:spcAft>
                <a:spcPts val="0"/>
              </a:spcAft>
              <a:buNone/>
            </a:pPr>
            <a:r>
              <a:rPr b="1" i="0" lang="en-US" sz="9400" u="none" cap="none" strike="noStrike">
                <a:solidFill>
                  <a:srgbClr val="FFFFFF"/>
                </a:solidFill>
                <a:latin typeface="Archivo"/>
                <a:ea typeface="Archivo"/>
                <a:cs typeface="Archivo"/>
                <a:sym typeface="Archivo"/>
              </a:rPr>
              <a:t>OVERVIEW</a:t>
            </a:r>
            <a:endParaRPr sz="5400"/>
          </a:p>
        </p:txBody>
      </p:sp>
      <p:pic>
        <p:nvPicPr>
          <p:cNvPr descr="Ballard Center, BYU Marriott logo" id="330" name="Google Shape;330;p32"/>
          <p:cNvPicPr preferRelativeResize="0"/>
          <p:nvPr/>
        </p:nvPicPr>
        <p:blipFill rotWithShape="1">
          <a:blip r:embed="rId3">
            <a:alphaModFix/>
          </a:blip>
          <a:srcRect b="0" l="0" r="0" t="0"/>
          <a:stretch/>
        </p:blipFill>
        <p:spPr>
          <a:xfrm>
            <a:off x="813816" y="6053328"/>
            <a:ext cx="1400646" cy="384048"/>
          </a:xfrm>
          <a:prstGeom prst="rect">
            <a:avLst/>
          </a:prstGeom>
          <a:noFill/>
          <a:ln>
            <a:noFill/>
          </a:ln>
        </p:spPr>
      </p:pic>
      <p:pic>
        <p:nvPicPr>
          <p:cNvPr descr="Do Good. Better." id="331" name="Google Shape;331;p32"/>
          <p:cNvPicPr preferRelativeResize="0"/>
          <p:nvPr/>
        </p:nvPicPr>
        <p:blipFill rotWithShape="1">
          <a:blip r:embed="rId4">
            <a:alphaModFix/>
          </a:blip>
          <a:srcRect b="0" l="0" r="0" t="0"/>
          <a:stretch/>
        </p:blipFill>
        <p:spPr>
          <a:xfrm>
            <a:off x="8814816" y="6144768"/>
            <a:ext cx="2560320" cy="230982"/>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EDE6"/>
        </a:solidFill>
      </p:bgPr>
    </p:bg>
    <p:spTree>
      <p:nvGrpSpPr>
        <p:cNvPr id="336" name="Shape 336"/>
        <p:cNvGrpSpPr/>
        <p:nvPr/>
      </p:nvGrpSpPr>
      <p:grpSpPr>
        <a:xfrm>
          <a:off x="0" y="0"/>
          <a:ext cx="0" cy="0"/>
          <a:chOff x="0" y="0"/>
          <a:chExt cx="0" cy="0"/>
        </a:xfrm>
      </p:grpSpPr>
      <p:sp>
        <p:nvSpPr>
          <p:cNvPr id="337" name="Google Shape;337;p33"/>
          <p:cNvSpPr txBox="1"/>
          <p:nvPr>
            <p:ph type="title"/>
          </p:nvPr>
        </p:nvSpPr>
        <p:spPr>
          <a:xfrm>
            <a:off x="812800" y="486999"/>
            <a:ext cx="10883400" cy="685800"/>
          </a:xfrm>
          <a:prstGeom prst="rect">
            <a:avLst/>
          </a:prstGeom>
          <a:noFill/>
          <a:ln>
            <a:noFill/>
          </a:ln>
        </p:spPr>
        <p:txBody>
          <a:bodyPr anchorCtr="0" anchor="t" bIns="0" lIns="0" spcFirstLastPara="1" rIns="0" wrap="square" tIns="0">
            <a:normAutofit fontScale="90000"/>
          </a:bodyPr>
          <a:lstStyle/>
          <a:p>
            <a:pPr indent="0" lvl="0" marL="0" rtl="0" algn="l">
              <a:lnSpc>
                <a:spcPct val="100000"/>
              </a:lnSpc>
              <a:spcBef>
                <a:spcPts val="0"/>
              </a:spcBef>
              <a:spcAft>
                <a:spcPts val="0"/>
              </a:spcAft>
              <a:buClr>
                <a:srgbClr val="B3202D"/>
              </a:buClr>
              <a:buSzPct val="100000"/>
              <a:buFont typeface="Archivo"/>
              <a:buNone/>
            </a:pPr>
            <a:r>
              <a:rPr b="1" i="0" lang="en-US" sz="5200">
                <a:solidFill>
                  <a:srgbClr val="B3202D"/>
                </a:solidFill>
                <a:latin typeface="Archivo"/>
                <a:ea typeface="Archivo"/>
                <a:cs typeface="Archivo"/>
                <a:sym typeface="Archivo"/>
              </a:rPr>
              <a:t>Case Context</a:t>
            </a:r>
            <a:endParaRPr sz="5200"/>
          </a:p>
        </p:txBody>
      </p:sp>
      <p:sp>
        <p:nvSpPr>
          <p:cNvPr id="338" name="Google Shape;338;p33"/>
          <p:cNvSpPr/>
          <p:nvPr/>
        </p:nvSpPr>
        <p:spPr>
          <a:xfrm>
            <a:off x="812800" y="1455549"/>
            <a:ext cx="10883400" cy="608400"/>
          </a:xfrm>
          <a:prstGeom prst="rect">
            <a:avLst/>
          </a:prstGeom>
          <a:noFill/>
          <a:ln>
            <a:noFill/>
          </a:ln>
        </p:spPr>
        <p:txBody>
          <a:bodyPr anchorCtr="0" anchor="t" bIns="0" lIns="0" spcFirstLastPara="1" rIns="0" wrap="square" tIns="0">
            <a:noAutofit/>
          </a:bodyPr>
          <a:lstStyle/>
          <a:p>
            <a:pPr indent="0" lvl="0" marL="0" marR="0" rtl="0" algn="just">
              <a:lnSpc>
                <a:spcPct val="135000"/>
              </a:lnSpc>
              <a:spcBef>
                <a:spcPts val="0"/>
              </a:spcBef>
              <a:spcAft>
                <a:spcPts val="0"/>
              </a:spcAft>
              <a:buClr>
                <a:srgbClr val="1E1616"/>
              </a:buClr>
              <a:buSzPts val="1700"/>
              <a:buFont typeface="DM Sans"/>
              <a:buNone/>
            </a:pPr>
            <a:r>
              <a:rPr b="0" i="0" lang="en-US" sz="1700" u="none" cap="none" strike="noStrike">
                <a:solidFill>
                  <a:srgbClr val="1E1616"/>
                </a:solidFill>
                <a:latin typeface="DM Sans"/>
                <a:ea typeface="DM Sans"/>
                <a:cs typeface="DM Sans"/>
                <a:sym typeface="DM Sans"/>
              </a:rPr>
              <a:t>Merit Medical is a </a:t>
            </a:r>
            <a:r>
              <a:rPr b="1" i="0" lang="en-US" sz="1700" u="none" cap="none" strike="noStrike">
                <a:solidFill>
                  <a:srgbClr val="B3202D"/>
                </a:solidFill>
                <a:latin typeface="DM Sans"/>
                <a:ea typeface="DM Sans"/>
                <a:cs typeface="DM Sans"/>
                <a:sym typeface="DM Sans"/>
              </a:rPr>
              <a:t>global medical device manufacturer</a:t>
            </a:r>
            <a:r>
              <a:rPr b="0" i="0" lang="en-US" sz="1700" u="none" cap="none" strike="noStrike">
                <a:solidFill>
                  <a:srgbClr val="1E1616"/>
                </a:solidFill>
                <a:latin typeface="DM Sans"/>
                <a:ea typeface="DM Sans"/>
                <a:cs typeface="DM Sans"/>
                <a:sym typeface="DM Sans"/>
              </a:rPr>
              <a:t> whose disposable devices are used in cardiology, radiology, oncology, and dialysis procedures.</a:t>
            </a:r>
            <a:endParaRPr b="0" i="0" sz="1700" u="none" cap="none" strike="noStrike">
              <a:solidFill>
                <a:schemeClr val="dk1"/>
              </a:solidFill>
              <a:latin typeface="DM Sans"/>
              <a:ea typeface="DM Sans"/>
              <a:cs typeface="DM Sans"/>
              <a:sym typeface="DM Sans"/>
            </a:endParaRPr>
          </a:p>
        </p:txBody>
      </p:sp>
      <p:sp>
        <p:nvSpPr>
          <p:cNvPr id="339" name="Google Shape;339;p33"/>
          <p:cNvSpPr/>
          <p:nvPr/>
        </p:nvSpPr>
        <p:spPr>
          <a:xfrm>
            <a:off x="812800" y="2216234"/>
            <a:ext cx="10883400" cy="608400"/>
          </a:xfrm>
          <a:prstGeom prst="rect">
            <a:avLst/>
          </a:prstGeom>
          <a:noFill/>
          <a:ln>
            <a:noFill/>
          </a:ln>
        </p:spPr>
        <p:txBody>
          <a:bodyPr anchorCtr="0" anchor="t" bIns="0" lIns="0" spcFirstLastPara="1" rIns="0" wrap="square" tIns="0">
            <a:noAutofit/>
          </a:bodyPr>
          <a:lstStyle/>
          <a:p>
            <a:pPr indent="0" lvl="0" marL="0" marR="0" rtl="0" algn="just">
              <a:lnSpc>
                <a:spcPct val="135000"/>
              </a:lnSpc>
              <a:spcBef>
                <a:spcPts val="0"/>
              </a:spcBef>
              <a:spcAft>
                <a:spcPts val="0"/>
              </a:spcAft>
              <a:buClr>
                <a:srgbClr val="1E1616"/>
              </a:buClr>
              <a:buSzPts val="1700"/>
              <a:buFont typeface="DM Sans"/>
              <a:buNone/>
            </a:pPr>
            <a:r>
              <a:rPr b="0" i="0" lang="en-US" sz="1700" u="none" cap="none" strike="noStrike">
                <a:solidFill>
                  <a:srgbClr val="1E1616"/>
                </a:solidFill>
                <a:latin typeface="DM Sans"/>
                <a:ea typeface="DM Sans"/>
                <a:cs typeface="DM Sans"/>
                <a:sym typeface="DM Sans"/>
              </a:rPr>
              <a:t>Merit relies on </a:t>
            </a:r>
            <a:r>
              <a:rPr b="1" i="0" lang="en-US" sz="1700" u="none" cap="none" strike="noStrike">
                <a:solidFill>
                  <a:srgbClr val="B3202D"/>
                </a:solidFill>
                <a:latin typeface="DM Sans"/>
                <a:ea typeface="DM Sans"/>
                <a:cs typeface="DM Sans"/>
                <a:sym typeface="DM Sans"/>
              </a:rPr>
              <a:t>~1,030 direct suppliers in 42 countries</a:t>
            </a:r>
            <a:r>
              <a:rPr b="0" i="0" lang="en-US" sz="1700" u="none" cap="none" strike="noStrike">
                <a:solidFill>
                  <a:srgbClr val="1E1616"/>
                </a:solidFill>
                <a:latin typeface="DM Sans"/>
                <a:ea typeface="DM Sans"/>
                <a:cs typeface="DM Sans"/>
                <a:sym typeface="DM Sans"/>
              </a:rPr>
              <a:t>. The </a:t>
            </a:r>
            <a:r>
              <a:rPr b="1" i="0" lang="en-US" sz="1700" u="none" cap="none" strike="noStrike">
                <a:solidFill>
                  <a:srgbClr val="B3202D"/>
                </a:solidFill>
                <a:latin typeface="DM Sans"/>
                <a:ea typeface="DM Sans"/>
                <a:cs typeface="DM Sans"/>
                <a:sym typeface="DM Sans"/>
              </a:rPr>
              <a:t>top 78 hold ~65% of spend</a:t>
            </a:r>
            <a:r>
              <a:rPr b="0" i="0" lang="en-US" sz="1700" u="none" cap="none" strike="noStrike">
                <a:solidFill>
                  <a:srgbClr val="1E1616"/>
                </a:solidFill>
                <a:latin typeface="DM Sans"/>
                <a:ea typeface="DM Sans"/>
                <a:cs typeface="DM Sans"/>
                <a:sym typeface="DM Sans"/>
              </a:rPr>
              <a:t>, and qualifying a replacement supplier takes </a:t>
            </a:r>
            <a:r>
              <a:rPr b="1" i="0" lang="en-US" sz="1700" u="none" cap="none" strike="noStrike">
                <a:solidFill>
                  <a:srgbClr val="B3202D"/>
                </a:solidFill>
                <a:latin typeface="DM Sans"/>
                <a:ea typeface="DM Sans"/>
                <a:cs typeface="DM Sans"/>
                <a:sym typeface="DM Sans"/>
              </a:rPr>
              <a:t>9–12 months</a:t>
            </a:r>
            <a:r>
              <a:rPr b="0" i="0" lang="en-US" sz="1700" u="none" cap="none" strike="noStrike">
                <a:solidFill>
                  <a:srgbClr val="1E1616"/>
                </a:solidFill>
                <a:latin typeface="DM Sans"/>
                <a:ea typeface="DM Sans"/>
                <a:cs typeface="DM Sans"/>
                <a:sym typeface="DM Sans"/>
              </a:rPr>
              <a:t>.</a:t>
            </a:r>
            <a:endParaRPr b="0" i="0" sz="1700" u="none" cap="none" strike="noStrike">
              <a:solidFill>
                <a:schemeClr val="dk1"/>
              </a:solidFill>
              <a:latin typeface="DM Sans"/>
              <a:ea typeface="DM Sans"/>
              <a:cs typeface="DM Sans"/>
              <a:sym typeface="DM Sans"/>
            </a:endParaRPr>
          </a:p>
        </p:txBody>
      </p:sp>
      <p:sp>
        <p:nvSpPr>
          <p:cNvPr id="340" name="Google Shape;340;p33"/>
          <p:cNvSpPr/>
          <p:nvPr/>
        </p:nvSpPr>
        <p:spPr>
          <a:xfrm>
            <a:off x="812800" y="3061720"/>
            <a:ext cx="10883400" cy="608400"/>
          </a:xfrm>
          <a:prstGeom prst="rect">
            <a:avLst/>
          </a:prstGeom>
          <a:noFill/>
          <a:ln>
            <a:noFill/>
          </a:ln>
        </p:spPr>
        <p:txBody>
          <a:bodyPr anchorCtr="0" anchor="t" bIns="0" lIns="0" spcFirstLastPara="1" rIns="0" wrap="square" tIns="0">
            <a:noAutofit/>
          </a:bodyPr>
          <a:lstStyle/>
          <a:p>
            <a:pPr indent="0" lvl="0" marL="0" marR="0" rtl="0" algn="just">
              <a:lnSpc>
                <a:spcPct val="135000"/>
              </a:lnSpc>
              <a:spcBef>
                <a:spcPts val="0"/>
              </a:spcBef>
              <a:spcAft>
                <a:spcPts val="0"/>
              </a:spcAft>
              <a:buClr>
                <a:srgbClr val="1E1616"/>
              </a:buClr>
              <a:buSzPts val="1700"/>
              <a:buFont typeface="DM Sans"/>
              <a:buNone/>
            </a:pPr>
            <a:r>
              <a:rPr b="0" i="0" lang="en-US" sz="1700" u="none" cap="none" strike="noStrike">
                <a:solidFill>
                  <a:srgbClr val="1E1616"/>
                </a:solidFill>
                <a:latin typeface="DM Sans"/>
                <a:ea typeface="DM Sans"/>
                <a:cs typeface="DM Sans"/>
                <a:sym typeface="DM Sans"/>
              </a:rPr>
              <a:t>Merit's </a:t>
            </a:r>
            <a:r>
              <a:rPr b="1" i="0" lang="en-US" sz="1700" u="none" cap="none" strike="noStrike">
                <a:solidFill>
                  <a:srgbClr val="B3202D"/>
                </a:solidFill>
                <a:latin typeface="DM Sans"/>
                <a:ea typeface="DM Sans"/>
                <a:cs typeface="DM Sans"/>
                <a:sym typeface="DM Sans"/>
              </a:rPr>
              <a:t>HEART values</a:t>
            </a:r>
            <a:r>
              <a:rPr b="0" i="0" lang="en-US" sz="1700" u="none" cap="none" strike="noStrike">
                <a:solidFill>
                  <a:srgbClr val="1E1616"/>
                </a:solidFill>
                <a:latin typeface="DM Sans"/>
                <a:ea typeface="DM Sans"/>
                <a:cs typeface="DM Sans"/>
                <a:sym typeface="DM Sans"/>
              </a:rPr>
              <a:t> already promise supplier standards, and its Board oversees ESG through a </a:t>
            </a:r>
            <a:r>
              <a:rPr b="1" i="0" lang="en-US" sz="1700" u="none" cap="none" strike="noStrike">
                <a:solidFill>
                  <a:srgbClr val="B3202D"/>
                </a:solidFill>
                <a:latin typeface="DM Sans"/>
                <a:ea typeface="DM Sans"/>
                <a:cs typeface="DM Sans"/>
                <a:sym typeface="DM Sans"/>
              </a:rPr>
              <a:t>Governance and Sustainability Committee</a:t>
            </a:r>
            <a:r>
              <a:rPr b="0" i="0" lang="en-US" sz="1700" u="none" cap="none" strike="noStrike">
                <a:solidFill>
                  <a:srgbClr val="1E1616"/>
                </a:solidFill>
                <a:latin typeface="DM Sans"/>
                <a:ea typeface="DM Sans"/>
                <a:cs typeface="DM Sans"/>
                <a:sym typeface="DM Sans"/>
              </a:rPr>
              <a:t>.</a:t>
            </a:r>
            <a:endParaRPr b="0" i="0" sz="1700" u="none" cap="none" strike="noStrike">
              <a:solidFill>
                <a:schemeClr val="dk1"/>
              </a:solidFill>
              <a:latin typeface="DM Sans"/>
              <a:ea typeface="DM Sans"/>
              <a:cs typeface="DM Sans"/>
              <a:sym typeface="DM Sans"/>
            </a:endParaRPr>
          </a:p>
        </p:txBody>
      </p:sp>
      <p:sp>
        <p:nvSpPr>
          <p:cNvPr id="341" name="Google Shape;341;p33"/>
          <p:cNvSpPr/>
          <p:nvPr/>
        </p:nvSpPr>
        <p:spPr>
          <a:xfrm>
            <a:off x="812800" y="4072218"/>
            <a:ext cx="10883400" cy="608400"/>
          </a:xfrm>
          <a:prstGeom prst="rect">
            <a:avLst/>
          </a:prstGeom>
          <a:noFill/>
          <a:ln>
            <a:noFill/>
          </a:ln>
        </p:spPr>
        <p:txBody>
          <a:bodyPr anchorCtr="0" anchor="t" bIns="0" lIns="0" spcFirstLastPara="1" rIns="0" wrap="square" tIns="0">
            <a:noAutofit/>
          </a:bodyPr>
          <a:lstStyle/>
          <a:p>
            <a:pPr indent="0" lvl="0" marL="0" marR="0" rtl="0" algn="just">
              <a:lnSpc>
                <a:spcPct val="135000"/>
              </a:lnSpc>
              <a:spcBef>
                <a:spcPts val="0"/>
              </a:spcBef>
              <a:spcAft>
                <a:spcPts val="0"/>
              </a:spcAft>
              <a:buClr>
                <a:srgbClr val="B3202D"/>
              </a:buClr>
              <a:buSzPts val="1700"/>
              <a:buFont typeface="DM Sans"/>
              <a:buNone/>
            </a:pPr>
            <a:r>
              <a:rPr b="1" i="0" lang="en-US" sz="1700" u="none" cap="none" strike="noStrike">
                <a:solidFill>
                  <a:srgbClr val="B3202D"/>
                </a:solidFill>
                <a:latin typeface="DM Sans"/>
                <a:ea typeface="DM Sans"/>
                <a:cs typeface="DM Sans"/>
                <a:sym typeface="DM Sans"/>
              </a:rPr>
              <a:t>2026 is the final year</a:t>
            </a:r>
            <a:r>
              <a:rPr b="0" i="0" lang="en-US" sz="1700" u="none" cap="none" strike="noStrike">
                <a:solidFill>
                  <a:srgbClr val="1E1616"/>
                </a:solidFill>
                <a:latin typeface="DM Sans"/>
                <a:ea typeface="DM Sans"/>
                <a:cs typeface="DM Sans"/>
                <a:sym typeface="DM Sans"/>
              </a:rPr>
              <a:t> of Merit's Continued Growth Initiatives: 5–7% growth, a </a:t>
            </a:r>
            <a:r>
              <a:rPr b="1" i="0" lang="en-US" sz="1700" u="none" cap="none" strike="noStrike">
                <a:solidFill>
                  <a:srgbClr val="B3202D"/>
                </a:solidFill>
                <a:latin typeface="DM Sans"/>
                <a:ea typeface="DM Sans"/>
                <a:cs typeface="DM Sans"/>
                <a:sym typeface="DM Sans"/>
              </a:rPr>
              <a:t>20–22% operating margin</a:t>
            </a:r>
            <a:r>
              <a:rPr b="0" i="0" lang="en-US" sz="1700" u="none" cap="none" strike="noStrike">
                <a:solidFill>
                  <a:srgbClr val="1E1616"/>
                </a:solidFill>
                <a:latin typeface="DM Sans"/>
                <a:ea typeface="DM Sans"/>
                <a:cs typeface="DM Sans"/>
                <a:sym typeface="DM Sans"/>
              </a:rPr>
              <a:t>, and </a:t>
            </a:r>
            <a:r>
              <a:rPr b="1" i="0" lang="en-US" sz="1700" u="none" cap="none" strike="noStrike">
                <a:solidFill>
                  <a:srgbClr val="B3202D"/>
                </a:solidFill>
                <a:latin typeface="DM Sans"/>
                <a:ea typeface="DM Sans"/>
                <a:cs typeface="DM Sans"/>
                <a:sym typeface="DM Sans"/>
              </a:rPr>
              <a:t>$400M+ in cumulative free cash flow</a:t>
            </a:r>
            <a:r>
              <a:rPr b="0" i="0" lang="en-US" sz="1700" u="none" cap="none" strike="noStrike">
                <a:solidFill>
                  <a:srgbClr val="1E1616"/>
                </a:solidFill>
                <a:latin typeface="DM Sans"/>
                <a:ea typeface="DM Sans"/>
                <a:cs typeface="DM Sans"/>
                <a:sym typeface="DM Sans"/>
              </a:rPr>
              <a:t>.</a:t>
            </a:r>
            <a:endParaRPr b="0" i="0" sz="1700" u="none" cap="none" strike="noStrike">
              <a:solidFill>
                <a:schemeClr val="dk1"/>
              </a:solidFill>
              <a:latin typeface="DM Sans"/>
              <a:ea typeface="DM Sans"/>
              <a:cs typeface="DM Sans"/>
              <a:sym typeface="DM Sans"/>
            </a:endParaRPr>
          </a:p>
        </p:txBody>
      </p:sp>
      <p:sp>
        <p:nvSpPr>
          <p:cNvPr id="342" name="Google Shape;342;p33"/>
          <p:cNvSpPr/>
          <p:nvPr/>
        </p:nvSpPr>
        <p:spPr>
          <a:xfrm>
            <a:off x="812800" y="5082690"/>
            <a:ext cx="10883400" cy="608400"/>
          </a:xfrm>
          <a:prstGeom prst="rect">
            <a:avLst/>
          </a:prstGeom>
          <a:noFill/>
          <a:ln>
            <a:noFill/>
          </a:ln>
        </p:spPr>
        <p:txBody>
          <a:bodyPr anchorCtr="0" anchor="t" bIns="0" lIns="0" spcFirstLastPara="1" rIns="0" wrap="square" tIns="0">
            <a:noAutofit/>
          </a:bodyPr>
          <a:lstStyle/>
          <a:p>
            <a:pPr indent="0" lvl="0" marL="0" marR="0" rtl="0" algn="just">
              <a:lnSpc>
                <a:spcPct val="135000"/>
              </a:lnSpc>
              <a:spcBef>
                <a:spcPts val="0"/>
              </a:spcBef>
              <a:spcAft>
                <a:spcPts val="0"/>
              </a:spcAft>
              <a:buClr>
                <a:srgbClr val="1E1616"/>
              </a:buClr>
              <a:buSzPts val="1700"/>
              <a:buFont typeface="DM Sans"/>
              <a:buNone/>
            </a:pPr>
            <a:r>
              <a:rPr b="0" i="0" lang="en-US" sz="1700" u="none" cap="none" strike="noStrike">
                <a:solidFill>
                  <a:srgbClr val="1E1616"/>
                </a:solidFill>
                <a:latin typeface="DM Sans"/>
                <a:ea typeface="DM Sans"/>
                <a:cs typeface="DM Sans"/>
                <a:sym typeface="DM Sans"/>
              </a:rPr>
              <a:t>In 2025, Merit earned </a:t>
            </a:r>
            <a:r>
              <a:rPr b="1" i="0" lang="en-US" sz="1700" u="none" cap="none" strike="noStrike">
                <a:solidFill>
                  <a:srgbClr val="B3202D"/>
                </a:solidFill>
                <a:latin typeface="DM Sans"/>
                <a:ea typeface="DM Sans"/>
                <a:cs typeface="DM Sans"/>
                <a:sym typeface="DM Sans"/>
              </a:rPr>
              <a:t>three Newsweek sustainability recognitions</a:t>
            </a:r>
            <a:r>
              <a:rPr b="0" i="0" lang="en-US" sz="1700" u="none" cap="none" strike="noStrike">
                <a:solidFill>
                  <a:srgbClr val="1E1616"/>
                </a:solidFill>
                <a:latin typeface="DM Sans"/>
                <a:ea typeface="DM Sans"/>
                <a:cs typeface="DM Sans"/>
                <a:sym typeface="DM Sans"/>
              </a:rPr>
              <a:t> and began routing suppliers through </a:t>
            </a:r>
            <a:r>
              <a:rPr b="1" i="0" lang="en-US" sz="1700" u="none" cap="none" strike="noStrike">
                <a:solidFill>
                  <a:srgbClr val="B3202D"/>
                </a:solidFill>
                <a:latin typeface="DM Sans"/>
                <a:ea typeface="DM Sans"/>
                <a:cs typeface="DM Sans"/>
                <a:sym typeface="DM Sans"/>
              </a:rPr>
              <a:t>EcoVadis</a:t>
            </a:r>
            <a:r>
              <a:rPr b="0" i="0" lang="en-US" sz="1700" u="none" cap="none" strike="noStrike">
                <a:solidFill>
                  <a:srgbClr val="1E1616"/>
                </a:solidFill>
                <a:latin typeface="DM Sans"/>
                <a:ea typeface="DM Sans"/>
                <a:cs typeface="DM Sans"/>
                <a:sym typeface="DM Sans"/>
              </a:rPr>
              <a:t> to score their sustainability performance.</a:t>
            </a:r>
            <a:endParaRPr b="0" i="0" sz="1700" u="none" cap="none" strike="noStrike">
              <a:solidFill>
                <a:schemeClr val="dk1"/>
              </a:solidFill>
              <a:latin typeface="DM Sans"/>
              <a:ea typeface="DM Sans"/>
              <a:cs typeface="DM Sans"/>
              <a:sym typeface="DM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EDE6"/>
        </a:solidFill>
      </p:bgPr>
    </p:bg>
    <p:spTree>
      <p:nvGrpSpPr>
        <p:cNvPr id="347" name="Shape 347"/>
        <p:cNvGrpSpPr/>
        <p:nvPr/>
      </p:nvGrpSpPr>
      <p:grpSpPr>
        <a:xfrm>
          <a:off x="0" y="0"/>
          <a:ext cx="0" cy="0"/>
          <a:chOff x="0" y="0"/>
          <a:chExt cx="0" cy="0"/>
        </a:xfrm>
      </p:grpSpPr>
      <p:sp>
        <p:nvSpPr>
          <p:cNvPr id="348" name="Google Shape;348;p34"/>
          <p:cNvSpPr txBox="1"/>
          <p:nvPr>
            <p:ph type="title"/>
          </p:nvPr>
        </p:nvSpPr>
        <p:spPr>
          <a:xfrm>
            <a:off x="812800" y="449879"/>
            <a:ext cx="10883400" cy="685800"/>
          </a:xfrm>
          <a:prstGeom prst="rect">
            <a:avLst/>
          </a:prstGeom>
          <a:noFill/>
          <a:ln>
            <a:noFill/>
          </a:ln>
        </p:spPr>
        <p:txBody>
          <a:bodyPr anchorCtr="0" anchor="t" bIns="0" lIns="0" spcFirstLastPara="1" rIns="0" wrap="square" tIns="0">
            <a:normAutofit fontScale="90000"/>
          </a:bodyPr>
          <a:lstStyle/>
          <a:p>
            <a:pPr indent="0" lvl="0" marL="0" rtl="0" algn="l">
              <a:lnSpc>
                <a:spcPct val="100000"/>
              </a:lnSpc>
              <a:spcBef>
                <a:spcPts val="0"/>
              </a:spcBef>
              <a:spcAft>
                <a:spcPts val="0"/>
              </a:spcAft>
              <a:buClr>
                <a:srgbClr val="B3202D"/>
              </a:buClr>
              <a:buSzPct val="100000"/>
              <a:buFont typeface="Archivo"/>
              <a:buNone/>
            </a:pPr>
            <a:r>
              <a:rPr b="1" i="0" lang="en-US" sz="5200">
                <a:solidFill>
                  <a:srgbClr val="B3202D"/>
                </a:solidFill>
                <a:latin typeface="Archivo"/>
                <a:ea typeface="Archivo"/>
                <a:cs typeface="Archivo"/>
                <a:sym typeface="Archivo"/>
              </a:rPr>
              <a:t>Case Complications</a:t>
            </a:r>
            <a:endParaRPr sz="5200"/>
          </a:p>
        </p:txBody>
      </p:sp>
      <p:sp>
        <p:nvSpPr>
          <p:cNvPr id="349" name="Google Shape;349;p34"/>
          <p:cNvSpPr/>
          <p:nvPr/>
        </p:nvSpPr>
        <p:spPr>
          <a:xfrm>
            <a:off x="812800" y="1478379"/>
            <a:ext cx="10883400" cy="3168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E1616"/>
              </a:buClr>
              <a:buSzPts val="1700"/>
              <a:buFont typeface="DM Sans"/>
              <a:buNone/>
            </a:pPr>
            <a:r>
              <a:rPr b="0" i="0" lang="en-US" sz="1700" u="none" cap="none" strike="noStrike">
                <a:solidFill>
                  <a:srgbClr val="1E1616"/>
                </a:solidFill>
                <a:latin typeface="DM Sans"/>
                <a:ea typeface="DM Sans"/>
                <a:cs typeface="DM Sans"/>
                <a:sym typeface="DM Sans"/>
              </a:rPr>
              <a:t>Despite its awards, Merit's sustainability story is running ahead of its data.</a:t>
            </a:r>
            <a:endParaRPr b="0" i="0" sz="1700" u="none" cap="none" strike="noStrike">
              <a:solidFill>
                <a:schemeClr val="dk1"/>
              </a:solidFill>
              <a:latin typeface="DM Sans"/>
              <a:ea typeface="DM Sans"/>
              <a:cs typeface="DM Sans"/>
              <a:sym typeface="DM Sans"/>
            </a:endParaRPr>
          </a:p>
        </p:txBody>
      </p:sp>
      <p:sp>
        <p:nvSpPr>
          <p:cNvPr id="350" name="Google Shape;350;p34"/>
          <p:cNvSpPr/>
          <p:nvPr/>
        </p:nvSpPr>
        <p:spPr>
          <a:xfrm>
            <a:off x="812800" y="2040009"/>
            <a:ext cx="10883400" cy="608400"/>
          </a:xfrm>
          <a:prstGeom prst="rect">
            <a:avLst/>
          </a:prstGeom>
          <a:noFill/>
          <a:ln>
            <a:noFill/>
          </a:ln>
        </p:spPr>
        <p:txBody>
          <a:bodyPr anchorCtr="0" anchor="t" bIns="0" lIns="0" spcFirstLastPara="1" rIns="0" wrap="square" tIns="0">
            <a:noAutofit/>
          </a:bodyPr>
          <a:lstStyle/>
          <a:p>
            <a:pPr indent="0" lvl="0" marL="0" marR="0" rtl="0" algn="just">
              <a:lnSpc>
                <a:spcPct val="135000"/>
              </a:lnSpc>
              <a:spcBef>
                <a:spcPts val="0"/>
              </a:spcBef>
              <a:spcAft>
                <a:spcPts val="0"/>
              </a:spcAft>
              <a:buClr>
                <a:srgbClr val="B3202D"/>
              </a:buClr>
              <a:buSzPts val="1700"/>
              <a:buFont typeface="DM Sans"/>
              <a:buNone/>
            </a:pPr>
            <a:r>
              <a:rPr b="1" i="0" lang="en-US" sz="1700" u="none" cap="none" strike="noStrike">
                <a:solidFill>
                  <a:srgbClr val="B3202D"/>
                </a:solidFill>
                <a:latin typeface="DM Sans"/>
                <a:ea typeface="DM Sans"/>
                <a:cs typeface="DM Sans"/>
                <a:sym typeface="DM Sans"/>
              </a:rPr>
              <a:t>Most suppliers have not completed EcoVadis.</a:t>
            </a:r>
            <a:r>
              <a:rPr b="0" i="0" lang="en-US" sz="1700" u="none" cap="none" strike="noStrike">
                <a:solidFill>
                  <a:srgbClr val="1E1616"/>
                </a:solidFill>
                <a:latin typeface="DM Sans"/>
                <a:ea typeface="DM Sans"/>
                <a:cs typeface="DM Sans"/>
                <a:sym typeface="DM Sans"/>
              </a:rPr>
              <a:t> Gaps are widest at </a:t>
            </a:r>
            <a:r>
              <a:rPr b="1" i="0" lang="en-US" sz="1700" u="none" cap="none" strike="noStrike">
                <a:solidFill>
                  <a:srgbClr val="B3202D"/>
                </a:solidFill>
                <a:latin typeface="DM Sans"/>
                <a:ea typeface="DM Sans"/>
                <a:cs typeface="DM Sans"/>
                <a:sym typeface="DM Sans"/>
              </a:rPr>
              <a:t>small manufacturers in Mexico and China</a:t>
            </a:r>
            <a:r>
              <a:rPr b="0" i="0" lang="en-US" sz="1700" u="none" cap="none" strike="noStrike">
                <a:solidFill>
                  <a:srgbClr val="1E1616"/>
                </a:solidFill>
                <a:latin typeface="DM Sans"/>
                <a:ea typeface="DM Sans"/>
                <a:cs typeface="DM Sans"/>
                <a:sym typeface="DM Sans"/>
              </a:rPr>
              <a:t> with no sustainability staff or tracking systems.</a:t>
            </a:r>
            <a:endParaRPr b="0" i="0" sz="1700" u="none" cap="none" strike="noStrike">
              <a:solidFill>
                <a:schemeClr val="dk1"/>
              </a:solidFill>
              <a:latin typeface="DM Sans"/>
              <a:ea typeface="DM Sans"/>
              <a:cs typeface="DM Sans"/>
              <a:sym typeface="DM Sans"/>
            </a:endParaRPr>
          </a:p>
        </p:txBody>
      </p:sp>
      <p:sp>
        <p:nvSpPr>
          <p:cNvPr id="351" name="Google Shape;351;p34"/>
          <p:cNvSpPr/>
          <p:nvPr/>
        </p:nvSpPr>
        <p:spPr>
          <a:xfrm>
            <a:off x="812800" y="2893233"/>
            <a:ext cx="10883400" cy="608400"/>
          </a:xfrm>
          <a:prstGeom prst="rect">
            <a:avLst/>
          </a:prstGeom>
          <a:noFill/>
          <a:ln>
            <a:noFill/>
          </a:ln>
        </p:spPr>
        <p:txBody>
          <a:bodyPr anchorCtr="0" anchor="t" bIns="0" lIns="0" spcFirstLastPara="1" rIns="0" wrap="square" tIns="0">
            <a:noAutofit/>
          </a:bodyPr>
          <a:lstStyle/>
          <a:p>
            <a:pPr indent="0" lvl="0" marL="0" marR="0" rtl="0" algn="just">
              <a:lnSpc>
                <a:spcPct val="135000"/>
              </a:lnSpc>
              <a:spcBef>
                <a:spcPts val="0"/>
              </a:spcBef>
              <a:spcAft>
                <a:spcPts val="0"/>
              </a:spcAft>
              <a:buClr>
                <a:srgbClr val="1E1616"/>
              </a:buClr>
              <a:buSzPts val="1700"/>
              <a:buFont typeface="DM Sans"/>
              <a:buNone/>
            </a:pPr>
            <a:r>
              <a:rPr b="0" i="0" lang="en-US" sz="1700" u="none" cap="none" strike="noStrike">
                <a:solidFill>
                  <a:srgbClr val="1E1616"/>
                </a:solidFill>
                <a:latin typeface="DM Sans"/>
                <a:ea typeface="DM Sans"/>
                <a:cs typeface="DM Sans"/>
                <a:sym typeface="DM Sans"/>
              </a:rPr>
              <a:t>These are the </a:t>
            </a:r>
            <a:r>
              <a:rPr b="1" i="0" lang="en-US" sz="1700" u="none" cap="none" strike="noStrike">
                <a:solidFill>
                  <a:srgbClr val="B3202D"/>
                </a:solidFill>
                <a:latin typeface="DM Sans"/>
                <a:ea typeface="DM Sans"/>
                <a:cs typeface="DM Sans"/>
                <a:sym typeface="DM Sans"/>
              </a:rPr>
              <a:t>same regions Merit flags as highest-risk</a:t>
            </a:r>
            <a:r>
              <a:rPr b="0" i="0" lang="en-US" sz="1700" u="none" cap="none" strike="noStrike">
                <a:solidFill>
                  <a:srgbClr val="1E1616"/>
                </a:solidFill>
                <a:latin typeface="DM Sans"/>
                <a:ea typeface="DM Sans"/>
                <a:cs typeface="DM Sans"/>
                <a:sym typeface="DM Sans"/>
              </a:rPr>
              <a:t>, and supply chain laws make supplier monitoring </a:t>
            </a:r>
            <a:r>
              <a:rPr b="1" i="0" lang="en-US" sz="1700" u="none" cap="none" strike="noStrike">
                <a:solidFill>
                  <a:srgbClr val="B3202D"/>
                </a:solidFill>
                <a:latin typeface="DM Sans"/>
                <a:ea typeface="DM Sans"/>
                <a:cs typeface="DM Sans"/>
                <a:sym typeface="DM Sans"/>
              </a:rPr>
              <a:t>a compliance issue, not just a reputational one</a:t>
            </a:r>
            <a:r>
              <a:rPr b="0" i="0" lang="en-US" sz="1700" u="none" cap="none" strike="noStrike">
                <a:solidFill>
                  <a:srgbClr val="1E1616"/>
                </a:solidFill>
                <a:latin typeface="DM Sans"/>
                <a:ea typeface="DM Sans"/>
                <a:cs typeface="DM Sans"/>
                <a:sym typeface="DM Sans"/>
              </a:rPr>
              <a:t>.</a:t>
            </a:r>
            <a:endParaRPr b="0" i="0" sz="1700" u="none" cap="none" strike="noStrike">
              <a:solidFill>
                <a:schemeClr val="dk1"/>
              </a:solidFill>
              <a:latin typeface="DM Sans"/>
              <a:ea typeface="DM Sans"/>
              <a:cs typeface="DM Sans"/>
              <a:sym typeface="DM Sans"/>
            </a:endParaRPr>
          </a:p>
        </p:txBody>
      </p:sp>
      <p:sp>
        <p:nvSpPr>
          <p:cNvPr id="352" name="Google Shape;352;p34"/>
          <p:cNvSpPr/>
          <p:nvPr/>
        </p:nvSpPr>
        <p:spPr>
          <a:xfrm>
            <a:off x="812800" y="3854180"/>
            <a:ext cx="10883400" cy="608400"/>
          </a:xfrm>
          <a:prstGeom prst="rect">
            <a:avLst/>
          </a:prstGeom>
          <a:noFill/>
          <a:ln>
            <a:noFill/>
          </a:ln>
        </p:spPr>
        <p:txBody>
          <a:bodyPr anchorCtr="0" anchor="t" bIns="0" lIns="0" spcFirstLastPara="1" rIns="0" wrap="square" tIns="0">
            <a:noAutofit/>
          </a:bodyPr>
          <a:lstStyle/>
          <a:p>
            <a:pPr indent="0" lvl="0" marL="0" marR="0" rtl="0" algn="just">
              <a:lnSpc>
                <a:spcPct val="135000"/>
              </a:lnSpc>
              <a:spcBef>
                <a:spcPts val="0"/>
              </a:spcBef>
              <a:spcAft>
                <a:spcPts val="0"/>
              </a:spcAft>
              <a:buClr>
                <a:srgbClr val="B3202D"/>
              </a:buClr>
              <a:buSzPts val="1700"/>
              <a:buFont typeface="DM Sans"/>
              <a:buNone/>
            </a:pPr>
            <a:r>
              <a:rPr b="1" i="0" lang="en-US" sz="1700" u="none" cap="none" strike="noStrike">
                <a:solidFill>
                  <a:srgbClr val="B3202D"/>
                </a:solidFill>
                <a:latin typeface="DM Sans"/>
                <a:ea typeface="DM Sans"/>
                <a:cs typeface="DM Sans"/>
                <a:sym typeface="DM Sans"/>
              </a:rPr>
              <a:t>Scope 3 emissions are unmeasured</a:t>
            </a:r>
            <a:r>
              <a:rPr b="0" i="0" lang="en-US" sz="1700" u="none" cap="none" strike="noStrike">
                <a:solidFill>
                  <a:srgbClr val="1E1616"/>
                </a:solidFill>
                <a:latin typeface="DM Sans"/>
                <a:ea typeface="DM Sans"/>
                <a:cs typeface="DM Sans"/>
                <a:sym typeface="DM Sans"/>
              </a:rPr>
              <a:t> and direct emissions rose, so </a:t>
            </a:r>
            <a:r>
              <a:rPr b="1" i="0" lang="en-US" sz="1700" u="none" cap="none" strike="noStrike">
                <a:solidFill>
                  <a:srgbClr val="B3202D"/>
                </a:solidFill>
                <a:latin typeface="DM Sans"/>
                <a:ea typeface="DM Sans"/>
                <a:cs typeface="DM Sans"/>
                <a:sym typeface="DM Sans"/>
              </a:rPr>
              <a:t>promoting the awards risks claiming more than the data supports</a:t>
            </a:r>
            <a:r>
              <a:rPr b="0" i="0" lang="en-US" sz="1700" u="none" cap="none" strike="noStrike">
                <a:solidFill>
                  <a:srgbClr val="1E1616"/>
                </a:solidFill>
                <a:latin typeface="DM Sans"/>
                <a:ea typeface="DM Sans"/>
                <a:cs typeface="DM Sans"/>
                <a:sym typeface="DM Sans"/>
              </a:rPr>
              <a:t>.</a:t>
            </a:r>
            <a:endParaRPr b="0" i="0" sz="1700" u="none" cap="none" strike="noStrike">
              <a:solidFill>
                <a:schemeClr val="dk1"/>
              </a:solidFill>
              <a:latin typeface="DM Sans"/>
              <a:ea typeface="DM Sans"/>
              <a:cs typeface="DM Sans"/>
              <a:sym typeface="DM Sans"/>
            </a:endParaRPr>
          </a:p>
        </p:txBody>
      </p:sp>
      <p:sp>
        <p:nvSpPr>
          <p:cNvPr id="353" name="Google Shape;353;p34"/>
          <p:cNvSpPr/>
          <p:nvPr/>
        </p:nvSpPr>
        <p:spPr>
          <a:xfrm>
            <a:off x="812800" y="4815115"/>
            <a:ext cx="10883400" cy="608400"/>
          </a:xfrm>
          <a:prstGeom prst="rect">
            <a:avLst/>
          </a:prstGeom>
          <a:noFill/>
          <a:ln>
            <a:noFill/>
          </a:ln>
        </p:spPr>
        <p:txBody>
          <a:bodyPr anchorCtr="0" anchor="t" bIns="0" lIns="0" spcFirstLastPara="1" rIns="0" wrap="square" tIns="0">
            <a:noAutofit/>
          </a:bodyPr>
          <a:lstStyle/>
          <a:p>
            <a:pPr indent="0" lvl="0" marL="0" marR="0" rtl="0" algn="just">
              <a:lnSpc>
                <a:spcPct val="135000"/>
              </a:lnSpc>
              <a:spcBef>
                <a:spcPts val="0"/>
              </a:spcBef>
              <a:spcAft>
                <a:spcPts val="0"/>
              </a:spcAft>
              <a:buClr>
                <a:srgbClr val="1E1616"/>
              </a:buClr>
              <a:buSzPts val="1700"/>
              <a:buFont typeface="DM Sans"/>
              <a:buNone/>
            </a:pPr>
            <a:r>
              <a:rPr b="0" i="0" lang="en-US" sz="1700" u="none" cap="none" strike="noStrike">
                <a:solidFill>
                  <a:srgbClr val="1E1616"/>
                </a:solidFill>
                <a:latin typeface="DM Sans"/>
                <a:ea typeface="DM Sans"/>
                <a:cs typeface="DM Sans"/>
                <a:sym typeface="DM Sans"/>
              </a:rPr>
              <a:t>Any plan must </a:t>
            </a:r>
            <a:r>
              <a:rPr b="1" i="0" lang="en-US" sz="1700" u="none" cap="none" strike="noStrike">
                <a:solidFill>
                  <a:srgbClr val="B3202D"/>
                </a:solidFill>
                <a:latin typeface="DM Sans"/>
                <a:ea typeface="DM Sans"/>
                <a:cs typeface="DM Sans"/>
                <a:sym typeface="DM Sans"/>
              </a:rPr>
              <a:t>fit Merit's margin and cash targets</a:t>
            </a:r>
            <a:r>
              <a:rPr b="0" i="0" lang="en-US" sz="1700" u="none" cap="none" strike="noStrike">
                <a:solidFill>
                  <a:srgbClr val="1E1616"/>
                </a:solidFill>
                <a:latin typeface="DM Sans"/>
                <a:ea typeface="DM Sans"/>
                <a:cs typeface="DM Sans"/>
                <a:sym typeface="DM Sans"/>
              </a:rPr>
              <a:t> without straining the </a:t>
            </a:r>
            <a:r>
              <a:rPr b="1" i="0" lang="en-US" sz="1700" u="none" cap="none" strike="noStrike">
                <a:solidFill>
                  <a:srgbClr val="B3202D"/>
                </a:solidFill>
                <a:latin typeface="DM Sans"/>
                <a:ea typeface="DM Sans"/>
                <a:cs typeface="DM Sans"/>
                <a:sym typeface="DM Sans"/>
              </a:rPr>
              <a:t>hard-to-replace suppliers that patients depend on</a:t>
            </a:r>
            <a:r>
              <a:rPr b="0" i="0" lang="en-US" sz="1700" u="none" cap="none" strike="noStrike">
                <a:solidFill>
                  <a:srgbClr val="1E1616"/>
                </a:solidFill>
                <a:latin typeface="DM Sans"/>
                <a:ea typeface="DM Sans"/>
                <a:cs typeface="DM Sans"/>
                <a:sym typeface="DM Sans"/>
              </a:rPr>
              <a:t>.</a:t>
            </a:r>
            <a:endParaRPr b="0" i="0" sz="1700" u="none" cap="none" strike="noStrike">
              <a:solidFill>
                <a:schemeClr val="dk1"/>
              </a:solidFill>
              <a:latin typeface="DM Sans"/>
              <a:ea typeface="DM Sans"/>
              <a:cs typeface="DM Sans"/>
              <a:sym typeface="DM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E1019"/>
        </a:solidFill>
      </p:bgPr>
    </p:bg>
    <p:spTree>
      <p:nvGrpSpPr>
        <p:cNvPr id="358" name="Shape 358"/>
        <p:cNvGrpSpPr/>
        <p:nvPr/>
      </p:nvGrpSpPr>
      <p:grpSpPr>
        <a:xfrm>
          <a:off x="0" y="0"/>
          <a:ext cx="0" cy="0"/>
          <a:chOff x="0" y="0"/>
          <a:chExt cx="0" cy="0"/>
        </a:xfrm>
      </p:grpSpPr>
      <p:sp>
        <p:nvSpPr>
          <p:cNvPr id="359" name="Google Shape;359;p35"/>
          <p:cNvSpPr txBox="1"/>
          <p:nvPr>
            <p:ph type="title"/>
          </p:nvPr>
        </p:nvSpPr>
        <p:spPr>
          <a:xfrm>
            <a:off x="3249300" y="1631064"/>
            <a:ext cx="5693400" cy="736500"/>
          </a:xfrm>
          <a:prstGeom prst="rect">
            <a:avLst/>
          </a:prstGeom>
          <a:noFill/>
          <a:ln>
            <a:noFill/>
          </a:ln>
        </p:spPr>
        <p:txBody>
          <a:bodyPr anchorCtr="0" anchor="t" bIns="0" lIns="0" spcFirstLastPara="1" rIns="0" wrap="square" tIns="0">
            <a:normAutofit fontScale="90000"/>
          </a:bodyPr>
          <a:lstStyle/>
          <a:p>
            <a:pPr indent="0" lvl="0" marL="0" rtl="0" algn="ctr">
              <a:lnSpc>
                <a:spcPct val="100000"/>
              </a:lnSpc>
              <a:spcBef>
                <a:spcPts val="0"/>
              </a:spcBef>
              <a:spcAft>
                <a:spcPts val="0"/>
              </a:spcAft>
              <a:buClr>
                <a:srgbClr val="F7ECE8"/>
              </a:buClr>
              <a:buSzPct val="100000"/>
              <a:buFont typeface="Archivo"/>
              <a:buNone/>
            </a:pPr>
            <a:r>
              <a:rPr b="1" i="0" lang="en-US" sz="5600">
                <a:solidFill>
                  <a:srgbClr val="F7ECE8"/>
                </a:solidFill>
                <a:latin typeface="Archivo"/>
                <a:ea typeface="Archivo"/>
                <a:cs typeface="Archivo"/>
                <a:sym typeface="Archivo"/>
              </a:rPr>
              <a:t>Key Question</a:t>
            </a:r>
            <a:endParaRPr sz="5600"/>
          </a:p>
        </p:txBody>
      </p:sp>
      <p:sp>
        <p:nvSpPr>
          <p:cNvPr id="360" name="Google Shape;360;p35"/>
          <p:cNvSpPr/>
          <p:nvPr/>
        </p:nvSpPr>
        <p:spPr>
          <a:xfrm>
            <a:off x="654304" y="2639089"/>
            <a:ext cx="10883400" cy="15798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F7ECE8"/>
              </a:buClr>
              <a:buSzPts val="3400"/>
              <a:buFont typeface="DM Sans"/>
              <a:buNone/>
            </a:pPr>
            <a:r>
              <a:rPr b="0" i="0" lang="en-US" sz="3400" u="none" cap="none" strike="noStrike">
                <a:solidFill>
                  <a:srgbClr val="F7ECE8"/>
                </a:solidFill>
                <a:latin typeface="DM Sans"/>
                <a:ea typeface="DM Sans"/>
                <a:cs typeface="DM Sans"/>
                <a:sym typeface="DM Sans"/>
              </a:rPr>
              <a:t>What </a:t>
            </a:r>
            <a:r>
              <a:rPr b="1" i="0" lang="en-US" sz="3400" u="none" cap="none" strike="noStrike">
                <a:solidFill>
                  <a:srgbClr val="F2C4C0"/>
                </a:solidFill>
                <a:latin typeface="DM Sans"/>
                <a:ea typeface="DM Sans"/>
                <a:cs typeface="DM Sans"/>
                <a:sym typeface="DM Sans"/>
              </a:rPr>
              <a:t>supplier sustainability strategy</a:t>
            </a:r>
            <a:r>
              <a:rPr b="0" i="0" lang="en-US" sz="3400" u="none" cap="none" strike="noStrike">
                <a:solidFill>
                  <a:srgbClr val="F7ECE8"/>
                </a:solidFill>
                <a:latin typeface="DM Sans"/>
                <a:ea typeface="DM Sans"/>
                <a:cs typeface="DM Sans"/>
                <a:sym typeface="DM Sans"/>
              </a:rPr>
              <a:t> should Merit adopt to build </a:t>
            </a:r>
            <a:r>
              <a:rPr b="1" i="0" lang="en-US" sz="3400" u="none" cap="none" strike="noStrike">
                <a:solidFill>
                  <a:srgbClr val="F2C4C0"/>
                </a:solidFill>
                <a:latin typeface="DM Sans"/>
                <a:ea typeface="DM Sans"/>
                <a:cs typeface="DM Sans"/>
                <a:sym typeface="DM Sans"/>
              </a:rPr>
              <a:t>credible, verifiable data</a:t>
            </a:r>
            <a:r>
              <a:rPr b="0" i="0" lang="en-US" sz="3400" u="none" cap="none" strike="noStrike">
                <a:solidFill>
                  <a:srgbClr val="F7ECE8"/>
                </a:solidFill>
                <a:latin typeface="DM Sans"/>
                <a:ea typeface="DM Sans"/>
                <a:cs typeface="DM Sans"/>
                <a:sym typeface="DM Sans"/>
              </a:rPr>
              <a:t> while </a:t>
            </a:r>
            <a:r>
              <a:rPr b="1" i="0" lang="en-US" sz="3400" u="none" cap="none" strike="noStrike">
                <a:solidFill>
                  <a:srgbClr val="F2C4C0"/>
                </a:solidFill>
                <a:latin typeface="DM Sans"/>
                <a:ea typeface="DM Sans"/>
                <a:cs typeface="DM Sans"/>
                <a:sym typeface="DM Sans"/>
              </a:rPr>
              <a:t>strengthening the suppliers patients depend on?</a:t>
            </a:r>
            <a:endParaRPr b="0" i="0" sz="3400" u="none" cap="none" strike="noStrike">
              <a:solidFill>
                <a:schemeClr val="dk1"/>
              </a:solidFill>
              <a:latin typeface="DM Sans"/>
              <a:ea typeface="DM Sans"/>
              <a:cs typeface="DM Sans"/>
              <a:sym typeface="DM Sans"/>
            </a:endParaRPr>
          </a:p>
        </p:txBody>
      </p:sp>
      <p:sp>
        <p:nvSpPr>
          <p:cNvPr id="361" name="Google Shape;361;p35"/>
          <p:cNvSpPr/>
          <p:nvPr/>
        </p:nvSpPr>
        <p:spPr>
          <a:xfrm>
            <a:off x="812850" y="4771950"/>
            <a:ext cx="10566300" cy="25500"/>
          </a:xfrm>
          <a:prstGeom prst="rect">
            <a:avLst/>
          </a:prstGeom>
          <a:solidFill>
            <a:srgbClr val="E070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EDE6"/>
        </a:solidFill>
      </p:bgPr>
    </p:bg>
    <p:spTree>
      <p:nvGrpSpPr>
        <p:cNvPr id="366" name="Shape 366"/>
        <p:cNvGrpSpPr/>
        <p:nvPr/>
      </p:nvGrpSpPr>
      <p:grpSpPr>
        <a:xfrm>
          <a:off x="0" y="0"/>
          <a:ext cx="0" cy="0"/>
          <a:chOff x="0" y="0"/>
          <a:chExt cx="0" cy="0"/>
        </a:xfrm>
      </p:grpSpPr>
      <p:sp>
        <p:nvSpPr>
          <p:cNvPr id="367" name="Google Shape;367;p36"/>
          <p:cNvSpPr txBox="1"/>
          <p:nvPr/>
        </p:nvSpPr>
        <p:spPr>
          <a:xfrm>
            <a:off x="792454" y="1422470"/>
            <a:ext cx="10607100" cy="1169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800" u="none" cap="none" strike="noStrike">
                <a:solidFill>
                  <a:srgbClr val="B3202D"/>
                </a:solidFill>
                <a:latin typeface="Archivo"/>
                <a:ea typeface="Archivo"/>
                <a:cs typeface="Archivo"/>
                <a:sym typeface="Archivo"/>
              </a:rPr>
              <a:t>What supplier sustainability strategy should Merit adopt to…</a:t>
            </a:r>
            <a:endParaRPr/>
          </a:p>
        </p:txBody>
      </p:sp>
      <p:sp>
        <p:nvSpPr>
          <p:cNvPr id="368" name="Google Shape;368;p36"/>
          <p:cNvSpPr txBox="1"/>
          <p:nvPr/>
        </p:nvSpPr>
        <p:spPr>
          <a:xfrm>
            <a:off x="813816" y="3246120"/>
            <a:ext cx="3154679" cy="164592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US" sz="2400" u="none" cap="none" strike="noStrike">
                <a:solidFill>
                  <a:srgbClr val="1E1616"/>
                </a:solidFill>
                <a:latin typeface="Archivo"/>
                <a:ea typeface="Archivo"/>
                <a:cs typeface="Archivo"/>
                <a:sym typeface="Archivo"/>
              </a:rPr>
              <a:t>build</a:t>
            </a:r>
            <a:r>
              <a:rPr b="0" i="0" lang="en-US" sz="1900" u="none" cap="none" strike="noStrike">
                <a:solidFill>
                  <a:srgbClr val="4A3B3B"/>
                </a:solidFill>
                <a:latin typeface="DM Sans"/>
                <a:ea typeface="DM Sans"/>
                <a:cs typeface="DM Sans"/>
                <a:sym typeface="DM Sans"/>
              </a:rPr>
              <a:t> </a:t>
            </a:r>
            <a:r>
              <a:rPr b="1" i="0" lang="en-US" sz="1900" u="none" cap="none" strike="noStrike">
                <a:solidFill>
                  <a:srgbClr val="B3202D"/>
                </a:solidFill>
                <a:latin typeface="DM Sans"/>
                <a:ea typeface="DM Sans"/>
                <a:cs typeface="DM Sans"/>
                <a:sym typeface="DM Sans"/>
              </a:rPr>
              <a:t>credible, verifiable</a:t>
            </a:r>
            <a:r>
              <a:rPr b="0" i="0" lang="en-US" sz="1900" u="none" cap="none" strike="noStrike">
                <a:solidFill>
                  <a:srgbClr val="4A3B3B"/>
                </a:solidFill>
                <a:latin typeface="DM Sans"/>
                <a:ea typeface="DM Sans"/>
                <a:cs typeface="DM Sans"/>
                <a:sym typeface="DM Sans"/>
              </a:rPr>
              <a:t> sustainability data across its global supply base,</a:t>
            </a:r>
            <a:endParaRPr/>
          </a:p>
        </p:txBody>
      </p:sp>
      <p:cxnSp>
        <p:nvCxnSpPr>
          <p:cNvPr id="369" name="Google Shape;369;p36"/>
          <p:cNvCxnSpPr/>
          <p:nvPr/>
        </p:nvCxnSpPr>
        <p:spPr>
          <a:xfrm>
            <a:off x="4242816" y="2834639"/>
            <a:ext cx="0" cy="1920240"/>
          </a:xfrm>
          <a:prstGeom prst="straightConnector1">
            <a:avLst/>
          </a:prstGeom>
          <a:noFill/>
          <a:ln cap="flat" cmpd="sng" w="12700">
            <a:solidFill>
              <a:srgbClr val="CDBFB8"/>
            </a:solidFill>
            <a:prstDash val="solid"/>
            <a:round/>
            <a:headEnd len="sm" w="sm" type="none"/>
            <a:tailEnd len="sm" w="sm" type="none"/>
          </a:ln>
        </p:spPr>
      </p:cxnSp>
      <p:sp>
        <p:nvSpPr>
          <p:cNvPr id="370" name="Google Shape;370;p36"/>
          <p:cNvSpPr txBox="1"/>
          <p:nvPr/>
        </p:nvSpPr>
        <p:spPr>
          <a:xfrm>
            <a:off x="4517136" y="3246120"/>
            <a:ext cx="3154679" cy="164592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US" sz="2400" u="none" cap="none" strike="noStrike">
                <a:solidFill>
                  <a:srgbClr val="1E1616"/>
                </a:solidFill>
                <a:latin typeface="Archivo"/>
                <a:ea typeface="Archivo"/>
                <a:cs typeface="Archivo"/>
                <a:sym typeface="Archivo"/>
              </a:rPr>
              <a:t>strengthen</a:t>
            </a:r>
            <a:r>
              <a:rPr b="0" i="0" lang="en-US" sz="1900" u="none" cap="none" strike="noStrike">
                <a:solidFill>
                  <a:srgbClr val="4A3B3B"/>
                </a:solidFill>
                <a:latin typeface="DM Sans"/>
                <a:ea typeface="DM Sans"/>
                <a:cs typeface="DM Sans"/>
                <a:sym typeface="DM Sans"/>
              </a:rPr>
              <a:t> the supplier relationships </a:t>
            </a:r>
            <a:r>
              <a:rPr b="1" i="0" lang="en-US" sz="1900" u="none" cap="none" strike="noStrike">
                <a:solidFill>
                  <a:srgbClr val="B3202D"/>
                </a:solidFill>
                <a:latin typeface="DM Sans"/>
                <a:ea typeface="DM Sans"/>
                <a:cs typeface="DM Sans"/>
                <a:sym typeface="DM Sans"/>
              </a:rPr>
              <a:t>patients</a:t>
            </a:r>
            <a:r>
              <a:rPr b="0" i="0" lang="en-US" sz="1900" u="none" cap="none" strike="noStrike">
                <a:solidFill>
                  <a:srgbClr val="4A3B3B"/>
                </a:solidFill>
                <a:latin typeface="DM Sans"/>
                <a:ea typeface="DM Sans"/>
                <a:cs typeface="DM Sans"/>
                <a:sym typeface="DM Sans"/>
              </a:rPr>
              <a:t> depend on,</a:t>
            </a:r>
            <a:endParaRPr/>
          </a:p>
        </p:txBody>
      </p:sp>
      <p:cxnSp>
        <p:nvCxnSpPr>
          <p:cNvPr id="371" name="Google Shape;371;p36"/>
          <p:cNvCxnSpPr/>
          <p:nvPr/>
        </p:nvCxnSpPr>
        <p:spPr>
          <a:xfrm>
            <a:off x="7946136" y="2834639"/>
            <a:ext cx="0" cy="1920240"/>
          </a:xfrm>
          <a:prstGeom prst="straightConnector1">
            <a:avLst/>
          </a:prstGeom>
          <a:noFill/>
          <a:ln cap="flat" cmpd="sng" w="12700">
            <a:solidFill>
              <a:srgbClr val="CDBFB8"/>
            </a:solidFill>
            <a:prstDash val="solid"/>
            <a:round/>
            <a:headEnd len="sm" w="sm" type="none"/>
            <a:tailEnd len="sm" w="sm" type="none"/>
          </a:ln>
        </p:spPr>
      </p:cxnSp>
      <p:sp>
        <p:nvSpPr>
          <p:cNvPr id="372" name="Google Shape;372;p36"/>
          <p:cNvSpPr txBox="1"/>
          <p:nvPr/>
        </p:nvSpPr>
        <p:spPr>
          <a:xfrm>
            <a:off x="8220456" y="3246120"/>
            <a:ext cx="3154679" cy="164592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US" sz="2400" u="none" cap="none" strike="noStrike">
                <a:solidFill>
                  <a:srgbClr val="1E1616"/>
                </a:solidFill>
                <a:latin typeface="Archivo"/>
                <a:ea typeface="Archivo"/>
                <a:cs typeface="Archivo"/>
                <a:sym typeface="Archivo"/>
              </a:rPr>
              <a:t>and turn</a:t>
            </a:r>
            <a:r>
              <a:rPr b="0" i="0" lang="en-US" sz="1900" u="none" cap="none" strike="noStrike">
                <a:solidFill>
                  <a:srgbClr val="4A3B3B"/>
                </a:solidFill>
                <a:latin typeface="DM Sans"/>
                <a:ea typeface="DM Sans"/>
                <a:cs typeface="DM Sans"/>
                <a:sym typeface="DM Sans"/>
              </a:rPr>
              <a:t> that progress into </a:t>
            </a:r>
            <a:r>
              <a:rPr b="1" i="0" lang="en-US" sz="1900" u="none" cap="none" strike="noStrike">
                <a:solidFill>
                  <a:srgbClr val="B3202D"/>
                </a:solidFill>
                <a:latin typeface="DM Sans"/>
                <a:ea typeface="DM Sans"/>
                <a:cs typeface="DM Sans"/>
                <a:sym typeface="DM Sans"/>
              </a:rPr>
              <a:t>trust and competitive advantage</a:t>
            </a:r>
            <a:r>
              <a:rPr b="0" i="0" lang="en-US" sz="1900" u="none" cap="none" strike="noStrike">
                <a:solidFill>
                  <a:srgbClr val="4A3B3B"/>
                </a:solidFill>
                <a:latin typeface="DM Sans"/>
                <a:ea typeface="DM Sans"/>
                <a:cs typeface="DM Sans"/>
                <a:sym typeface="DM Sans"/>
              </a:rPr>
              <a:t> with customers, investors, and employees,</a:t>
            </a:r>
            <a:endParaRPr/>
          </a:p>
        </p:txBody>
      </p:sp>
      <p:sp>
        <p:nvSpPr>
          <p:cNvPr id="373" name="Google Shape;373;p36"/>
          <p:cNvSpPr/>
          <p:nvPr/>
        </p:nvSpPr>
        <p:spPr>
          <a:xfrm>
            <a:off x="813816" y="5166360"/>
            <a:ext cx="10561319" cy="731520"/>
          </a:xfrm>
          <a:prstGeom prst="roundRect">
            <a:avLst>
              <a:gd fmla="val 25000" name="adj"/>
            </a:avLst>
          </a:prstGeom>
          <a:solidFill>
            <a:srgbClr val="E6DCD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4" name="Google Shape;374;p36"/>
          <p:cNvSpPr txBox="1"/>
          <p:nvPr/>
        </p:nvSpPr>
        <p:spPr>
          <a:xfrm>
            <a:off x="1179576" y="5166360"/>
            <a:ext cx="9829799" cy="73152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2000" u="none" cap="none" strike="noStrike">
                <a:solidFill>
                  <a:srgbClr val="1E1616"/>
                </a:solidFill>
                <a:latin typeface="Archivo"/>
                <a:ea typeface="Archivo"/>
                <a:cs typeface="Archivo"/>
                <a:sym typeface="Archivo"/>
              </a:rPr>
              <a:t>…in a way that reflects </a:t>
            </a:r>
            <a:r>
              <a:rPr b="1" i="0" lang="en-US" sz="2000" u="none" cap="none" strike="noStrike">
                <a:solidFill>
                  <a:srgbClr val="B3202D"/>
                </a:solidFill>
                <a:latin typeface="Archivo"/>
                <a:ea typeface="Archivo"/>
                <a:cs typeface="Archivo"/>
                <a:sym typeface="Archivo"/>
              </a:rPr>
              <a:t>Merit's values</a:t>
            </a:r>
            <a:r>
              <a:rPr b="0" i="0" lang="en-US" sz="2000" u="none" cap="none" strike="noStrike">
                <a:solidFill>
                  <a:srgbClr val="1E1616"/>
                </a:solidFill>
                <a:latin typeface="Archivo"/>
                <a:ea typeface="Archivo"/>
                <a:cs typeface="Archivo"/>
                <a:sym typeface="Archivo"/>
              </a:rPr>
              <a:t> and fits its </a:t>
            </a:r>
            <a:r>
              <a:rPr b="1" i="0" lang="en-US" sz="2000" u="none" cap="none" strike="noStrike">
                <a:solidFill>
                  <a:srgbClr val="B3202D"/>
                </a:solidFill>
                <a:latin typeface="Archivo"/>
                <a:ea typeface="Archivo"/>
                <a:cs typeface="Archivo"/>
                <a:sym typeface="Archivo"/>
              </a:rPr>
              <a:t>financial commitments</a:t>
            </a:r>
            <a:r>
              <a:rPr b="0" i="0" lang="en-US" sz="2000" u="none" cap="none" strike="noStrike">
                <a:solidFill>
                  <a:srgbClr val="1E1616"/>
                </a:solidFill>
                <a:latin typeface="Archivo"/>
                <a:ea typeface="Archivo"/>
                <a:cs typeface="Archivo"/>
                <a:sym typeface="Archivo"/>
              </a:rPr>
              <a: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3202D"/>
        </a:solidFill>
      </p:bgPr>
    </p:bg>
    <p:spTree>
      <p:nvGrpSpPr>
        <p:cNvPr id="378" name="Shape 378"/>
        <p:cNvGrpSpPr/>
        <p:nvPr/>
      </p:nvGrpSpPr>
      <p:grpSpPr>
        <a:xfrm>
          <a:off x="0" y="0"/>
          <a:ext cx="0" cy="0"/>
          <a:chOff x="0" y="0"/>
          <a:chExt cx="0" cy="0"/>
        </a:xfrm>
      </p:grpSpPr>
      <p:cxnSp>
        <p:nvCxnSpPr>
          <p:cNvPr id="379" name="Google Shape;379;p37"/>
          <p:cNvCxnSpPr/>
          <p:nvPr/>
        </p:nvCxnSpPr>
        <p:spPr>
          <a:xfrm>
            <a:off x="815341" y="5692938"/>
            <a:ext cx="10561200" cy="0"/>
          </a:xfrm>
          <a:prstGeom prst="straightConnector1">
            <a:avLst/>
          </a:prstGeom>
          <a:noFill/>
          <a:ln cap="flat" cmpd="sng" w="12700">
            <a:solidFill>
              <a:srgbClr val="F2C4C0"/>
            </a:solidFill>
            <a:prstDash val="solid"/>
            <a:round/>
            <a:headEnd len="sm" w="sm" type="none"/>
            <a:tailEnd len="sm" w="sm" type="none"/>
          </a:ln>
        </p:spPr>
      </p:cxnSp>
      <p:sp>
        <p:nvSpPr>
          <p:cNvPr id="380" name="Google Shape;380;p37"/>
          <p:cNvSpPr txBox="1"/>
          <p:nvPr/>
        </p:nvSpPr>
        <p:spPr>
          <a:xfrm>
            <a:off x="815341" y="3365470"/>
            <a:ext cx="7498200" cy="19671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i="0" lang="en-US" sz="7100" u="none" cap="none" strike="noStrike">
                <a:solidFill>
                  <a:srgbClr val="FFFFFF"/>
                </a:solidFill>
                <a:latin typeface="Archivo"/>
                <a:ea typeface="Archivo"/>
                <a:cs typeface="Archivo"/>
                <a:sym typeface="Archivo"/>
              </a:rPr>
              <a:t>EVALUATION CRITERIA</a:t>
            </a:r>
            <a:endParaRPr sz="4100"/>
          </a:p>
        </p:txBody>
      </p:sp>
      <p:pic>
        <p:nvPicPr>
          <p:cNvPr descr="Ballard Center, BYU Marriott logo" id="381" name="Google Shape;381;p37"/>
          <p:cNvPicPr preferRelativeResize="0"/>
          <p:nvPr/>
        </p:nvPicPr>
        <p:blipFill rotWithShape="1">
          <a:blip r:embed="rId3">
            <a:alphaModFix/>
          </a:blip>
          <a:srcRect b="0" l="0" r="0" t="0"/>
          <a:stretch/>
        </p:blipFill>
        <p:spPr>
          <a:xfrm>
            <a:off x="813816" y="6053328"/>
            <a:ext cx="1400646" cy="384048"/>
          </a:xfrm>
          <a:prstGeom prst="rect">
            <a:avLst/>
          </a:prstGeom>
          <a:noFill/>
          <a:ln>
            <a:noFill/>
          </a:ln>
        </p:spPr>
      </p:pic>
      <p:pic>
        <p:nvPicPr>
          <p:cNvPr descr="Do Good. Better." id="382" name="Google Shape;382;p37"/>
          <p:cNvPicPr preferRelativeResize="0"/>
          <p:nvPr/>
        </p:nvPicPr>
        <p:blipFill rotWithShape="1">
          <a:blip r:embed="rId4">
            <a:alphaModFix/>
          </a:blip>
          <a:srcRect b="0" l="0" r="0" t="0"/>
          <a:stretch/>
        </p:blipFill>
        <p:spPr>
          <a:xfrm>
            <a:off x="8814816" y="6144768"/>
            <a:ext cx="2560320" cy="230982"/>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EDE6"/>
        </a:solidFill>
      </p:bgPr>
    </p:bg>
    <p:spTree>
      <p:nvGrpSpPr>
        <p:cNvPr id="387" name="Shape 387"/>
        <p:cNvGrpSpPr/>
        <p:nvPr/>
      </p:nvGrpSpPr>
      <p:grpSpPr>
        <a:xfrm>
          <a:off x="0" y="0"/>
          <a:ext cx="0" cy="0"/>
          <a:chOff x="0" y="0"/>
          <a:chExt cx="0" cy="0"/>
        </a:xfrm>
      </p:grpSpPr>
      <p:sp>
        <p:nvSpPr>
          <p:cNvPr id="388" name="Google Shape;388;p38"/>
          <p:cNvSpPr txBox="1"/>
          <p:nvPr/>
        </p:nvSpPr>
        <p:spPr>
          <a:xfrm>
            <a:off x="813816" y="1143000"/>
            <a:ext cx="10607040" cy="73152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i="0" lang="en-US" sz="5400" u="none" cap="none" strike="noStrike">
                <a:solidFill>
                  <a:srgbClr val="B3202D"/>
                </a:solidFill>
                <a:latin typeface="Archivo"/>
                <a:ea typeface="Archivo"/>
                <a:cs typeface="Archivo"/>
                <a:sym typeface="Archivo"/>
              </a:rPr>
              <a:t>HOW YOU'RE JUDGED</a:t>
            </a:r>
            <a:endParaRPr/>
          </a:p>
        </p:txBody>
      </p:sp>
      <p:cxnSp>
        <p:nvCxnSpPr>
          <p:cNvPr id="389" name="Google Shape;389;p38"/>
          <p:cNvCxnSpPr/>
          <p:nvPr/>
        </p:nvCxnSpPr>
        <p:spPr>
          <a:xfrm>
            <a:off x="813816" y="2148840"/>
            <a:ext cx="5006339" cy="0"/>
          </a:xfrm>
          <a:prstGeom prst="straightConnector1">
            <a:avLst/>
          </a:prstGeom>
          <a:noFill/>
          <a:ln cap="flat" cmpd="sng" w="19050">
            <a:solidFill>
              <a:srgbClr val="B3202D"/>
            </a:solidFill>
            <a:prstDash val="solid"/>
            <a:round/>
            <a:headEnd len="sm" w="sm" type="none"/>
            <a:tailEnd len="sm" w="sm" type="none"/>
          </a:ln>
        </p:spPr>
      </p:cxnSp>
      <p:sp>
        <p:nvSpPr>
          <p:cNvPr id="390" name="Google Shape;390;p38"/>
          <p:cNvSpPr txBox="1"/>
          <p:nvPr/>
        </p:nvSpPr>
        <p:spPr>
          <a:xfrm>
            <a:off x="813816" y="2331720"/>
            <a:ext cx="822960" cy="73152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i="0" lang="en-US" sz="4400" u="none" cap="none" strike="noStrike">
                <a:solidFill>
                  <a:srgbClr val="B3202D"/>
                </a:solidFill>
                <a:latin typeface="Archivo"/>
                <a:ea typeface="Archivo"/>
                <a:cs typeface="Archivo"/>
                <a:sym typeface="Archivo"/>
              </a:rPr>
              <a:t>1</a:t>
            </a:r>
            <a:endParaRPr/>
          </a:p>
        </p:txBody>
      </p:sp>
      <p:sp>
        <p:nvSpPr>
          <p:cNvPr id="391" name="Google Shape;391;p38"/>
          <p:cNvSpPr txBox="1"/>
          <p:nvPr/>
        </p:nvSpPr>
        <p:spPr>
          <a:xfrm>
            <a:off x="1636776" y="2331720"/>
            <a:ext cx="4183379"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900" u="none" cap="none" strike="noStrike">
                <a:solidFill>
                  <a:srgbClr val="1E1616"/>
                </a:solidFill>
                <a:latin typeface="Archivo"/>
                <a:ea typeface="Archivo"/>
                <a:cs typeface="Archivo"/>
                <a:sym typeface="Archivo"/>
              </a:rPr>
              <a:t>Strategic rationale &amp; fit</a:t>
            </a:r>
            <a:endParaRPr/>
          </a:p>
        </p:txBody>
      </p:sp>
      <p:sp>
        <p:nvSpPr>
          <p:cNvPr id="392" name="Google Shape;392;p38"/>
          <p:cNvSpPr txBox="1"/>
          <p:nvPr/>
        </p:nvSpPr>
        <p:spPr>
          <a:xfrm>
            <a:off x="1636776" y="2715768"/>
            <a:ext cx="4183379" cy="685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1300" u="none" cap="none" strike="noStrike">
                <a:solidFill>
                  <a:srgbClr val="4A3B3B"/>
                </a:solidFill>
                <a:latin typeface="DM Sans"/>
                <a:ea typeface="DM Sans"/>
                <a:cs typeface="DM Sans"/>
                <a:sym typeface="DM Sans"/>
              </a:rPr>
              <a:t>A clear, defended choice that advances Merit's top goal and reflects its vision, HEART values and financial commitments</a:t>
            </a:r>
            <a:endParaRPr/>
          </a:p>
        </p:txBody>
      </p:sp>
      <p:cxnSp>
        <p:nvCxnSpPr>
          <p:cNvPr id="393" name="Google Shape;393;p38"/>
          <p:cNvCxnSpPr/>
          <p:nvPr/>
        </p:nvCxnSpPr>
        <p:spPr>
          <a:xfrm>
            <a:off x="813816" y="3447288"/>
            <a:ext cx="5006339" cy="0"/>
          </a:xfrm>
          <a:prstGeom prst="straightConnector1">
            <a:avLst/>
          </a:prstGeom>
          <a:noFill/>
          <a:ln cap="flat" cmpd="sng" w="9525">
            <a:solidFill>
              <a:srgbClr val="CDBFB8"/>
            </a:solidFill>
            <a:prstDash val="solid"/>
            <a:round/>
            <a:headEnd len="sm" w="sm" type="none"/>
            <a:tailEnd len="sm" w="sm" type="none"/>
          </a:ln>
        </p:spPr>
      </p:cxnSp>
      <p:sp>
        <p:nvSpPr>
          <p:cNvPr id="394" name="Google Shape;394;p38"/>
          <p:cNvSpPr txBox="1"/>
          <p:nvPr/>
        </p:nvSpPr>
        <p:spPr>
          <a:xfrm>
            <a:off x="813816" y="3630168"/>
            <a:ext cx="822960" cy="73152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i="0" lang="en-US" sz="4400" u="none" cap="none" strike="noStrike">
                <a:solidFill>
                  <a:srgbClr val="B3202D"/>
                </a:solidFill>
                <a:latin typeface="Archivo"/>
                <a:ea typeface="Archivo"/>
                <a:cs typeface="Archivo"/>
                <a:sym typeface="Archivo"/>
              </a:rPr>
              <a:t>2</a:t>
            </a:r>
            <a:endParaRPr/>
          </a:p>
        </p:txBody>
      </p:sp>
      <p:sp>
        <p:nvSpPr>
          <p:cNvPr id="395" name="Google Shape;395;p38"/>
          <p:cNvSpPr txBox="1"/>
          <p:nvPr/>
        </p:nvSpPr>
        <p:spPr>
          <a:xfrm>
            <a:off x="1636776" y="3630168"/>
            <a:ext cx="4183379"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900" u="none" cap="none" strike="noStrike">
                <a:solidFill>
                  <a:srgbClr val="1E1616"/>
                </a:solidFill>
                <a:latin typeface="Archivo"/>
                <a:ea typeface="Archivo"/>
                <a:cs typeface="Archivo"/>
                <a:sym typeface="Archivo"/>
              </a:rPr>
              <a:t>Feasibility &amp; scalability</a:t>
            </a:r>
            <a:endParaRPr/>
          </a:p>
        </p:txBody>
      </p:sp>
      <p:sp>
        <p:nvSpPr>
          <p:cNvPr id="396" name="Google Shape;396;p38"/>
          <p:cNvSpPr txBox="1"/>
          <p:nvPr/>
        </p:nvSpPr>
        <p:spPr>
          <a:xfrm>
            <a:off x="1636776" y="4014215"/>
            <a:ext cx="4183379" cy="685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1300" u="none" cap="none" strike="noStrike">
                <a:solidFill>
                  <a:srgbClr val="4A3B3B"/>
                </a:solidFill>
                <a:latin typeface="DM Sans"/>
                <a:ea typeface="DM Sans"/>
                <a:cs typeface="DM Sans"/>
                <a:sym typeface="DM Sans"/>
              </a:rPr>
              <a:t>Realistic strategies Merit could start this year and extend across a global supplier base</a:t>
            </a:r>
            <a:endParaRPr/>
          </a:p>
        </p:txBody>
      </p:sp>
      <p:cxnSp>
        <p:nvCxnSpPr>
          <p:cNvPr id="397" name="Google Shape;397;p38"/>
          <p:cNvCxnSpPr/>
          <p:nvPr/>
        </p:nvCxnSpPr>
        <p:spPr>
          <a:xfrm>
            <a:off x="813816" y="4745736"/>
            <a:ext cx="5006339" cy="0"/>
          </a:xfrm>
          <a:prstGeom prst="straightConnector1">
            <a:avLst/>
          </a:prstGeom>
          <a:noFill/>
          <a:ln cap="flat" cmpd="sng" w="9525">
            <a:solidFill>
              <a:srgbClr val="CDBFB8"/>
            </a:solidFill>
            <a:prstDash val="solid"/>
            <a:round/>
            <a:headEnd len="sm" w="sm" type="none"/>
            <a:tailEnd len="sm" w="sm" type="none"/>
          </a:ln>
        </p:spPr>
      </p:cxnSp>
      <p:sp>
        <p:nvSpPr>
          <p:cNvPr id="398" name="Google Shape;398;p38"/>
          <p:cNvSpPr txBox="1"/>
          <p:nvPr/>
        </p:nvSpPr>
        <p:spPr>
          <a:xfrm>
            <a:off x="813816" y="4928616"/>
            <a:ext cx="822960" cy="73152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i="0" lang="en-US" sz="4400" u="none" cap="none" strike="noStrike">
                <a:solidFill>
                  <a:srgbClr val="B3202D"/>
                </a:solidFill>
                <a:latin typeface="Archivo"/>
                <a:ea typeface="Archivo"/>
                <a:cs typeface="Archivo"/>
                <a:sym typeface="Archivo"/>
              </a:rPr>
              <a:t>3</a:t>
            </a:r>
            <a:endParaRPr/>
          </a:p>
        </p:txBody>
      </p:sp>
      <p:sp>
        <p:nvSpPr>
          <p:cNvPr id="399" name="Google Shape;399;p38"/>
          <p:cNvSpPr txBox="1"/>
          <p:nvPr/>
        </p:nvSpPr>
        <p:spPr>
          <a:xfrm>
            <a:off x="1636776" y="4928616"/>
            <a:ext cx="4183379"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900" u="none" cap="none" strike="noStrike">
                <a:solidFill>
                  <a:srgbClr val="1E1616"/>
                </a:solidFill>
                <a:latin typeface="Archivo"/>
                <a:ea typeface="Archivo"/>
                <a:cs typeface="Archivo"/>
                <a:sym typeface="Archivo"/>
              </a:rPr>
              <a:t>Quantitative rigor</a:t>
            </a:r>
            <a:endParaRPr/>
          </a:p>
        </p:txBody>
      </p:sp>
      <p:sp>
        <p:nvSpPr>
          <p:cNvPr id="400" name="Google Shape;400;p38"/>
          <p:cNvSpPr txBox="1"/>
          <p:nvPr/>
        </p:nvSpPr>
        <p:spPr>
          <a:xfrm>
            <a:off x="1636776" y="5312664"/>
            <a:ext cx="4183379" cy="685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1300" u="none" cap="none" strike="noStrike">
                <a:solidFill>
                  <a:srgbClr val="4A3B3B"/>
                </a:solidFill>
                <a:latin typeface="DM Sans"/>
                <a:ea typeface="DM Sans"/>
                <a:cs typeface="DM Sans"/>
                <a:sym typeface="DM Sans"/>
              </a:rPr>
              <a:t>Recommendations backed by defensible data, with costs, returns and measurable targets</a:t>
            </a:r>
            <a:endParaRPr/>
          </a:p>
        </p:txBody>
      </p:sp>
      <p:cxnSp>
        <p:nvCxnSpPr>
          <p:cNvPr id="401" name="Google Shape;401;p38"/>
          <p:cNvCxnSpPr/>
          <p:nvPr/>
        </p:nvCxnSpPr>
        <p:spPr>
          <a:xfrm>
            <a:off x="6368795" y="2148840"/>
            <a:ext cx="5006340" cy="0"/>
          </a:xfrm>
          <a:prstGeom prst="straightConnector1">
            <a:avLst/>
          </a:prstGeom>
          <a:noFill/>
          <a:ln cap="flat" cmpd="sng" w="9525">
            <a:solidFill>
              <a:srgbClr val="CDBFB8"/>
            </a:solidFill>
            <a:prstDash val="solid"/>
            <a:round/>
            <a:headEnd len="sm" w="sm" type="none"/>
            <a:tailEnd len="sm" w="sm" type="none"/>
          </a:ln>
        </p:spPr>
      </p:cxnSp>
      <p:sp>
        <p:nvSpPr>
          <p:cNvPr id="402" name="Google Shape;402;p38"/>
          <p:cNvSpPr txBox="1"/>
          <p:nvPr/>
        </p:nvSpPr>
        <p:spPr>
          <a:xfrm>
            <a:off x="6368795" y="2331720"/>
            <a:ext cx="822960" cy="73152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i="0" lang="en-US" sz="4400" u="none" cap="none" strike="noStrike">
                <a:solidFill>
                  <a:srgbClr val="C98288"/>
                </a:solidFill>
                <a:latin typeface="Archivo"/>
                <a:ea typeface="Archivo"/>
                <a:cs typeface="Archivo"/>
                <a:sym typeface="Archivo"/>
              </a:rPr>
              <a:t>4</a:t>
            </a:r>
            <a:endParaRPr/>
          </a:p>
        </p:txBody>
      </p:sp>
      <p:sp>
        <p:nvSpPr>
          <p:cNvPr id="403" name="Google Shape;403;p38"/>
          <p:cNvSpPr txBox="1"/>
          <p:nvPr/>
        </p:nvSpPr>
        <p:spPr>
          <a:xfrm>
            <a:off x="7191755" y="2331720"/>
            <a:ext cx="4183379"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900" u="none" cap="none" strike="noStrike">
                <a:solidFill>
                  <a:srgbClr val="1E1616"/>
                </a:solidFill>
                <a:latin typeface="Archivo"/>
                <a:ea typeface="Archivo"/>
                <a:cs typeface="Archivo"/>
                <a:sym typeface="Archivo"/>
              </a:rPr>
              <a:t>Effective social impact</a:t>
            </a:r>
            <a:endParaRPr/>
          </a:p>
        </p:txBody>
      </p:sp>
      <p:sp>
        <p:nvSpPr>
          <p:cNvPr id="404" name="Google Shape;404;p38"/>
          <p:cNvSpPr txBox="1"/>
          <p:nvPr/>
        </p:nvSpPr>
        <p:spPr>
          <a:xfrm>
            <a:off x="7191755" y="2715768"/>
            <a:ext cx="4183379" cy="685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1300" u="none" cap="none" strike="noStrike">
                <a:solidFill>
                  <a:srgbClr val="4A3B3B"/>
                </a:solidFill>
                <a:latin typeface="DM Sans"/>
                <a:ea typeface="DM Sans"/>
                <a:cs typeface="DM Sans"/>
                <a:sym typeface="DM Sans"/>
              </a:rPr>
              <a:t>Better outcomes for suppliers, workers and patients, without pushing out small suppliers or overstating progress</a:t>
            </a:r>
            <a:endParaRPr/>
          </a:p>
        </p:txBody>
      </p:sp>
      <p:cxnSp>
        <p:nvCxnSpPr>
          <p:cNvPr id="405" name="Google Shape;405;p38"/>
          <p:cNvCxnSpPr/>
          <p:nvPr/>
        </p:nvCxnSpPr>
        <p:spPr>
          <a:xfrm>
            <a:off x="6368795" y="3447288"/>
            <a:ext cx="5006340" cy="0"/>
          </a:xfrm>
          <a:prstGeom prst="straightConnector1">
            <a:avLst/>
          </a:prstGeom>
          <a:noFill/>
          <a:ln cap="flat" cmpd="sng" w="9525">
            <a:solidFill>
              <a:srgbClr val="CDBFB8"/>
            </a:solidFill>
            <a:prstDash val="solid"/>
            <a:round/>
            <a:headEnd len="sm" w="sm" type="none"/>
            <a:tailEnd len="sm" w="sm" type="none"/>
          </a:ln>
        </p:spPr>
      </p:cxnSp>
      <p:sp>
        <p:nvSpPr>
          <p:cNvPr id="406" name="Google Shape;406;p38"/>
          <p:cNvSpPr txBox="1"/>
          <p:nvPr/>
        </p:nvSpPr>
        <p:spPr>
          <a:xfrm>
            <a:off x="6368795" y="3630168"/>
            <a:ext cx="822960" cy="73152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i="0" lang="en-US" sz="4400" u="none" cap="none" strike="noStrike">
                <a:solidFill>
                  <a:srgbClr val="C98288"/>
                </a:solidFill>
                <a:latin typeface="Archivo"/>
                <a:ea typeface="Archivo"/>
                <a:cs typeface="Archivo"/>
                <a:sym typeface="Archivo"/>
              </a:rPr>
              <a:t>5</a:t>
            </a:r>
            <a:endParaRPr/>
          </a:p>
        </p:txBody>
      </p:sp>
      <p:sp>
        <p:nvSpPr>
          <p:cNvPr id="407" name="Google Shape;407;p38"/>
          <p:cNvSpPr txBox="1"/>
          <p:nvPr/>
        </p:nvSpPr>
        <p:spPr>
          <a:xfrm>
            <a:off x="7191755" y="3630168"/>
            <a:ext cx="4183379"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900" u="none" cap="none" strike="noStrike">
                <a:solidFill>
                  <a:srgbClr val="1E1616"/>
                </a:solidFill>
                <a:latin typeface="Archivo"/>
                <a:ea typeface="Archivo"/>
                <a:cs typeface="Archivo"/>
                <a:sym typeface="Archivo"/>
              </a:rPr>
              <a:t>Operational considerations</a:t>
            </a:r>
            <a:endParaRPr/>
          </a:p>
        </p:txBody>
      </p:sp>
      <p:sp>
        <p:nvSpPr>
          <p:cNvPr id="408" name="Google Shape;408;p38"/>
          <p:cNvSpPr txBox="1"/>
          <p:nvPr/>
        </p:nvSpPr>
        <p:spPr>
          <a:xfrm>
            <a:off x="7191755" y="4014215"/>
            <a:ext cx="4183379" cy="685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1300" u="none" cap="none" strike="noStrike">
                <a:solidFill>
                  <a:srgbClr val="4A3B3B"/>
                </a:solidFill>
                <a:latin typeface="DM Sans"/>
                <a:ea typeface="DM Sans"/>
                <a:cs typeface="DM Sans"/>
                <a:sym typeface="DM Sans"/>
              </a:rPr>
              <a:t>Detailed pilot design, process, owners, rollout timeline and risk mitigation</a:t>
            </a:r>
            <a:endParaRPr/>
          </a:p>
        </p:txBody>
      </p:sp>
      <p:cxnSp>
        <p:nvCxnSpPr>
          <p:cNvPr id="409" name="Google Shape;409;p38"/>
          <p:cNvCxnSpPr/>
          <p:nvPr/>
        </p:nvCxnSpPr>
        <p:spPr>
          <a:xfrm>
            <a:off x="6368795" y="4745736"/>
            <a:ext cx="5006340" cy="0"/>
          </a:xfrm>
          <a:prstGeom prst="straightConnector1">
            <a:avLst/>
          </a:prstGeom>
          <a:noFill/>
          <a:ln cap="flat" cmpd="sng" w="9525">
            <a:solidFill>
              <a:srgbClr val="CDBFB8"/>
            </a:solidFill>
            <a:prstDash val="solid"/>
            <a:round/>
            <a:headEnd len="sm" w="sm" type="none"/>
            <a:tailEnd len="sm" w="sm" type="none"/>
          </a:ln>
        </p:spPr>
      </p:cxnSp>
      <p:sp>
        <p:nvSpPr>
          <p:cNvPr id="410" name="Google Shape;410;p38"/>
          <p:cNvSpPr txBox="1"/>
          <p:nvPr/>
        </p:nvSpPr>
        <p:spPr>
          <a:xfrm>
            <a:off x="6368795" y="4928616"/>
            <a:ext cx="822960" cy="73152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i="0" lang="en-US" sz="4400" u="none" cap="none" strike="noStrike">
                <a:solidFill>
                  <a:srgbClr val="C98288"/>
                </a:solidFill>
                <a:latin typeface="Archivo"/>
                <a:ea typeface="Archivo"/>
                <a:cs typeface="Archivo"/>
                <a:sym typeface="Archivo"/>
              </a:rPr>
              <a:t>6</a:t>
            </a:r>
            <a:endParaRPr/>
          </a:p>
        </p:txBody>
      </p:sp>
      <p:sp>
        <p:nvSpPr>
          <p:cNvPr id="411" name="Google Shape;411;p38"/>
          <p:cNvSpPr txBox="1"/>
          <p:nvPr/>
        </p:nvSpPr>
        <p:spPr>
          <a:xfrm>
            <a:off x="7191755" y="4928616"/>
            <a:ext cx="4183379"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900" u="none" cap="none" strike="noStrike">
                <a:solidFill>
                  <a:srgbClr val="1E1616"/>
                </a:solidFill>
                <a:latin typeface="Archivo"/>
                <a:ea typeface="Archivo"/>
                <a:cs typeface="Archivo"/>
                <a:sym typeface="Archivo"/>
              </a:rPr>
              <a:t>Creativity &amp; innovation</a:t>
            </a:r>
            <a:endParaRPr/>
          </a:p>
        </p:txBody>
      </p:sp>
      <p:sp>
        <p:nvSpPr>
          <p:cNvPr id="412" name="Google Shape;412;p38"/>
          <p:cNvSpPr txBox="1"/>
          <p:nvPr/>
        </p:nvSpPr>
        <p:spPr>
          <a:xfrm>
            <a:off x="7191755" y="5312664"/>
            <a:ext cx="4183379" cy="685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1300" u="none" cap="none" strike="noStrike">
                <a:solidFill>
                  <a:srgbClr val="4A3B3B"/>
                </a:solidFill>
                <a:latin typeface="DM Sans"/>
                <a:ea typeface="DM Sans"/>
                <a:cs typeface="DM Sans"/>
                <a:sym typeface="DM Sans"/>
              </a:rPr>
              <a:t>Novel, compelling ideas that align with Merit's mission</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3202D"/>
        </a:solidFill>
      </p:bgPr>
    </p:bg>
    <p:spTree>
      <p:nvGrpSpPr>
        <p:cNvPr id="416" name="Shape 416"/>
        <p:cNvGrpSpPr/>
        <p:nvPr/>
      </p:nvGrpSpPr>
      <p:grpSpPr>
        <a:xfrm>
          <a:off x="0" y="0"/>
          <a:ext cx="0" cy="0"/>
          <a:chOff x="0" y="0"/>
          <a:chExt cx="0" cy="0"/>
        </a:xfrm>
      </p:grpSpPr>
      <p:cxnSp>
        <p:nvCxnSpPr>
          <p:cNvPr id="417" name="Google Shape;417;p39"/>
          <p:cNvCxnSpPr/>
          <p:nvPr/>
        </p:nvCxnSpPr>
        <p:spPr>
          <a:xfrm>
            <a:off x="930466" y="5626313"/>
            <a:ext cx="10561200" cy="0"/>
          </a:xfrm>
          <a:prstGeom prst="straightConnector1">
            <a:avLst/>
          </a:prstGeom>
          <a:noFill/>
          <a:ln cap="flat" cmpd="sng" w="12700">
            <a:solidFill>
              <a:srgbClr val="F2C4C0"/>
            </a:solidFill>
            <a:prstDash val="solid"/>
            <a:round/>
            <a:headEnd len="sm" w="sm" type="none"/>
            <a:tailEnd len="sm" w="sm" type="none"/>
          </a:ln>
        </p:spPr>
      </p:cxnSp>
      <p:sp>
        <p:nvSpPr>
          <p:cNvPr id="418" name="Google Shape;418;p39"/>
          <p:cNvSpPr txBox="1"/>
          <p:nvPr/>
        </p:nvSpPr>
        <p:spPr>
          <a:xfrm>
            <a:off x="813816" y="3407845"/>
            <a:ext cx="7498200" cy="20781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i="0" lang="en-US" sz="7500" u="none" cap="none" strike="noStrike">
                <a:solidFill>
                  <a:srgbClr val="FFFFFF"/>
                </a:solidFill>
                <a:latin typeface="Archivo"/>
                <a:ea typeface="Archivo"/>
                <a:cs typeface="Archivo"/>
                <a:sym typeface="Archivo"/>
              </a:rPr>
              <a:t>RULES &amp; DELIVERABLES</a:t>
            </a:r>
            <a:endParaRPr sz="4500"/>
          </a:p>
        </p:txBody>
      </p:sp>
      <p:pic>
        <p:nvPicPr>
          <p:cNvPr descr="Ballard Center, BYU Marriott logo" id="419" name="Google Shape;419;p39"/>
          <p:cNvPicPr preferRelativeResize="0"/>
          <p:nvPr/>
        </p:nvPicPr>
        <p:blipFill rotWithShape="1">
          <a:blip r:embed="rId3">
            <a:alphaModFix/>
          </a:blip>
          <a:srcRect b="0" l="0" r="0" t="0"/>
          <a:stretch/>
        </p:blipFill>
        <p:spPr>
          <a:xfrm>
            <a:off x="813816" y="6053328"/>
            <a:ext cx="1400646" cy="384048"/>
          </a:xfrm>
          <a:prstGeom prst="rect">
            <a:avLst/>
          </a:prstGeom>
          <a:noFill/>
          <a:ln>
            <a:noFill/>
          </a:ln>
        </p:spPr>
      </p:pic>
      <p:pic>
        <p:nvPicPr>
          <p:cNvPr descr="Do Good. Better." id="420" name="Google Shape;420;p39"/>
          <p:cNvPicPr preferRelativeResize="0"/>
          <p:nvPr/>
        </p:nvPicPr>
        <p:blipFill rotWithShape="1">
          <a:blip r:embed="rId4">
            <a:alphaModFix/>
          </a:blip>
          <a:srcRect b="0" l="0" r="0" t="0"/>
          <a:stretch/>
        </p:blipFill>
        <p:spPr>
          <a:xfrm>
            <a:off x="8814816" y="6144768"/>
            <a:ext cx="2560320" cy="230982"/>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EDE6"/>
        </a:solidFill>
      </p:bgPr>
    </p:bg>
    <p:spTree>
      <p:nvGrpSpPr>
        <p:cNvPr id="425" name="Shape 425"/>
        <p:cNvGrpSpPr/>
        <p:nvPr/>
      </p:nvGrpSpPr>
      <p:grpSpPr>
        <a:xfrm>
          <a:off x="0" y="0"/>
          <a:ext cx="0" cy="0"/>
          <a:chOff x="0" y="0"/>
          <a:chExt cx="0" cy="0"/>
        </a:xfrm>
      </p:grpSpPr>
      <p:sp>
        <p:nvSpPr>
          <p:cNvPr id="426" name="Google Shape;426;p40"/>
          <p:cNvSpPr/>
          <p:nvPr/>
        </p:nvSpPr>
        <p:spPr>
          <a:xfrm>
            <a:off x="0" y="0"/>
            <a:ext cx="5212080" cy="6858000"/>
          </a:xfrm>
          <a:prstGeom prst="rect">
            <a:avLst/>
          </a:prstGeom>
          <a:solidFill>
            <a:srgbClr val="B3202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7" name="Google Shape;427;p40"/>
          <p:cNvSpPr txBox="1"/>
          <p:nvPr/>
        </p:nvSpPr>
        <p:spPr>
          <a:xfrm>
            <a:off x="502916" y="1307610"/>
            <a:ext cx="4206300" cy="2438100"/>
          </a:xfrm>
          <a:prstGeom prst="rect">
            <a:avLst/>
          </a:prstGeom>
          <a:noFill/>
          <a:ln>
            <a:noFill/>
          </a:ln>
        </p:spPr>
        <p:txBody>
          <a:bodyPr anchorCtr="0" anchor="t" bIns="0" lIns="0" spcFirstLastPara="1" rIns="0" wrap="square" tIns="0">
            <a:spAutoFit/>
          </a:bodyPr>
          <a:lstStyle/>
          <a:p>
            <a:pPr indent="0" lvl="0" marL="0" marR="0" rtl="0" algn="l">
              <a:lnSpc>
                <a:spcPct val="88000"/>
              </a:lnSpc>
              <a:spcBef>
                <a:spcPts val="0"/>
              </a:spcBef>
              <a:spcAft>
                <a:spcPts val="0"/>
              </a:spcAft>
              <a:buNone/>
            </a:pPr>
            <a:r>
              <a:rPr b="1" i="0" lang="en-US" sz="6000" u="none" cap="none" strike="noStrike">
                <a:solidFill>
                  <a:srgbClr val="FFFFFF"/>
                </a:solidFill>
                <a:latin typeface="Archivo"/>
                <a:ea typeface="Archivo"/>
                <a:cs typeface="Archivo"/>
                <a:sym typeface="Archivo"/>
              </a:rPr>
              <a:t>ALL</a:t>
            </a:r>
            <a:endParaRPr/>
          </a:p>
          <a:p>
            <a:pPr indent="0" lvl="0" marL="0" marR="0" rtl="0" algn="l">
              <a:lnSpc>
                <a:spcPct val="88000"/>
              </a:lnSpc>
              <a:spcBef>
                <a:spcPts val="0"/>
              </a:spcBef>
              <a:spcAft>
                <a:spcPts val="0"/>
              </a:spcAft>
              <a:buNone/>
            </a:pPr>
            <a:r>
              <a:rPr b="1" i="0" lang="en-US" sz="6000" u="none" cap="none" strike="noStrike">
                <a:solidFill>
                  <a:srgbClr val="FFFFFF"/>
                </a:solidFill>
                <a:latin typeface="Archivo"/>
                <a:ea typeface="Archivo"/>
                <a:cs typeface="Archivo"/>
                <a:sym typeface="Archivo"/>
              </a:rPr>
              <a:t>MAJORS</a:t>
            </a:r>
            <a:endParaRPr/>
          </a:p>
          <a:p>
            <a:pPr indent="0" lvl="0" marL="0" marR="0" rtl="0" algn="l">
              <a:lnSpc>
                <a:spcPct val="88000"/>
              </a:lnSpc>
              <a:spcBef>
                <a:spcPts val="0"/>
              </a:spcBef>
              <a:spcAft>
                <a:spcPts val="0"/>
              </a:spcAft>
              <a:buNone/>
            </a:pPr>
            <a:r>
              <a:rPr b="1" i="0" lang="en-US" sz="6000" u="none" cap="none" strike="noStrike">
                <a:solidFill>
                  <a:srgbClr val="FFFFFF"/>
                </a:solidFill>
                <a:latin typeface="Archivo"/>
                <a:ea typeface="Archivo"/>
                <a:cs typeface="Archivo"/>
                <a:sym typeface="Archivo"/>
              </a:rPr>
              <a:t>WELCOME</a:t>
            </a:r>
            <a:endParaRPr/>
          </a:p>
        </p:txBody>
      </p:sp>
      <p:sp>
        <p:nvSpPr>
          <p:cNvPr id="428" name="Google Shape;428;p40"/>
          <p:cNvSpPr/>
          <p:nvPr/>
        </p:nvSpPr>
        <p:spPr>
          <a:xfrm>
            <a:off x="5897880" y="914400"/>
            <a:ext cx="512064" cy="512064"/>
          </a:xfrm>
          <a:prstGeom prst="ellipse">
            <a:avLst/>
          </a:prstGeom>
          <a:solidFill>
            <a:srgbClr val="B3202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429" name="Google Shape;429;p40"/>
          <p:cNvPicPr preferRelativeResize="0"/>
          <p:nvPr/>
        </p:nvPicPr>
        <p:blipFill rotWithShape="1">
          <a:blip r:embed="rId3">
            <a:alphaModFix/>
          </a:blip>
          <a:srcRect b="0" l="0" r="0" t="0"/>
          <a:stretch/>
        </p:blipFill>
        <p:spPr>
          <a:xfrm>
            <a:off x="6016752" y="1033271"/>
            <a:ext cx="274320" cy="274320"/>
          </a:xfrm>
          <a:prstGeom prst="rect">
            <a:avLst/>
          </a:prstGeom>
          <a:noFill/>
          <a:ln>
            <a:noFill/>
          </a:ln>
        </p:spPr>
      </p:pic>
      <p:sp>
        <p:nvSpPr>
          <p:cNvPr id="430" name="Google Shape;430;p40"/>
          <p:cNvSpPr txBox="1"/>
          <p:nvPr/>
        </p:nvSpPr>
        <p:spPr>
          <a:xfrm>
            <a:off x="6675120" y="896112"/>
            <a:ext cx="466344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200" u="none" cap="none" strike="noStrike">
                <a:solidFill>
                  <a:srgbClr val="1E1616"/>
                </a:solidFill>
                <a:latin typeface="Archivo"/>
                <a:ea typeface="Archivo"/>
                <a:cs typeface="Archivo"/>
                <a:sym typeface="Archivo"/>
              </a:rPr>
              <a:t>Teams of 3–5</a:t>
            </a:r>
            <a:endParaRPr/>
          </a:p>
        </p:txBody>
      </p:sp>
      <p:sp>
        <p:nvSpPr>
          <p:cNvPr id="431" name="Google Shape;431;p40"/>
          <p:cNvSpPr txBox="1"/>
          <p:nvPr/>
        </p:nvSpPr>
        <p:spPr>
          <a:xfrm>
            <a:off x="6675120" y="1335024"/>
            <a:ext cx="4663440" cy="54864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1500" u="none" cap="none" strike="noStrike">
                <a:solidFill>
                  <a:srgbClr val="4A3B3B"/>
                </a:solidFill>
                <a:latin typeface="DM Sans"/>
                <a:ea typeface="DM Sans"/>
                <a:cs typeface="DM Sans"/>
                <a:sym typeface="DM Sans"/>
              </a:rPr>
              <a:t>students per team</a:t>
            </a:r>
            <a:endParaRPr/>
          </a:p>
        </p:txBody>
      </p:sp>
      <p:cxnSp>
        <p:nvCxnSpPr>
          <p:cNvPr id="432" name="Google Shape;432;p40"/>
          <p:cNvCxnSpPr/>
          <p:nvPr/>
        </p:nvCxnSpPr>
        <p:spPr>
          <a:xfrm>
            <a:off x="6675120" y="1901952"/>
            <a:ext cx="4700016" cy="0"/>
          </a:xfrm>
          <a:prstGeom prst="straightConnector1">
            <a:avLst/>
          </a:prstGeom>
          <a:noFill/>
          <a:ln cap="flat" cmpd="sng" w="9525">
            <a:solidFill>
              <a:srgbClr val="CDBFB8"/>
            </a:solidFill>
            <a:prstDash val="solid"/>
            <a:round/>
            <a:headEnd len="sm" w="sm" type="none"/>
            <a:tailEnd len="sm" w="sm" type="none"/>
          </a:ln>
        </p:spPr>
      </p:cxnSp>
      <p:sp>
        <p:nvSpPr>
          <p:cNvPr id="433" name="Google Shape;433;p40"/>
          <p:cNvSpPr/>
          <p:nvPr/>
        </p:nvSpPr>
        <p:spPr>
          <a:xfrm>
            <a:off x="5897880" y="2121408"/>
            <a:ext cx="512064" cy="512064"/>
          </a:xfrm>
          <a:prstGeom prst="ellipse">
            <a:avLst/>
          </a:prstGeom>
          <a:solidFill>
            <a:srgbClr val="B3202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434" name="Google Shape;434;p40"/>
          <p:cNvPicPr preferRelativeResize="0"/>
          <p:nvPr/>
        </p:nvPicPr>
        <p:blipFill rotWithShape="1">
          <a:blip r:embed="rId3">
            <a:alphaModFix/>
          </a:blip>
          <a:srcRect b="0" l="0" r="0" t="0"/>
          <a:stretch/>
        </p:blipFill>
        <p:spPr>
          <a:xfrm>
            <a:off x="6016752" y="2240280"/>
            <a:ext cx="274320" cy="274320"/>
          </a:xfrm>
          <a:prstGeom prst="rect">
            <a:avLst/>
          </a:prstGeom>
          <a:noFill/>
          <a:ln>
            <a:noFill/>
          </a:ln>
        </p:spPr>
      </p:pic>
      <p:sp>
        <p:nvSpPr>
          <p:cNvPr id="435" name="Google Shape;435;p40"/>
          <p:cNvSpPr txBox="1"/>
          <p:nvPr/>
        </p:nvSpPr>
        <p:spPr>
          <a:xfrm>
            <a:off x="6675120" y="2103120"/>
            <a:ext cx="4663500" cy="338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2200">
                <a:solidFill>
                  <a:srgbClr val="1E1616"/>
                </a:solidFill>
                <a:latin typeface="Archivo"/>
                <a:ea typeface="Archivo"/>
                <a:cs typeface="Archivo"/>
                <a:sym typeface="Archivo"/>
              </a:rPr>
              <a:t>Diversity in majors within teams</a:t>
            </a:r>
            <a:endParaRPr/>
          </a:p>
        </p:txBody>
      </p:sp>
      <p:sp>
        <p:nvSpPr>
          <p:cNvPr id="436" name="Google Shape;436;p40"/>
          <p:cNvSpPr txBox="1"/>
          <p:nvPr/>
        </p:nvSpPr>
        <p:spPr>
          <a:xfrm>
            <a:off x="6675120" y="2542032"/>
            <a:ext cx="4663500" cy="2310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lang="en-US" sz="1500">
                <a:solidFill>
                  <a:srgbClr val="4A3B3B"/>
                </a:solidFill>
                <a:latin typeface="DM Sans"/>
                <a:ea typeface="DM Sans"/>
                <a:cs typeface="DM Sans"/>
                <a:sym typeface="DM Sans"/>
              </a:rPr>
              <a:t>recommended but not required</a:t>
            </a:r>
            <a:endParaRPr/>
          </a:p>
        </p:txBody>
      </p:sp>
      <p:cxnSp>
        <p:nvCxnSpPr>
          <p:cNvPr id="437" name="Google Shape;437;p40"/>
          <p:cNvCxnSpPr/>
          <p:nvPr/>
        </p:nvCxnSpPr>
        <p:spPr>
          <a:xfrm>
            <a:off x="6675120" y="3108960"/>
            <a:ext cx="4700016" cy="0"/>
          </a:xfrm>
          <a:prstGeom prst="straightConnector1">
            <a:avLst/>
          </a:prstGeom>
          <a:noFill/>
          <a:ln cap="flat" cmpd="sng" w="9525">
            <a:solidFill>
              <a:srgbClr val="CDBFB8"/>
            </a:solidFill>
            <a:prstDash val="solid"/>
            <a:round/>
            <a:headEnd len="sm" w="sm" type="none"/>
            <a:tailEnd len="sm" w="sm" type="none"/>
          </a:ln>
        </p:spPr>
      </p:cxnSp>
      <p:sp>
        <p:nvSpPr>
          <p:cNvPr id="438" name="Google Shape;438;p40"/>
          <p:cNvSpPr/>
          <p:nvPr/>
        </p:nvSpPr>
        <p:spPr>
          <a:xfrm>
            <a:off x="5897880" y="3328416"/>
            <a:ext cx="512064" cy="512064"/>
          </a:xfrm>
          <a:prstGeom prst="ellipse">
            <a:avLst/>
          </a:prstGeom>
          <a:solidFill>
            <a:srgbClr val="B3202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439" name="Google Shape;439;p40"/>
          <p:cNvPicPr preferRelativeResize="0"/>
          <p:nvPr/>
        </p:nvPicPr>
        <p:blipFill rotWithShape="1">
          <a:blip r:embed="rId3">
            <a:alphaModFix/>
          </a:blip>
          <a:srcRect b="0" l="0" r="0" t="0"/>
          <a:stretch/>
        </p:blipFill>
        <p:spPr>
          <a:xfrm>
            <a:off x="6016752" y="3447288"/>
            <a:ext cx="274320" cy="274320"/>
          </a:xfrm>
          <a:prstGeom prst="rect">
            <a:avLst/>
          </a:prstGeom>
          <a:noFill/>
          <a:ln>
            <a:noFill/>
          </a:ln>
        </p:spPr>
      </p:pic>
      <p:sp>
        <p:nvSpPr>
          <p:cNvPr id="440" name="Google Shape;440;p40"/>
          <p:cNvSpPr txBox="1"/>
          <p:nvPr/>
        </p:nvSpPr>
        <p:spPr>
          <a:xfrm>
            <a:off x="6693370" y="4547341"/>
            <a:ext cx="4663500" cy="338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2200">
                <a:solidFill>
                  <a:srgbClr val="1E1616"/>
                </a:solidFill>
                <a:latin typeface="Archivo"/>
                <a:ea typeface="Archivo"/>
                <a:cs typeface="Archivo"/>
                <a:sym typeface="Archivo"/>
              </a:rPr>
              <a:t>Case Published Fri, Oct 16</a:t>
            </a:r>
            <a:endParaRPr/>
          </a:p>
        </p:txBody>
      </p:sp>
      <p:sp>
        <p:nvSpPr>
          <p:cNvPr id="441" name="Google Shape;441;p40"/>
          <p:cNvSpPr txBox="1"/>
          <p:nvPr/>
        </p:nvSpPr>
        <p:spPr>
          <a:xfrm>
            <a:off x="6693370" y="4893615"/>
            <a:ext cx="4663500" cy="2310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lang="en-US" sz="1500">
                <a:solidFill>
                  <a:srgbClr val="4A3B3B"/>
                </a:solidFill>
                <a:latin typeface="DM Sans"/>
                <a:ea typeface="DM Sans"/>
                <a:cs typeface="DM Sans"/>
                <a:sym typeface="DM Sans"/>
              </a:rPr>
              <a:t>at 12:00am</a:t>
            </a:r>
            <a:endParaRPr/>
          </a:p>
        </p:txBody>
      </p:sp>
      <p:cxnSp>
        <p:nvCxnSpPr>
          <p:cNvPr id="442" name="Google Shape;442;p40"/>
          <p:cNvCxnSpPr/>
          <p:nvPr/>
        </p:nvCxnSpPr>
        <p:spPr>
          <a:xfrm>
            <a:off x="6675120" y="4315968"/>
            <a:ext cx="4700016" cy="0"/>
          </a:xfrm>
          <a:prstGeom prst="straightConnector1">
            <a:avLst/>
          </a:prstGeom>
          <a:noFill/>
          <a:ln cap="flat" cmpd="sng" w="9525">
            <a:solidFill>
              <a:srgbClr val="CDBFB8"/>
            </a:solidFill>
            <a:prstDash val="solid"/>
            <a:round/>
            <a:headEnd len="sm" w="sm" type="none"/>
            <a:tailEnd len="sm" w="sm" type="none"/>
          </a:ln>
        </p:spPr>
      </p:cxnSp>
      <p:sp>
        <p:nvSpPr>
          <p:cNvPr id="443" name="Google Shape;443;p40"/>
          <p:cNvSpPr/>
          <p:nvPr/>
        </p:nvSpPr>
        <p:spPr>
          <a:xfrm>
            <a:off x="5897880" y="4535424"/>
            <a:ext cx="512064" cy="512064"/>
          </a:xfrm>
          <a:prstGeom prst="ellipse">
            <a:avLst/>
          </a:prstGeom>
          <a:solidFill>
            <a:srgbClr val="B3202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444" name="Google Shape;444;p40"/>
          <p:cNvPicPr preferRelativeResize="0"/>
          <p:nvPr/>
        </p:nvPicPr>
        <p:blipFill rotWithShape="1">
          <a:blip r:embed="rId3">
            <a:alphaModFix/>
          </a:blip>
          <a:srcRect b="0" l="0" r="0" t="0"/>
          <a:stretch/>
        </p:blipFill>
        <p:spPr>
          <a:xfrm>
            <a:off x="6016752" y="4654296"/>
            <a:ext cx="274320" cy="274320"/>
          </a:xfrm>
          <a:prstGeom prst="rect">
            <a:avLst/>
          </a:prstGeom>
          <a:noFill/>
          <a:ln>
            <a:noFill/>
          </a:ln>
        </p:spPr>
      </p:pic>
      <p:sp>
        <p:nvSpPr>
          <p:cNvPr id="445" name="Google Shape;445;p40"/>
          <p:cNvSpPr txBox="1"/>
          <p:nvPr/>
        </p:nvSpPr>
        <p:spPr>
          <a:xfrm>
            <a:off x="6675120" y="3338761"/>
            <a:ext cx="4663500" cy="338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200" u="none" cap="none" strike="noStrike">
                <a:solidFill>
                  <a:srgbClr val="1E1616"/>
                </a:solidFill>
                <a:latin typeface="Archivo"/>
                <a:ea typeface="Archivo"/>
                <a:cs typeface="Archivo"/>
                <a:sym typeface="Archivo"/>
              </a:rPr>
              <a:t>Register by Thu, Oct 15</a:t>
            </a:r>
            <a:endParaRPr/>
          </a:p>
        </p:txBody>
      </p:sp>
      <p:sp>
        <p:nvSpPr>
          <p:cNvPr id="446" name="Google Shape;446;p40"/>
          <p:cNvSpPr txBox="1"/>
          <p:nvPr/>
        </p:nvSpPr>
        <p:spPr>
          <a:xfrm>
            <a:off x="6675120" y="3712648"/>
            <a:ext cx="4663500" cy="2310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1500" u="none" cap="none" strike="noStrike">
                <a:solidFill>
                  <a:srgbClr val="4A3B3B"/>
                </a:solidFill>
                <a:latin typeface="DM Sans"/>
                <a:ea typeface="DM Sans"/>
                <a:cs typeface="DM Sans"/>
                <a:sym typeface="DM Sans"/>
              </a:rPr>
              <a:t>11:59 PM, using the team sign-up link</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616"/>
        </a:solidFill>
      </p:bgPr>
    </p:bg>
    <p:spTree>
      <p:nvGrpSpPr>
        <p:cNvPr id="451" name="Shape 451"/>
        <p:cNvGrpSpPr/>
        <p:nvPr/>
      </p:nvGrpSpPr>
      <p:grpSpPr>
        <a:xfrm>
          <a:off x="0" y="0"/>
          <a:ext cx="0" cy="0"/>
          <a:chOff x="0" y="0"/>
          <a:chExt cx="0" cy="0"/>
        </a:xfrm>
      </p:grpSpPr>
      <p:sp>
        <p:nvSpPr>
          <p:cNvPr id="452" name="Google Shape;452;p41"/>
          <p:cNvSpPr txBox="1"/>
          <p:nvPr/>
        </p:nvSpPr>
        <p:spPr>
          <a:xfrm>
            <a:off x="813816" y="1280160"/>
            <a:ext cx="4389000" cy="1815000"/>
          </a:xfrm>
          <a:prstGeom prst="rect">
            <a:avLst/>
          </a:prstGeom>
          <a:noFill/>
          <a:ln>
            <a:noFill/>
          </a:ln>
        </p:spPr>
        <p:txBody>
          <a:bodyPr anchorCtr="0" anchor="t" bIns="0" lIns="0" spcFirstLastPara="1" rIns="0" wrap="square" tIns="0">
            <a:spAutoFit/>
          </a:bodyPr>
          <a:lstStyle/>
          <a:p>
            <a:pPr indent="0" lvl="0" marL="0" marR="0" rtl="0" algn="l">
              <a:lnSpc>
                <a:spcPct val="88000"/>
              </a:lnSpc>
              <a:spcBef>
                <a:spcPts val="0"/>
              </a:spcBef>
              <a:spcAft>
                <a:spcPts val="0"/>
              </a:spcAft>
              <a:buNone/>
            </a:pPr>
            <a:r>
              <a:rPr b="1" lang="en-US" sz="6000">
                <a:solidFill>
                  <a:srgbClr val="D6313F"/>
                </a:solidFill>
                <a:latin typeface="Archivo"/>
                <a:ea typeface="Archivo"/>
                <a:cs typeface="Archivo"/>
                <a:sym typeface="Archivo"/>
              </a:rPr>
              <a:t>WHAT TO TURN IN</a:t>
            </a:r>
            <a:endParaRPr/>
          </a:p>
          <a:p>
            <a:pPr indent="0" lvl="0" marL="0" marR="0" rtl="0" algn="l">
              <a:lnSpc>
                <a:spcPct val="88000"/>
              </a:lnSpc>
              <a:spcBef>
                <a:spcPts val="0"/>
              </a:spcBef>
              <a:spcAft>
                <a:spcPts val="0"/>
              </a:spcAft>
              <a:buNone/>
            </a:pPr>
            <a:r>
              <a:t/>
            </a:r>
            <a:endParaRPr/>
          </a:p>
        </p:txBody>
      </p:sp>
      <p:sp>
        <p:nvSpPr>
          <p:cNvPr id="453" name="Google Shape;453;p41"/>
          <p:cNvSpPr txBox="1"/>
          <p:nvPr/>
        </p:nvSpPr>
        <p:spPr>
          <a:xfrm>
            <a:off x="813816" y="3108960"/>
            <a:ext cx="3931920" cy="146304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2000" u="none" cap="none" strike="noStrike">
                <a:solidFill>
                  <a:srgbClr val="FFFFFF"/>
                </a:solidFill>
                <a:latin typeface="DM Sans"/>
                <a:ea typeface="DM Sans"/>
                <a:cs typeface="DM Sans"/>
                <a:sym typeface="DM Sans"/>
              </a:rPr>
              <a:t>10-minute</a:t>
            </a:r>
            <a:r>
              <a:rPr b="0" i="0" lang="en-US" sz="2000" u="none" cap="none" strike="noStrike">
                <a:solidFill>
                  <a:srgbClr val="F7ECE8"/>
                </a:solidFill>
                <a:latin typeface="DM Sans"/>
                <a:ea typeface="DM Sans"/>
                <a:cs typeface="DM Sans"/>
                <a:sym typeface="DM Sans"/>
              </a:rPr>
              <a:t> presentation</a:t>
            </a:r>
            <a:endParaRPr/>
          </a:p>
          <a:p>
            <a:pPr indent="0" lvl="0" marL="0" marR="0" rtl="0" algn="l">
              <a:lnSpc>
                <a:spcPct val="120000"/>
              </a:lnSpc>
              <a:spcBef>
                <a:spcPts val="600"/>
              </a:spcBef>
              <a:spcAft>
                <a:spcPts val="0"/>
              </a:spcAft>
              <a:buNone/>
            </a:pPr>
            <a:r>
              <a:rPr b="1" i="0" lang="en-US" sz="2000" u="none" cap="none" strike="noStrike">
                <a:solidFill>
                  <a:srgbClr val="FFFFFF"/>
                </a:solidFill>
                <a:latin typeface="DM Sans"/>
                <a:ea typeface="DM Sans"/>
                <a:cs typeface="DM Sans"/>
                <a:sym typeface="DM Sans"/>
              </a:rPr>
              <a:t>5 minutes</a:t>
            </a:r>
            <a:r>
              <a:rPr b="0" i="0" lang="en-US" sz="2000" u="none" cap="none" strike="noStrike">
                <a:solidFill>
                  <a:srgbClr val="F7ECE8"/>
                </a:solidFill>
                <a:latin typeface="DM Sans"/>
                <a:ea typeface="DM Sans"/>
                <a:cs typeface="DM Sans"/>
                <a:sym typeface="DM Sans"/>
              </a:rPr>
              <a:t> of judge questions</a:t>
            </a:r>
            <a:endParaRPr/>
          </a:p>
        </p:txBody>
      </p:sp>
      <p:sp>
        <p:nvSpPr>
          <p:cNvPr id="454" name="Google Shape;454;p41"/>
          <p:cNvSpPr txBox="1"/>
          <p:nvPr/>
        </p:nvSpPr>
        <p:spPr>
          <a:xfrm>
            <a:off x="5486400" y="868680"/>
            <a:ext cx="5888736"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00" u="none" cap="none" strike="noStrike">
                <a:solidFill>
                  <a:srgbClr val="F2C4C0"/>
                </a:solidFill>
                <a:latin typeface="DM Sans"/>
                <a:ea typeface="DM Sans"/>
                <a:cs typeface="DM Sans"/>
                <a:sym typeface="DM Sans"/>
              </a:rPr>
              <a:t>SUGGESTED STRUCTURE</a:t>
            </a:r>
            <a:endParaRPr/>
          </a:p>
        </p:txBody>
      </p:sp>
      <p:cxnSp>
        <p:nvCxnSpPr>
          <p:cNvPr id="455" name="Google Shape;455;p41"/>
          <p:cNvCxnSpPr/>
          <p:nvPr/>
        </p:nvCxnSpPr>
        <p:spPr>
          <a:xfrm>
            <a:off x="5486400" y="1280160"/>
            <a:ext cx="5888736" cy="0"/>
          </a:xfrm>
          <a:prstGeom prst="straightConnector1">
            <a:avLst/>
          </a:prstGeom>
          <a:noFill/>
          <a:ln cap="flat" cmpd="sng" w="9525">
            <a:solidFill>
              <a:srgbClr val="4A3B3B"/>
            </a:solidFill>
            <a:prstDash val="solid"/>
            <a:round/>
            <a:headEnd len="sm" w="sm" type="none"/>
            <a:tailEnd len="sm" w="sm" type="none"/>
          </a:ln>
        </p:spPr>
      </p:cxnSp>
      <p:sp>
        <p:nvSpPr>
          <p:cNvPr id="456" name="Google Shape;456;p41"/>
          <p:cNvSpPr txBox="1"/>
          <p:nvPr/>
        </p:nvSpPr>
        <p:spPr>
          <a:xfrm>
            <a:off x="5486400" y="1389888"/>
            <a:ext cx="4480560"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700" u="none" cap="none" strike="noStrike">
                <a:solidFill>
                  <a:srgbClr val="FFFFFF"/>
                </a:solidFill>
                <a:latin typeface="Archivo"/>
                <a:ea typeface="Archivo"/>
                <a:cs typeface="Archivo"/>
                <a:sym typeface="Archivo"/>
              </a:rPr>
              <a:t>Recommendation &amp; rationale</a:t>
            </a:r>
            <a:endParaRPr/>
          </a:p>
        </p:txBody>
      </p:sp>
      <p:sp>
        <p:nvSpPr>
          <p:cNvPr id="457" name="Google Shape;457;p41"/>
          <p:cNvSpPr txBox="1"/>
          <p:nvPr/>
        </p:nvSpPr>
        <p:spPr>
          <a:xfrm>
            <a:off x="5486400" y="1709928"/>
            <a:ext cx="4754880" cy="2926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200" u="none" cap="none" strike="noStrike">
                <a:solidFill>
                  <a:srgbClr val="F2C4C0"/>
                </a:solidFill>
                <a:latin typeface="DM Sans"/>
                <a:ea typeface="DM Sans"/>
                <a:cs typeface="DM Sans"/>
                <a:sym typeface="DM Sans"/>
              </a:rPr>
              <a:t>Your strategy and why it beats the alternatives</a:t>
            </a:r>
            <a:endParaRPr/>
          </a:p>
        </p:txBody>
      </p:sp>
      <p:sp>
        <p:nvSpPr>
          <p:cNvPr id="458" name="Google Shape;458;p41"/>
          <p:cNvSpPr txBox="1"/>
          <p:nvPr/>
        </p:nvSpPr>
        <p:spPr>
          <a:xfrm>
            <a:off x="10149840" y="1371600"/>
            <a:ext cx="1225296" cy="54864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1" i="0" lang="en-US" sz="2600" u="none" cap="none" strike="noStrike">
                <a:solidFill>
                  <a:srgbClr val="D6313F"/>
                </a:solidFill>
                <a:latin typeface="Archivo"/>
                <a:ea typeface="Archivo"/>
                <a:cs typeface="Archivo"/>
                <a:sym typeface="Archivo"/>
              </a:rPr>
              <a:t>3–4</a:t>
            </a:r>
            <a:endParaRPr/>
          </a:p>
        </p:txBody>
      </p:sp>
      <p:cxnSp>
        <p:nvCxnSpPr>
          <p:cNvPr id="459" name="Google Shape;459;p41"/>
          <p:cNvCxnSpPr/>
          <p:nvPr/>
        </p:nvCxnSpPr>
        <p:spPr>
          <a:xfrm>
            <a:off x="5486400" y="2066543"/>
            <a:ext cx="5888736" cy="0"/>
          </a:xfrm>
          <a:prstGeom prst="straightConnector1">
            <a:avLst/>
          </a:prstGeom>
          <a:noFill/>
          <a:ln cap="flat" cmpd="sng" w="9525">
            <a:solidFill>
              <a:srgbClr val="4A3B3B"/>
            </a:solidFill>
            <a:prstDash val="solid"/>
            <a:round/>
            <a:headEnd len="sm" w="sm" type="none"/>
            <a:tailEnd len="sm" w="sm" type="none"/>
          </a:ln>
        </p:spPr>
      </p:cxnSp>
      <p:sp>
        <p:nvSpPr>
          <p:cNvPr id="460" name="Google Shape;460;p41"/>
          <p:cNvSpPr txBox="1"/>
          <p:nvPr/>
        </p:nvSpPr>
        <p:spPr>
          <a:xfrm>
            <a:off x="5486400" y="2176272"/>
            <a:ext cx="4480560"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700" u="none" cap="none" strike="noStrike">
                <a:solidFill>
                  <a:srgbClr val="FFFFFF"/>
                </a:solidFill>
                <a:latin typeface="Archivo"/>
                <a:ea typeface="Archivo"/>
                <a:cs typeface="Archivo"/>
                <a:sym typeface="Archivo"/>
              </a:rPr>
              <a:t>Implementation &amp; pilot</a:t>
            </a:r>
            <a:endParaRPr/>
          </a:p>
        </p:txBody>
      </p:sp>
      <p:sp>
        <p:nvSpPr>
          <p:cNvPr id="461" name="Google Shape;461;p41"/>
          <p:cNvSpPr txBox="1"/>
          <p:nvPr/>
        </p:nvSpPr>
        <p:spPr>
          <a:xfrm>
            <a:off x="5486400" y="2496311"/>
            <a:ext cx="4754880" cy="2926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200" u="none" cap="none" strike="noStrike">
                <a:solidFill>
                  <a:srgbClr val="F2C4C0"/>
                </a:solidFill>
                <a:latin typeface="DM Sans"/>
                <a:ea typeface="DM Sans"/>
                <a:cs typeface="DM Sans"/>
                <a:sym typeface="DM Sans"/>
              </a:rPr>
              <a:t>Which suppliers first, steps, owners, timeline, support</a:t>
            </a:r>
            <a:endParaRPr/>
          </a:p>
        </p:txBody>
      </p:sp>
      <p:sp>
        <p:nvSpPr>
          <p:cNvPr id="462" name="Google Shape;462;p41"/>
          <p:cNvSpPr txBox="1"/>
          <p:nvPr/>
        </p:nvSpPr>
        <p:spPr>
          <a:xfrm>
            <a:off x="10149840" y="2157984"/>
            <a:ext cx="1225296" cy="54864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1" i="0" lang="en-US" sz="2600" u="none" cap="none" strike="noStrike">
                <a:solidFill>
                  <a:srgbClr val="D6313F"/>
                </a:solidFill>
                <a:latin typeface="Archivo"/>
                <a:ea typeface="Archivo"/>
                <a:cs typeface="Archivo"/>
                <a:sym typeface="Archivo"/>
              </a:rPr>
              <a:t>2–3</a:t>
            </a:r>
            <a:endParaRPr/>
          </a:p>
        </p:txBody>
      </p:sp>
      <p:cxnSp>
        <p:nvCxnSpPr>
          <p:cNvPr id="463" name="Google Shape;463;p41"/>
          <p:cNvCxnSpPr/>
          <p:nvPr/>
        </p:nvCxnSpPr>
        <p:spPr>
          <a:xfrm>
            <a:off x="5486400" y="2852928"/>
            <a:ext cx="5888736" cy="0"/>
          </a:xfrm>
          <a:prstGeom prst="straightConnector1">
            <a:avLst/>
          </a:prstGeom>
          <a:noFill/>
          <a:ln cap="flat" cmpd="sng" w="9525">
            <a:solidFill>
              <a:srgbClr val="4A3B3B"/>
            </a:solidFill>
            <a:prstDash val="solid"/>
            <a:round/>
            <a:headEnd len="sm" w="sm" type="none"/>
            <a:tailEnd len="sm" w="sm" type="none"/>
          </a:ln>
        </p:spPr>
      </p:cxnSp>
      <p:sp>
        <p:nvSpPr>
          <p:cNvPr id="464" name="Google Shape;464;p41"/>
          <p:cNvSpPr txBox="1"/>
          <p:nvPr/>
        </p:nvSpPr>
        <p:spPr>
          <a:xfrm>
            <a:off x="5486400" y="2962656"/>
            <a:ext cx="4480560"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700" u="none" cap="none" strike="noStrike">
                <a:solidFill>
                  <a:srgbClr val="FFFFFF"/>
                </a:solidFill>
                <a:latin typeface="Archivo"/>
                <a:ea typeface="Archivo"/>
                <a:cs typeface="Archivo"/>
                <a:sym typeface="Archivo"/>
              </a:rPr>
              <a:t>Financials &amp; metrics</a:t>
            </a:r>
            <a:endParaRPr/>
          </a:p>
        </p:txBody>
      </p:sp>
      <p:sp>
        <p:nvSpPr>
          <p:cNvPr id="465" name="Google Shape;465;p41"/>
          <p:cNvSpPr txBox="1"/>
          <p:nvPr/>
        </p:nvSpPr>
        <p:spPr>
          <a:xfrm>
            <a:off x="5486400" y="3282696"/>
            <a:ext cx="4754880" cy="2926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200" u="none" cap="none" strike="noStrike">
                <a:solidFill>
                  <a:srgbClr val="F2C4C0"/>
                </a:solidFill>
                <a:latin typeface="DM Sans"/>
                <a:ea typeface="DM Sans"/>
                <a:cs typeface="DM Sans"/>
                <a:sym typeface="DM Sans"/>
              </a:rPr>
              <a:t>Costs, expected value, KPIs with numeric targets</a:t>
            </a:r>
            <a:endParaRPr/>
          </a:p>
        </p:txBody>
      </p:sp>
      <p:sp>
        <p:nvSpPr>
          <p:cNvPr id="466" name="Google Shape;466;p41"/>
          <p:cNvSpPr txBox="1"/>
          <p:nvPr/>
        </p:nvSpPr>
        <p:spPr>
          <a:xfrm>
            <a:off x="10149840" y="2944368"/>
            <a:ext cx="1225296" cy="54864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1" i="0" lang="en-US" sz="2600" u="none" cap="none" strike="noStrike">
                <a:solidFill>
                  <a:srgbClr val="D6313F"/>
                </a:solidFill>
                <a:latin typeface="Archivo"/>
                <a:ea typeface="Archivo"/>
                <a:cs typeface="Archivo"/>
                <a:sym typeface="Archivo"/>
              </a:rPr>
              <a:t>2</a:t>
            </a:r>
            <a:endParaRPr/>
          </a:p>
        </p:txBody>
      </p:sp>
      <p:cxnSp>
        <p:nvCxnSpPr>
          <p:cNvPr id="467" name="Google Shape;467;p41"/>
          <p:cNvCxnSpPr/>
          <p:nvPr/>
        </p:nvCxnSpPr>
        <p:spPr>
          <a:xfrm>
            <a:off x="5486400" y="3639312"/>
            <a:ext cx="5888736" cy="0"/>
          </a:xfrm>
          <a:prstGeom prst="straightConnector1">
            <a:avLst/>
          </a:prstGeom>
          <a:noFill/>
          <a:ln cap="flat" cmpd="sng" w="9525">
            <a:solidFill>
              <a:srgbClr val="4A3B3B"/>
            </a:solidFill>
            <a:prstDash val="solid"/>
            <a:round/>
            <a:headEnd len="sm" w="sm" type="none"/>
            <a:tailEnd len="sm" w="sm" type="none"/>
          </a:ln>
        </p:spPr>
      </p:cxnSp>
      <p:sp>
        <p:nvSpPr>
          <p:cNvPr id="468" name="Google Shape;468;p41"/>
          <p:cNvSpPr txBox="1"/>
          <p:nvPr/>
        </p:nvSpPr>
        <p:spPr>
          <a:xfrm>
            <a:off x="5486400" y="3749039"/>
            <a:ext cx="4480560"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700" u="none" cap="none" strike="noStrike">
                <a:solidFill>
                  <a:srgbClr val="FFFFFF"/>
                </a:solidFill>
                <a:latin typeface="Archivo"/>
                <a:ea typeface="Archivo"/>
                <a:cs typeface="Archivo"/>
                <a:sym typeface="Archivo"/>
              </a:rPr>
              <a:t>Risks &amp; mitigation</a:t>
            </a:r>
            <a:endParaRPr/>
          </a:p>
        </p:txBody>
      </p:sp>
      <p:sp>
        <p:nvSpPr>
          <p:cNvPr id="469" name="Google Shape;469;p41"/>
          <p:cNvSpPr txBox="1"/>
          <p:nvPr/>
        </p:nvSpPr>
        <p:spPr>
          <a:xfrm>
            <a:off x="5486400" y="4069080"/>
            <a:ext cx="4754880" cy="2926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200" u="none" cap="none" strike="noStrike">
                <a:solidFill>
                  <a:srgbClr val="F2C4C0"/>
                </a:solidFill>
                <a:latin typeface="DM Sans"/>
                <a:ea typeface="DM Sans"/>
                <a:cs typeface="DM Sans"/>
                <a:sym typeface="DM Sans"/>
              </a:rPr>
              <a:t>Biggest risks to suppliers, patients and Merit</a:t>
            </a:r>
            <a:endParaRPr/>
          </a:p>
        </p:txBody>
      </p:sp>
      <p:sp>
        <p:nvSpPr>
          <p:cNvPr id="470" name="Google Shape;470;p41"/>
          <p:cNvSpPr txBox="1"/>
          <p:nvPr/>
        </p:nvSpPr>
        <p:spPr>
          <a:xfrm>
            <a:off x="10149840" y="3730752"/>
            <a:ext cx="1225296" cy="54864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1" i="0" lang="en-US" sz="2600" u="none" cap="none" strike="noStrike">
                <a:solidFill>
                  <a:srgbClr val="D6313F"/>
                </a:solidFill>
                <a:latin typeface="Archivo"/>
                <a:ea typeface="Archivo"/>
                <a:cs typeface="Archivo"/>
                <a:sym typeface="Archivo"/>
              </a:rPr>
              <a:t>1–2</a:t>
            </a:r>
            <a:endParaRPr/>
          </a:p>
        </p:txBody>
      </p:sp>
      <p:cxnSp>
        <p:nvCxnSpPr>
          <p:cNvPr id="471" name="Google Shape;471;p41"/>
          <p:cNvCxnSpPr/>
          <p:nvPr/>
        </p:nvCxnSpPr>
        <p:spPr>
          <a:xfrm>
            <a:off x="5486400" y="4425696"/>
            <a:ext cx="5888736" cy="0"/>
          </a:xfrm>
          <a:prstGeom prst="straightConnector1">
            <a:avLst/>
          </a:prstGeom>
          <a:noFill/>
          <a:ln cap="flat" cmpd="sng" w="9525">
            <a:solidFill>
              <a:srgbClr val="4A3B3B"/>
            </a:solidFill>
            <a:prstDash val="solid"/>
            <a:round/>
            <a:headEnd len="sm" w="sm" type="none"/>
            <a:tailEnd len="sm" w="sm" type="none"/>
          </a:ln>
        </p:spPr>
      </p:cxnSp>
      <p:sp>
        <p:nvSpPr>
          <p:cNvPr id="472" name="Google Shape;472;p41"/>
          <p:cNvSpPr txBox="1"/>
          <p:nvPr/>
        </p:nvSpPr>
        <p:spPr>
          <a:xfrm>
            <a:off x="5486400" y="4535424"/>
            <a:ext cx="4480560"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700" u="none" cap="none" strike="noStrike">
                <a:solidFill>
                  <a:srgbClr val="FFFFFF"/>
                </a:solidFill>
                <a:latin typeface="Archivo"/>
                <a:ea typeface="Archivo"/>
                <a:cs typeface="Archivo"/>
                <a:sym typeface="Archivo"/>
              </a:rPr>
              <a:t>Communication plan</a:t>
            </a:r>
            <a:endParaRPr/>
          </a:p>
        </p:txBody>
      </p:sp>
      <p:sp>
        <p:nvSpPr>
          <p:cNvPr id="473" name="Google Shape;473;p41"/>
          <p:cNvSpPr txBox="1"/>
          <p:nvPr/>
        </p:nvSpPr>
        <p:spPr>
          <a:xfrm>
            <a:off x="5486400" y="4855464"/>
            <a:ext cx="4754880" cy="2926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200" u="none" cap="none" strike="noStrike">
                <a:solidFill>
                  <a:srgbClr val="F2C4C0"/>
                </a:solidFill>
                <a:latin typeface="DM Sans"/>
                <a:ea typeface="DM Sans"/>
                <a:cs typeface="DM Sans"/>
                <a:sym typeface="DM Sans"/>
              </a:rPr>
              <a:t>What Merit shares, with whom, and greenwashing guardrails</a:t>
            </a:r>
            <a:endParaRPr/>
          </a:p>
        </p:txBody>
      </p:sp>
      <p:sp>
        <p:nvSpPr>
          <p:cNvPr id="474" name="Google Shape;474;p41"/>
          <p:cNvSpPr txBox="1"/>
          <p:nvPr/>
        </p:nvSpPr>
        <p:spPr>
          <a:xfrm>
            <a:off x="10149840" y="4517136"/>
            <a:ext cx="1225296" cy="54864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1" i="0" lang="en-US" sz="2600" u="none" cap="none" strike="noStrike">
                <a:solidFill>
                  <a:srgbClr val="D6313F"/>
                </a:solidFill>
                <a:latin typeface="Archivo"/>
                <a:ea typeface="Archivo"/>
                <a:cs typeface="Archivo"/>
                <a:sym typeface="Archivo"/>
              </a:rPr>
              <a:t>1</a:t>
            </a:r>
            <a:endParaRPr/>
          </a:p>
        </p:txBody>
      </p:sp>
      <p:cxnSp>
        <p:nvCxnSpPr>
          <p:cNvPr id="475" name="Google Shape;475;p41"/>
          <p:cNvCxnSpPr/>
          <p:nvPr/>
        </p:nvCxnSpPr>
        <p:spPr>
          <a:xfrm>
            <a:off x="5486400" y="5212079"/>
            <a:ext cx="5888736" cy="0"/>
          </a:xfrm>
          <a:prstGeom prst="straightConnector1">
            <a:avLst/>
          </a:prstGeom>
          <a:noFill/>
          <a:ln cap="flat" cmpd="sng" w="9525">
            <a:solidFill>
              <a:srgbClr val="4A3B3B"/>
            </a:solidFill>
            <a:prstDash val="solid"/>
            <a:round/>
            <a:headEnd len="sm" w="sm" type="none"/>
            <a:tailEnd len="sm" w="sm" type="none"/>
          </a:ln>
        </p:spPr>
      </p:cxnSp>
      <p:sp>
        <p:nvSpPr>
          <p:cNvPr id="476" name="Google Shape;476;p41"/>
          <p:cNvSpPr txBox="1"/>
          <p:nvPr/>
        </p:nvSpPr>
        <p:spPr>
          <a:xfrm>
            <a:off x="5486400" y="5321807"/>
            <a:ext cx="4480560"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700" u="none" cap="none" strike="noStrike">
                <a:solidFill>
                  <a:srgbClr val="FFFFFF"/>
                </a:solidFill>
                <a:latin typeface="Archivo"/>
                <a:ea typeface="Archivo"/>
                <a:cs typeface="Archivo"/>
                <a:sym typeface="Archivo"/>
              </a:rPr>
              <a:t>Social Impact Cycle</a:t>
            </a:r>
            <a:endParaRPr/>
          </a:p>
        </p:txBody>
      </p:sp>
      <p:sp>
        <p:nvSpPr>
          <p:cNvPr id="477" name="Google Shape;477;p41"/>
          <p:cNvSpPr txBox="1"/>
          <p:nvPr/>
        </p:nvSpPr>
        <p:spPr>
          <a:xfrm>
            <a:off x="5486400" y="5641847"/>
            <a:ext cx="4754880" cy="2926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200" u="none" cap="none" strike="noStrike">
                <a:solidFill>
                  <a:srgbClr val="F2C4C0"/>
                </a:solidFill>
                <a:latin typeface="DM Sans"/>
                <a:ea typeface="DM Sans"/>
                <a:cs typeface="DM Sans"/>
                <a:sym typeface="DM Sans"/>
              </a:rPr>
              <a:t>Your strategy mapped onto the cycle</a:t>
            </a:r>
            <a:endParaRPr/>
          </a:p>
        </p:txBody>
      </p:sp>
      <p:sp>
        <p:nvSpPr>
          <p:cNvPr id="478" name="Google Shape;478;p41"/>
          <p:cNvSpPr txBox="1"/>
          <p:nvPr/>
        </p:nvSpPr>
        <p:spPr>
          <a:xfrm>
            <a:off x="10149840" y="5303519"/>
            <a:ext cx="1225296" cy="54864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1" i="0" lang="en-US" sz="2600" u="none" cap="none" strike="noStrike">
                <a:solidFill>
                  <a:srgbClr val="D6313F"/>
                </a:solidFill>
                <a:latin typeface="Archivo"/>
                <a:ea typeface="Archivo"/>
                <a:cs typeface="Archivo"/>
                <a:sym typeface="Archivo"/>
              </a:rPr>
              <a:t>1</a:t>
            </a:r>
            <a:endParaRPr/>
          </a:p>
        </p:txBody>
      </p:sp>
      <p:sp>
        <p:nvSpPr>
          <p:cNvPr id="479" name="Google Shape;479;p41"/>
          <p:cNvSpPr txBox="1"/>
          <p:nvPr/>
        </p:nvSpPr>
        <p:spPr>
          <a:xfrm>
            <a:off x="10149840" y="868680"/>
            <a:ext cx="1225296" cy="27432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1" i="0" lang="en-US" sz="1200" u="none" cap="none" strike="noStrike">
                <a:solidFill>
                  <a:srgbClr val="F2C4C0"/>
                </a:solidFill>
                <a:latin typeface="DM Sans"/>
                <a:ea typeface="DM Sans"/>
                <a:cs typeface="DM Sans"/>
                <a:sym typeface="DM Sans"/>
              </a:rPr>
              <a:t>SLIDES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3202D"/>
        </a:solidFill>
      </p:bgPr>
    </p:bg>
    <p:spTree>
      <p:nvGrpSpPr>
        <p:cNvPr id="483" name="Shape 483"/>
        <p:cNvGrpSpPr/>
        <p:nvPr/>
      </p:nvGrpSpPr>
      <p:grpSpPr>
        <a:xfrm>
          <a:off x="0" y="0"/>
          <a:ext cx="0" cy="0"/>
          <a:chOff x="0" y="0"/>
          <a:chExt cx="0" cy="0"/>
        </a:xfrm>
      </p:grpSpPr>
      <p:cxnSp>
        <p:nvCxnSpPr>
          <p:cNvPr id="484" name="Google Shape;484;p42"/>
          <p:cNvCxnSpPr/>
          <p:nvPr/>
        </p:nvCxnSpPr>
        <p:spPr>
          <a:xfrm>
            <a:off x="815341" y="5710888"/>
            <a:ext cx="10561200" cy="0"/>
          </a:xfrm>
          <a:prstGeom prst="straightConnector1">
            <a:avLst/>
          </a:prstGeom>
          <a:noFill/>
          <a:ln cap="flat" cmpd="sng" w="12700">
            <a:solidFill>
              <a:srgbClr val="F2C4C0"/>
            </a:solidFill>
            <a:prstDash val="solid"/>
            <a:round/>
            <a:headEnd len="sm" w="sm" type="none"/>
            <a:tailEnd len="sm" w="sm" type="none"/>
          </a:ln>
        </p:spPr>
      </p:cxnSp>
      <p:sp>
        <p:nvSpPr>
          <p:cNvPr id="485" name="Google Shape;485;p42"/>
          <p:cNvSpPr txBox="1"/>
          <p:nvPr/>
        </p:nvSpPr>
        <p:spPr>
          <a:xfrm>
            <a:off x="813816" y="3124182"/>
            <a:ext cx="7498200" cy="22443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lang="en-US" sz="8100" u="none" cap="none" strike="noStrike">
                <a:solidFill>
                  <a:srgbClr val="FFFFFF"/>
                </a:solidFill>
                <a:latin typeface="Archivo"/>
                <a:ea typeface="Archivo"/>
                <a:cs typeface="Archivo"/>
                <a:sym typeface="Archivo"/>
              </a:rPr>
              <a:t>SCHEDULE &amp; PRIZES</a:t>
            </a:r>
            <a:endParaRPr sz="5100"/>
          </a:p>
        </p:txBody>
      </p:sp>
      <p:pic>
        <p:nvPicPr>
          <p:cNvPr descr="Ballard Center, BYU Marriott logo" id="486" name="Google Shape;486;p42"/>
          <p:cNvPicPr preferRelativeResize="0"/>
          <p:nvPr/>
        </p:nvPicPr>
        <p:blipFill rotWithShape="1">
          <a:blip r:embed="rId3">
            <a:alphaModFix/>
          </a:blip>
          <a:srcRect b="0" l="0" r="0" t="0"/>
          <a:stretch/>
        </p:blipFill>
        <p:spPr>
          <a:xfrm>
            <a:off x="813816" y="6053328"/>
            <a:ext cx="1400646" cy="384048"/>
          </a:xfrm>
          <a:prstGeom prst="rect">
            <a:avLst/>
          </a:prstGeom>
          <a:noFill/>
          <a:ln>
            <a:noFill/>
          </a:ln>
        </p:spPr>
      </p:pic>
      <p:pic>
        <p:nvPicPr>
          <p:cNvPr descr="Do Good. Better." id="487" name="Google Shape;487;p42"/>
          <p:cNvPicPr preferRelativeResize="0"/>
          <p:nvPr/>
        </p:nvPicPr>
        <p:blipFill rotWithShape="1">
          <a:blip r:embed="rId4">
            <a:alphaModFix/>
          </a:blip>
          <a:srcRect b="0" l="0" r="0" t="0"/>
          <a:stretch/>
        </p:blipFill>
        <p:spPr>
          <a:xfrm>
            <a:off x="8814816" y="6144768"/>
            <a:ext cx="2560320" cy="230982"/>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DCD0"/>
        </a:solidFill>
      </p:bgPr>
    </p:bg>
    <p:spTree>
      <p:nvGrpSpPr>
        <p:cNvPr id="492" name="Shape 492"/>
        <p:cNvGrpSpPr/>
        <p:nvPr/>
      </p:nvGrpSpPr>
      <p:grpSpPr>
        <a:xfrm>
          <a:off x="0" y="0"/>
          <a:ext cx="0" cy="0"/>
          <a:chOff x="0" y="0"/>
          <a:chExt cx="0" cy="0"/>
        </a:xfrm>
      </p:grpSpPr>
      <p:sp>
        <p:nvSpPr>
          <p:cNvPr id="493" name="Google Shape;493;p43"/>
          <p:cNvSpPr txBox="1"/>
          <p:nvPr/>
        </p:nvSpPr>
        <p:spPr>
          <a:xfrm>
            <a:off x="813816" y="1143000"/>
            <a:ext cx="10607040" cy="164592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i="0" lang="en-US" sz="6000" u="none" cap="none" strike="noStrike">
                <a:solidFill>
                  <a:srgbClr val="B3202D"/>
                </a:solidFill>
                <a:latin typeface="Archivo"/>
                <a:ea typeface="Archivo"/>
                <a:cs typeface="Archivo"/>
                <a:sym typeface="Archivo"/>
              </a:rPr>
              <a:t>THE ROAD</a:t>
            </a:r>
            <a:endParaRPr/>
          </a:p>
          <a:p>
            <a:pPr indent="0" lvl="0" marL="0" marR="0" rtl="0" algn="l">
              <a:lnSpc>
                <a:spcPct val="90000"/>
              </a:lnSpc>
              <a:spcBef>
                <a:spcPts val="0"/>
              </a:spcBef>
              <a:spcAft>
                <a:spcPts val="0"/>
              </a:spcAft>
              <a:buNone/>
            </a:pPr>
            <a:r>
              <a:rPr b="1" i="0" lang="en-US" sz="6000" u="none" cap="none" strike="noStrike">
                <a:solidFill>
                  <a:srgbClr val="B3202D"/>
                </a:solidFill>
                <a:latin typeface="Archivo"/>
                <a:ea typeface="Archivo"/>
                <a:cs typeface="Archivo"/>
                <a:sym typeface="Archivo"/>
              </a:rPr>
              <a:t>TO FINALS</a:t>
            </a:r>
            <a:endParaRPr/>
          </a:p>
        </p:txBody>
      </p:sp>
      <p:cxnSp>
        <p:nvCxnSpPr>
          <p:cNvPr id="494" name="Google Shape;494;p43"/>
          <p:cNvCxnSpPr/>
          <p:nvPr/>
        </p:nvCxnSpPr>
        <p:spPr>
          <a:xfrm>
            <a:off x="813816" y="4160520"/>
            <a:ext cx="10561320" cy="0"/>
          </a:xfrm>
          <a:prstGeom prst="straightConnector1">
            <a:avLst/>
          </a:prstGeom>
          <a:noFill/>
          <a:ln cap="flat" cmpd="sng" w="25400">
            <a:solidFill>
              <a:srgbClr val="B3202D"/>
            </a:solidFill>
            <a:prstDash val="solid"/>
            <a:round/>
            <a:headEnd len="sm" w="sm" type="none"/>
            <a:tailEnd len="sm" w="sm" type="none"/>
          </a:ln>
        </p:spPr>
      </p:cxnSp>
      <p:sp>
        <p:nvSpPr>
          <p:cNvPr id="495" name="Google Shape;495;p43"/>
          <p:cNvSpPr/>
          <p:nvPr/>
        </p:nvSpPr>
        <p:spPr>
          <a:xfrm>
            <a:off x="813816" y="4032504"/>
            <a:ext cx="256032" cy="256032"/>
          </a:xfrm>
          <a:prstGeom prst="ellipse">
            <a:avLst/>
          </a:prstGeom>
          <a:solidFill>
            <a:srgbClr val="B3202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6" name="Google Shape;496;p43"/>
          <p:cNvSpPr txBox="1"/>
          <p:nvPr/>
        </p:nvSpPr>
        <p:spPr>
          <a:xfrm>
            <a:off x="813816" y="4572000"/>
            <a:ext cx="236601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500" u="none" cap="none" strike="noStrike">
                <a:solidFill>
                  <a:srgbClr val="B3202D"/>
                </a:solidFill>
                <a:latin typeface="DM Sans"/>
                <a:ea typeface="DM Sans"/>
                <a:cs typeface="DM Sans"/>
                <a:sym typeface="DM Sans"/>
              </a:rPr>
              <a:t>TUE, OCT 13</a:t>
            </a:r>
            <a:endParaRPr/>
          </a:p>
        </p:txBody>
      </p:sp>
      <p:sp>
        <p:nvSpPr>
          <p:cNvPr id="497" name="Google Shape;497;p43"/>
          <p:cNvSpPr txBox="1"/>
          <p:nvPr/>
        </p:nvSpPr>
        <p:spPr>
          <a:xfrm>
            <a:off x="813816" y="4937759"/>
            <a:ext cx="2503170"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1E1616"/>
                </a:solidFill>
                <a:latin typeface="Archivo"/>
                <a:ea typeface="Archivo"/>
                <a:cs typeface="Archivo"/>
                <a:sym typeface="Archivo"/>
              </a:rPr>
              <a:t>Kickoff</a:t>
            </a:r>
            <a:endParaRPr/>
          </a:p>
        </p:txBody>
      </p:sp>
      <p:sp>
        <p:nvSpPr>
          <p:cNvPr id="498" name="Google Shape;498;p43"/>
          <p:cNvSpPr txBox="1"/>
          <p:nvPr/>
        </p:nvSpPr>
        <p:spPr>
          <a:xfrm>
            <a:off x="813816" y="5422392"/>
            <a:ext cx="23661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US">
                <a:solidFill>
                  <a:srgbClr val="4A3B3B"/>
                </a:solidFill>
                <a:latin typeface="DM Sans"/>
                <a:ea typeface="DM Sans"/>
                <a:cs typeface="DM Sans"/>
                <a:sym typeface="DM Sans"/>
              </a:rPr>
              <a:t>Find a team!</a:t>
            </a:r>
            <a:endParaRPr/>
          </a:p>
        </p:txBody>
      </p:sp>
      <p:sp>
        <p:nvSpPr>
          <p:cNvPr id="499" name="Google Shape;499;p43"/>
          <p:cNvSpPr/>
          <p:nvPr/>
        </p:nvSpPr>
        <p:spPr>
          <a:xfrm>
            <a:off x="3454146" y="4032504"/>
            <a:ext cx="256032" cy="256032"/>
          </a:xfrm>
          <a:prstGeom prst="ellipse">
            <a:avLst/>
          </a:prstGeom>
          <a:solidFill>
            <a:srgbClr val="B3202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0" name="Google Shape;500;p43"/>
          <p:cNvSpPr txBox="1"/>
          <p:nvPr/>
        </p:nvSpPr>
        <p:spPr>
          <a:xfrm>
            <a:off x="3454146" y="4572000"/>
            <a:ext cx="236601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500" u="none" cap="none" strike="noStrike">
                <a:solidFill>
                  <a:srgbClr val="B3202D"/>
                </a:solidFill>
                <a:latin typeface="DM Sans"/>
                <a:ea typeface="DM Sans"/>
                <a:cs typeface="DM Sans"/>
                <a:sym typeface="DM Sans"/>
              </a:rPr>
              <a:t>THU, OCT 15</a:t>
            </a:r>
            <a:endParaRPr/>
          </a:p>
        </p:txBody>
      </p:sp>
      <p:sp>
        <p:nvSpPr>
          <p:cNvPr id="501" name="Google Shape;501;p43"/>
          <p:cNvSpPr txBox="1"/>
          <p:nvPr/>
        </p:nvSpPr>
        <p:spPr>
          <a:xfrm>
            <a:off x="3454146" y="4937759"/>
            <a:ext cx="2503170"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1E1616"/>
                </a:solidFill>
                <a:latin typeface="Archivo"/>
                <a:ea typeface="Archivo"/>
                <a:cs typeface="Archivo"/>
                <a:sym typeface="Archivo"/>
              </a:rPr>
              <a:t>Teams due</a:t>
            </a:r>
            <a:endParaRPr/>
          </a:p>
        </p:txBody>
      </p:sp>
      <p:sp>
        <p:nvSpPr>
          <p:cNvPr id="502" name="Google Shape;502;p43"/>
          <p:cNvSpPr txBox="1"/>
          <p:nvPr/>
        </p:nvSpPr>
        <p:spPr>
          <a:xfrm>
            <a:off x="3454146" y="5422392"/>
            <a:ext cx="23661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400" u="none" cap="none" strike="noStrike">
                <a:solidFill>
                  <a:srgbClr val="4A3B3B"/>
                </a:solidFill>
                <a:latin typeface="DM Sans"/>
                <a:ea typeface="DM Sans"/>
                <a:cs typeface="DM Sans"/>
                <a:sym typeface="DM Sans"/>
              </a:rPr>
              <a:t>Register by 11:59 PM</a:t>
            </a:r>
            <a:endParaRPr b="0" i="0" sz="1400" u="none" cap="none" strike="noStrike">
              <a:solidFill>
                <a:srgbClr val="4A3B3B"/>
              </a:solidFill>
              <a:latin typeface="DM Sans"/>
              <a:ea typeface="DM Sans"/>
              <a:cs typeface="DM Sans"/>
              <a:sym typeface="DM Sans"/>
            </a:endParaRPr>
          </a:p>
          <a:p>
            <a:pPr indent="0" lvl="0" marL="0" marR="0" rtl="0" algn="l">
              <a:lnSpc>
                <a:spcPct val="100000"/>
              </a:lnSpc>
              <a:spcBef>
                <a:spcPts val="0"/>
              </a:spcBef>
              <a:spcAft>
                <a:spcPts val="0"/>
              </a:spcAft>
              <a:buNone/>
            </a:pPr>
            <a:r>
              <a:rPr lang="en-US">
                <a:solidFill>
                  <a:srgbClr val="4A3B3B"/>
                </a:solidFill>
                <a:latin typeface="DM Sans"/>
                <a:ea typeface="DM Sans"/>
                <a:cs typeface="DM Sans"/>
                <a:sym typeface="DM Sans"/>
              </a:rPr>
              <a:t>Case posted at 12:00 AM</a:t>
            </a:r>
            <a:endParaRPr>
              <a:solidFill>
                <a:srgbClr val="4A3B3B"/>
              </a:solidFill>
              <a:latin typeface="DM Sans"/>
              <a:ea typeface="DM Sans"/>
              <a:cs typeface="DM Sans"/>
              <a:sym typeface="DM Sans"/>
            </a:endParaRPr>
          </a:p>
        </p:txBody>
      </p:sp>
      <p:sp>
        <p:nvSpPr>
          <p:cNvPr id="503" name="Google Shape;503;p43"/>
          <p:cNvSpPr/>
          <p:nvPr/>
        </p:nvSpPr>
        <p:spPr>
          <a:xfrm>
            <a:off x="6094475" y="4032504"/>
            <a:ext cx="256032" cy="256032"/>
          </a:xfrm>
          <a:prstGeom prst="ellipse">
            <a:avLst/>
          </a:prstGeom>
          <a:solidFill>
            <a:srgbClr val="B3202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4" name="Google Shape;504;p43"/>
          <p:cNvSpPr txBox="1"/>
          <p:nvPr/>
        </p:nvSpPr>
        <p:spPr>
          <a:xfrm>
            <a:off x="6094475" y="4572000"/>
            <a:ext cx="23661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1500">
                <a:solidFill>
                  <a:srgbClr val="B3202D"/>
                </a:solidFill>
                <a:latin typeface="DM Sans"/>
                <a:ea typeface="DM Sans"/>
                <a:cs typeface="DM Sans"/>
                <a:sym typeface="DM Sans"/>
              </a:rPr>
              <a:t>FRI, OCT 30</a:t>
            </a:r>
            <a:endParaRPr/>
          </a:p>
        </p:txBody>
      </p:sp>
      <p:sp>
        <p:nvSpPr>
          <p:cNvPr id="505" name="Google Shape;505;p43"/>
          <p:cNvSpPr txBox="1"/>
          <p:nvPr/>
        </p:nvSpPr>
        <p:spPr>
          <a:xfrm>
            <a:off x="6094475" y="4937759"/>
            <a:ext cx="2503170"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1E1616"/>
                </a:solidFill>
                <a:latin typeface="Archivo"/>
                <a:ea typeface="Archivo"/>
                <a:cs typeface="Archivo"/>
                <a:sym typeface="Archivo"/>
              </a:rPr>
              <a:t>Submissions due</a:t>
            </a:r>
            <a:endParaRPr/>
          </a:p>
        </p:txBody>
      </p:sp>
      <p:sp>
        <p:nvSpPr>
          <p:cNvPr id="506" name="Google Shape;506;p43"/>
          <p:cNvSpPr txBox="1"/>
          <p:nvPr/>
        </p:nvSpPr>
        <p:spPr>
          <a:xfrm>
            <a:off x="6094475" y="5422392"/>
            <a:ext cx="23661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400" u="none" cap="none" strike="noStrike">
                <a:solidFill>
                  <a:srgbClr val="4A3B3B"/>
                </a:solidFill>
                <a:latin typeface="DM Sans"/>
                <a:ea typeface="DM Sans"/>
                <a:cs typeface="DM Sans"/>
                <a:sym typeface="DM Sans"/>
              </a:rPr>
              <a:t>Decks in by </a:t>
            </a:r>
            <a:r>
              <a:rPr lang="en-US">
                <a:solidFill>
                  <a:srgbClr val="4A3B3B"/>
                </a:solidFill>
                <a:latin typeface="DM Sans"/>
                <a:ea typeface="DM Sans"/>
                <a:cs typeface="DM Sans"/>
                <a:sym typeface="DM Sans"/>
              </a:rPr>
              <a:t>7</a:t>
            </a:r>
            <a:r>
              <a:rPr b="0" i="0" lang="en-US" sz="1400" u="none" cap="none" strike="noStrike">
                <a:solidFill>
                  <a:srgbClr val="4A3B3B"/>
                </a:solidFill>
                <a:latin typeface="DM Sans"/>
                <a:ea typeface="DM Sans"/>
                <a:cs typeface="DM Sans"/>
                <a:sym typeface="DM Sans"/>
              </a:rPr>
              <a:t>:00 AM</a:t>
            </a:r>
            <a:endParaRPr/>
          </a:p>
        </p:txBody>
      </p:sp>
      <p:sp>
        <p:nvSpPr>
          <p:cNvPr id="507" name="Google Shape;507;p43"/>
          <p:cNvSpPr/>
          <p:nvPr/>
        </p:nvSpPr>
        <p:spPr>
          <a:xfrm>
            <a:off x="8734806" y="4032504"/>
            <a:ext cx="256032" cy="256032"/>
          </a:xfrm>
          <a:prstGeom prst="ellipse">
            <a:avLst/>
          </a:prstGeom>
          <a:solidFill>
            <a:srgbClr val="1E161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8" name="Google Shape;508;p43"/>
          <p:cNvSpPr txBox="1"/>
          <p:nvPr/>
        </p:nvSpPr>
        <p:spPr>
          <a:xfrm>
            <a:off x="8734806" y="4572000"/>
            <a:ext cx="23661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1500">
                <a:solidFill>
                  <a:srgbClr val="B3202D"/>
                </a:solidFill>
                <a:latin typeface="DM Sans"/>
                <a:ea typeface="DM Sans"/>
                <a:cs typeface="DM Sans"/>
                <a:sym typeface="DM Sans"/>
              </a:rPr>
              <a:t>FRI, OCT 30</a:t>
            </a:r>
            <a:endParaRPr/>
          </a:p>
        </p:txBody>
      </p:sp>
      <p:sp>
        <p:nvSpPr>
          <p:cNvPr id="509" name="Google Shape;509;p43"/>
          <p:cNvSpPr txBox="1"/>
          <p:nvPr/>
        </p:nvSpPr>
        <p:spPr>
          <a:xfrm>
            <a:off x="8734806" y="4937759"/>
            <a:ext cx="2503170"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1E1616"/>
                </a:solidFill>
                <a:latin typeface="Archivo"/>
                <a:ea typeface="Archivo"/>
                <a:cs typeface="Archivo"/>
                <a:sym typeface="Archivo"/>
              </a:rPr>
              <a:t>Competition day</a:t>
            </a:r>
            <a:endParaRPr/>
          </a:p>
        </p:txBody>
      </p:sp>
      <p:sp>
        <p:nvSpPr>
          <p:cNvPr id="510" name="Google Shape;510;p43"/>
          <p:cNvSpPr txBox="1"/>
          <p:nvPr/>
        </p:nvSpPr>
        <p:spPr>
          <a:xfrm>
            <a:off x="8734806" y="5422392"/>
            <a:ext cx="23661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400" u="none" cap="none" strike="noStrike">
                <a:solidFill>
                  <a:srgbClr val="4A3B3B"/>
                </a:solidFill>
                <a:latin typeface="DM Sans"/>
                <a:ea typeface="DM Sans"/>
                <a:cs typeface="DM Sans"/>
                <a:sym typeface="DM Sans"/>
              </a:rPr>
              <a:t>Prelims</a:t>
            </a:r>
            <a:r>
              <a:rPr lang="en-US">
                <a:solidFill>
                  <a:srgbClr val="4A3B3B"/>
                </a:solidFill>
                <a:latin typeface="DM Sans"/>
                <a:ea typeface="DM Sans"/>
                <a:cs typeface="DM Sans"/>
                <a:sym typeface="DM Sans"/>
              </a:rPr>
              <a:t> &amp; </a:t>
            </a:r>
            <a:r>
              <a:rPr b="0" i="0" lang="en-US" sz="1400" u="none" cap="none" strike="noStrike">
                <a:solidFill>
                  <a:srgbClr val="4A3B3B"/>
                </a:solidFill>
                <a:latin typeface="DM Sans"/>
                <a:ea typeface="DM Sans"/>
                <a:cs typeface="DM Sans"/>
                <a:sym typeface="DM Sans"/>
              </a:rPr>
              <a:t>finals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1ECE4"/>
        </a:solidFill>
      </p:bgPr>
    </p:bg>
    <p:spTree>
      <p:nvGrpSpPr>
        <p:cNvPr id="515" name="Shape 515"/>
        <p:cNvGrpSpPr/>
        <p:nvPr/>
      </p:nvGrpSpPr>
      <p:grpSpPr>
        <a:xfrm>
          <a:off x="0" y="0"/>
          <a:ext cx="0" cy="0"/>
          <a:chOff x="0" y="0"/>
          <a:chExt cx="0" cy="0"/>
        </a:xfrm>
      </p:grpSpPr>
      <p:sp>
        <p:nvSpPr>
          <p:cNvPr id="516" name="Google Shape;516;p44"/>
          <p:cNvSpPr txBox="1"/>
          <p:nvPr/>
        </p:nvSpPr>
        <p:spPr>
          <a:xfrm>
            <a:off x="853440" y="609600"/>
            <a:ext cx="7315200" cy="30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4262C"/>
              </a:buClr>
              <a:buSzPts val="1500"/>
              <a:buFont typeface="Arial"/>
              <a:buNone/>
            </a:pPr>
            <a:r>
              <a:rPr b="1" i="0" lang="en-US" sz="1500" u="none" cap="none" strike="noStrike">
                <a:solidFill>
                  <a:srgbClr val="A4262C"/>
                </a:solidFill>
                <a:latin typeface="Arial"/>
                <a:ea typeface="Arial"/>
                <a:cs typeface="Arial"/>
                <a:sym typeface="Arial"/>
              </a:rPr>
              <a:t>COMPETITION DAY · FRI, OCT 30</a:t>
            </a:r>
            <a:endParaRPr b="0" i="0" sz="1500" u="none" cap="none" strike="noStrike">
              <a:solidFill>
                <a:schemeClr val="dk1"/>
              </a:solidFill>
              <a:latin typeface="Calibri"/>
              <a:ea typeface="Calibri"/>
              <a:cs typeface="Calibri"/>
              <a:sym typeface="Calibri"/>
            </a:endParaRPr>
          </a:p>
        </p:txBody>
      </p:sp>
      <p:sp>
        <p:nvSpPr>
          <p:cNvPr id="517" name="Google Shape;517;p44"/>
          <p:cNvSpPr txBox="1"/>
          <p:nvPr/>
        </p:nvSpPr>
        <p:spPr>
          <a:xfrm>
            <a:off x="853440" y="950976"/>
            <a:ext cx="1048512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4262C"/>
              </a:buClr>
              <a:buSzPts val="5300"/>
              <a:buFont typeface="Arial"/>
              <a:buNone/>
            </a:pPr>
            <a:r>
              <a:rPr b="1" lang="en-US" sz="5300">
                <a:solidFill>
                  <a:srgbClr val="A4262C"/>
                </a:solidFill>
              </a:rPr>
              <a:t>COMPETITION DAY</a:t>
            </a:r>
            <a:endParaRPr b="0" i="0" sz="5300" u="none" cap="none" strike="noStrike">
              <a:solidFill>
                <a:schemeClr val="dk1"/>
              </a:solidFill>
              <a:latin typeface="Calibri"/>
              <a:ea typeface="Calibri"/>
              <a:cs typeface="Calibri"/>
              <a:sym typeface="Calibri"/>
            </a:endParaRPr>
          </a:p>
        </p:txBody>
      </p:sp>
      <p:sp>
        <p:nvSpPr>
          <p:cNvPr id="518" name="Google Shape;518;p44"/>
          <p:cNvSpPr txBox="1"/>
          <p:nvPr/>
        </p:nvSpPr>
        <p:spPr>
          <a:xfrm>
            <a:off x="853440" y="1889760"/>
            <a:ext cx="73152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1A17"/>
              </a:buClr>
              <a:buSzPts val="1900"/>
              <a:buFont typeface="Arial"/>
              <a:buNone/>
            </a:pPr>
            <a:r>
              <a:rPr b="1" i="0" lang="en-US" sz="1900" u="none" cap="none" strike="noStrike">
                <a:solidFill>
                  <a:srgbClr val="1E1A17"/>
                </a:solidFill>
                <a:latin typeface="Arial"/>
                <a:ea typeface="Arial"/>
                <a:cs typeface="Arial"/>
                <a:sym typeface="Arial"/>
              </a:rPr>
              <a:t>Submission deadline: </a:t>
            </a:r>
            <a:r>
              <a:rPr b="1" i="0" lang="en-US" sz="1900" u="none" cap="none" strike="noStrike">
                <a:solidFill>
                  <a:srgbClr val="A4262C"/>
                </a:solidFill>
                <a:latin typeface="Arial"/>
                <a:ea typeface="Arial"/>
                <a:cs typeface="Arial"/>
                <a:sym typeface="Arial"/>
              </a:rPr>
              <a:t>7:00 AM</a:t>
            </a:r>
            <a:endParaRPr b="0" i="0" sz="1900" u="none" cap="none" strike="noStrike">
              <a:solidFill>
                <a:schemeClr val="dk1"/>
              </a:solidFill>
              <a:latin typeface="Calibri"/>
              <a:ea typeface="Calibri"/>
              <a:cs typeface="Calibri"/>
              <a:sym typeface="Calibri"/>
            </a:endParaRPr>
          </a:p>
        </p:txBody>
      </p:sp>
      <p:sp>
        <p:nvSpPr>
          <p:cNvPr id="519" name="Google Shape;519;p44"/>
          <p:cNvSpPr/>
          <p:nvPr/>
        </p:nvSpPr>
        <p:spPr>
          <a:xfrm>
            <a:off x="853440" y="2499360"/>
            <a:ext cx="5059680" cy="2865120"/>
          </a:xfrm>
          <a:prstGeom prst="rect">
            <a:avLst/>
          </a:prstGeom>
          <a:solidFill>
            <a:srgbClr val="FAF6F1"/>
          </a:solidFill>
          <a:ln cap="flat" cmpd="sng" w="12700">
            <a:solidFill>
              <a:srgbClr val="FAF6F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20" name="Google Shape;520;p44"/>
          <p:cNvSpPr txBox="1"/>
          <p:nvPr/>
        </p:nvSpPr>
        <p:spPr>
          <a:xfrm>
            <a:off x="1280160" y="2865120"/>
            <a:ext cx="4145280" cy="2682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4262C"/>
              </a:buClr>
              <a:buSzPts val="1500"/>
              <a:buFont typeface="Arial"/>
              <a:buNone/>
            </a:pPr>
            <a:r>
              <a:rPr b="1" i="0" lang="en-US" sz="1500" u="none" cap="none" strike="noStrike">
                <a:solidFill>
                  <a:srgbClr val="A4262C"/>
                </a:solidFill>
                <a:latin typeface="Arial"/>
                <a:ea typeface="Arial"/>
                <a:cs typeface="Arial"/>
                <a:sym typeface="Arial"/>
              </a:rPr>
              <a:t>ROUND 1</a:t>
            </a:r>
            <a:endParaRPr b="0" i="0" sz="1500" u="none" cap="none" strike="noStrike">
              <a:solidFill>
                <a:schemeClr val="dk1"/>
              </a:solidFill>
              <a:latin typeface="Calibri"/>
              <a:ea typeface="Calibri"/>
              <a:cs typeface="Calibri"/>
              <a:sym typeface="Calibri"/>
            </a:endParaRPr>
          </a:p>
        </p:txBody>
      </p:sp>
      <p:sp>
        <p:nvSpPr>
          <p:cNvPr id="521" name="Google Shape;521;p44"/>
          <p:cNvSpPr txBox="1"/>
          <p:nvPr/>
        </p:nvSpPr>
        <p:spPr>
          <a:xfrm>
            <a:off x="1280160" y="3169920"/>
            <a:ext cx="4145280" cy="6705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1A17"/>
              </a:buClr>
              <a:buSzPts val="3700"/>
              <a:buFont typeface="Arial"/>
              <a:buNone/>
            </a:pPr>
            <a:r>
              <a:rPr b="1" i="0" lang="en-US" sz="3700" u="none" cap="none" strike="noStrike">
                <a:solidFill>
                  <a:srgbClr val="1E1A17"/>
                </a:solidFill>
                <a:latin typeface="Arial"/>
                <a:ea typeface="Arial"/>
                <a:cs typeface="Arial"/>
                <a:sym typeface="Arial"/>
              </a:rPr>
              <a:t>Prelims</a:t>
            </a:r>
            <a:endParaRPr b="0" i="0" sz="3700" u="none" cap="none" strike="noStrike">
              <a:solidFill>
                <a:schemeClr val="dk1"/>
              </a:solidFill>
              <a:latin typeface="Calibri"/>
              <a:ea typeface="Calibri"/>
              <a:cs typeface="Calibri"/>
              <a:sym typeface="Calibri"/>
            </a:endParaRPr>
          </a:p>
        </p:txBody>
      </p:sp>
      <p:sp>
        <p:nvSpPr>
          <p:cNvPr id="522" name="Google Shape;522;p44"/>
          <p:cNvSpPr txBox="1"/>
          <p:nvPr/>
        </p:nvSpPr>
        <p:spPr>
          <a:xfrm>
            <a:off x="1280160" y="3840480"/>
            <a:ext cx="414528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1A17"/>
              </a:buClr>
              <a:buSzPts val="2100"/>
              <a:buFont typeface="Arial"/>
              <a:buNone/>
            </a:pPr>
            <a:r>
              <a:rPr b="1" i="0" lang="en-US" sz="2100" u="none" cap="none" strike="noStrike">
                <a:solidFill>
                  <a:srgbClr val="1E1A17"/>
                </a:solidFill>
                <a:latin typeface="Arial"/>
                <a:ea typeface="Arial"/>
                <a:cs typeface="Arial"/>
                <a:sym typeface="Arial"/>
              </a:rPr>
              <a:t>9:30–11:45 AM</a:t>
            </a:r>
            <a:endParaRPr b="0" i="0" sz="2100" u="none" cap="none" strike="noStrike">
              <a:solidFill>
                <a:schemeClr val="dk1"/>
              </a:solidFill>
              <a:latin typeface="Calibri"/>
              <a:ea typeface="Calibri"/>
              <a:cs typeface="Calibri"/>
              <a:sym typeface="Calibri"/>
            </a:endParaRPr>
          </a:p>
        </p:txBody>
      </p:sp>
      <p:sp>
        <p:nvSpPr>
          <p:cNvPr id="523" name="Google Shape;523;p44"/>
          <p:cNvSpPr txBox="1"/>
          <p:nvPr/>
        </p:nvSpPr>
        <p:spPr>
          <a:xfrm>
            <a:off x="1280160" y="4450080"/>
            <a:ext cx="4267200" cy="67056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3A332E"/>
              </a:buClr>
              <a:buSzPts val="1700"/>
              <a:buFont typeface="Arial"/>
              <a:buNone/>
            </a:pPr>
            <a:r>
              <a:rPr b="0" i="0" lang="en-US" sz="1700" u="none" cap="none" strike="noStrike">
                <a:solidFill>
                  <a:srgbClr val="3A332E"/>
                </a:solidFill>
                <a:latin typeface="Arial"/>
                <a:ea typeface="Arial"/>
                <a:cs typeface="Arial"/>
                <a:sym typeface="Arial"/>
              </a:rPr>
              <a:t>Every team </a:t>
            </a:r>
            <a:r>
              <a:rPr lang="en-US" sz="1700">
                <a:solidFill>
                  <a:srgbClr val="3A332E"/>
                </a:solidFill>
              </a:rPr>
              <a:t>chooses a 20 minute slot</a:t>
            </a:r>
            <a:endParaRPr b="0" i="0" sz="1700" u="none" cap="none" strike="noStrike">
              <a:solidFill>
                <a:schemeClr val="dk1"/>
              </a:solidFill>
              <a:latin typeface="Calibri"/>
              <a:ea typeface="Calibri"/>
              <a:cs typeface="Calibri"/>
              <a:sym typeface="Calibri"/>
            </a:endParaRPr>
          </a:p>
          <a:p>
            <a:pPr indent="0" lvl="0" marL="0" marR="0" rtl="0" algn="l">
              <a:lnSpc>
                <a:spcPct val="110000"/>
              </a:lnSpc>
              <a:spcBef>
                <a:spcPts val="0"/>
              </a:spcBef>
              <a:spcAft>
                <a:spcPts val="0"/>
              </a:spcAft>
              <a:buClr>
                <a:srgbClr val="3A332E"/>
              </a:buClr>
              <a:buSzPts val="1700"/>
              <a:buFont typeface="Arial"/>
              <a:buNone/>
            </a:pPr>
            <a:r>
              <a:rPr b="0" i="0" lang="en-US" sz="1700" u="none" cap="none" strike="noStrike">
                <a:solidFill>
                  <a:srgbClr val="3A332E"/>
                </a:solidFill>
                <a:latin typeface="Arial"/>
                <a:ea typeface="Arial"/>
                <a:cs typeface="Arial"/>
                <a:sym typeface="Arial"/>
              </a:rPr>
              <a:t>10 min presentation + </a:t>
            </a:r>
            <a:r>
              <a:rPr lang="en-US" sz="1700">
                <a:solidFill>
                  <a:srgbClr val="3A332E"/>
                </a:solidFill>
              </a:rPr>
              <a:t>5 </a:t>
            </a:r>
            <a:r>
              <a:rPr b="0" i="0" lang="en-US" sz="1700" u="none" cap="none" strike="noStrike">
                <a:solidFill>
                  <a:srgbClr val="3A332E"/>
                </a:solidFill>
                <a:latin typeface="Arial"/>
                <a:ea typeface="Arial"/>
                <a:cs typeface="Arial"/>
                <a:sym typeface="Arial"/>
              </a:rPr>
              <a:t>min Q&amp;A</a:t>
            </a:r>
            <a:endParaRPr b="0" i="0" sz="1700" u="none" cap="none" strike="noStrike">
              <a:solidFill>
                <a:schemeClr val="dk1"/>
              </a:solidFill>
              <a:latin typeface="Calibri"/>
              <a:ea typeface="Calibri"/>
              <a:cs typeface="Calibri"/>
              <a:sym typeface="Calibri"/>
            </a:endParaRPr>
          </a:p>
        </p:txBody>
      </p:sp>
      <p:sp>
        <p:nvSpPr>
          <p:cNvPr id="524" name="Google Shape;524;p44"/>
          <p:cNvSpPr/>
          <p:nvPr/>
        </p:nvSpPr>
        <p:spPr>
          <a:xfrm>
            <a:off x="6278880" y="2499360"/>
            <a:ext cx="5059680" cy="2865120"/>
          </a:xfrm>
          <a:prstGeom prst="rect">
            <a:avLst/>
          </a:prstGeom>
          <a:solidFill>
            <a:srgbClr val="A4262C"/>
          </a:solidFill>
          <a:ln cap="flat" cmpd="sng" w="12700">
            <a:solidFill>
              <a:srgbClr val="A4262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25" name="Google Shape;525;p44"/>
          <p:cNvSpPr txBox="1"/>
          <p:nvPr/>
        </p:nvSpPr>
        <p:spPr>
          <a:xfrm>
            <a:off x="6705600" y="2865120"/>
            <a:ext cx="4145280" cy="2682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6DADB"/>
              </a:buClr>
              <a:buSzPts val="1500"/>
              <a:buFont typeface="Arial"/>
              <a:buNone/>
            </a:pPr>
            <a:r>
              <a:rPr b="1" i="0" lang="en-US" sz="1500" u="none" cap="none" strike="noStrike">
                <a:solidFill>
                  <a:srgbClr val="F6DADB"/>
                </a:solidFill>
                <a:latin typeface="Arial"/>
                <a:ea typeface="Arial"/>
                <a:cs typeface="Arial"/>
                <a:sym typeface="Arial"/>
              </a:rPr>
              <a:t>ROUND 2</a:t>
            </a:r>
            <a:endParaRPr b="0" i="0" sz="1500" u="none" cap="none" strike="noStrike">
              <a:solidFill>
                <a:schemeClr val="dk1"/>
              </a:solidFill>
              <a:latin typeface="Calibri"/>
              <a:ea typeface="Calibri"/>
              <a:cs typeface="Calibri"/>
              <a:sym typeface="Calibri"/>
            </a:endParaRPr>
          </a:p>
        </p:txBody>
      </p:sp>
      <p:sp>
        <p:nvSpPr>
          <p:cNvPr id="526" name="Google Shape;526;p44"/>
          <p:cNvSpPr txBox="1"/>
          <p:nvPr/>
        </p:nvSpPr>
        <p:spPr>
          <a:xfrm>
            <a:off x="6705600" y="3169920"/>
            <a:ext cx="4145280" cy="6705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3700"/>
              <a:buFont typeface="Arial"/>
              <a:buNone/>
            </a:pPr>
            <a:r>
              <a:rPr b="1" i="0" lang="en-US" sz="3700" u="none" cap="none" strike="noStrike">
                <a:solidFill>
                  <a:srgbClr val="FFFFFF"/>
                </a:solidFill>
                <a:latin typeface="Arial"/>
                <a:ea typeface="Arial"/>
                <a:cs typeface="Arial"/>
                <a:sym typeface="Arial"/>
              </a:rPr>
              <a:t>Finals</a:t>
            </a:r>
            <a:endParaRPr b="0" i="0" sz="3700" u="none" cap="none" strike="noStrike">
              <a:solidFill>
                <a:schemeClr val="dk1"/>
              </a:solidFill>
              <a:latin typeface="Calibri"/>
              <a:ea typeface="Calibri"/>
              <a:cs typeface="Calibri"/>
              <a:sym typeface="Calibri"/>
            </a:endParaRPr>
          </a:p>
        </p:txBody>
      </p:sp>
      <p:sp>
        <p:nvSpPr>
          <p:cNvPr id="527" name="Google Shape;527;p44"/>
          <p:cNvSpPr txBox="1"/>
          <p:nvPr/>
        </p:nvSpPr>
        <p:spPr>
          <a:xfrm>
            <a:off x="6705600" y="3840480"/>
            <a:ext cx="414528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100"/>
              <a:buFont typeface="Arial"/>
              <a:buNone/>
            </a:pPr>
            <a:r>
              <a:rPr b="1" i="0" lang="en-US" sz="2100" u="none" cap="none" strike="noStrike">
                <a:solidFill>
                  <a:srgbClr val="FFFFFF"/>
                </a:solidFill>
                <a:latin typeface="Arial"/>
                <a:ea typeface="Arial"/>
                <a:cs typeface="Arial"/>
                <a:sym typeface="Arial"/>
              </a:rPr>
              <a:t>1:15–2:55 PM</a:t>
            </a:r>
            <a:endParaRPr b="0" i="0" sz="2100" u="none" cap="none" strike="noStrike">
              <a:solidFill>
                <a:schemeClr val="dk1"/>
              </a:solidFill>
              <a:latin typeface="Calibri"/>
              <a:ea typeface="Calibri"/>
              <a:cs typeface="Calibri"/>
              <a:sym typeface="Calibri"/>
            </a:endParaRPr>
          </a:p>
        </p:txBody>
      </p:sp>
      <p:sp>
        <p:nvSpPr>
          <p:cNvPr id="528" name="Google Shape;528;p44"/>
          <p:cNvSpPr txBox="1"/>
          <p:nvPr/>
        </p:nvSpPr>
        <p:spPr>
          <a:xfrm>
            <a:off x="6705600" y="4450080"/>
            <a:ext cx="4267200" cy="67056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6DADB"/>
              </a:buClr>
              <a:buSzPts val="1700"/>
              <a:buFont typeface="Arial"/>
              <a:buNone/>
            </a:pPr>
            <a:r>
              <a:rPr b="0" i="0" lang="en-US" sz="1700" u="none" cap="none" strike="noStrike">
                <a:solidFill>
                  <a:srgbClr val="F6DADB"/>
                </a:solidFill>
                <a:latin typeface="Arial"/>
                <a:ea typeface="Arial"/>
                <a:cs typeface="Arial"/>
                <a:sym typeface="Arial"/>
              </a:rPr>
              <a:t>Top 5 teams advance</a:t>
            </a:r>
            <a:endParaRPr b="0" i="0" sz="1700" u="none" cap="none" strike="noStrike">
              <a:solidFill>
                <a:schemeClr val="dk1"/>
              </a:solidFill>
              <a:latin typeface="Calibri"/>
              <a:ea typeface="Calibri"/>
              <a:cs typeface="Calibri"/>
              <a:sym typeface="Calibri"/>
            </a:endParaRPr>
          </a:p>
          <a:p>
            <a:pPr indent="0" lvl="0" marL="0" marR="0" rtl="0" algn="l">
              <a:lnSpc>
                <a:spcPct val="110000"/>
              </a:lnSpc>
              <a:spcBef>
                <a:spcPts val="0"/>
              </a:spcBef>
              <a:spcAft>
                <a:spcPts val="0"/>
              </a:spcAft>
              <a:buClr>
                <a:srgbClr val="F6DADB"/>
              </a:buClr>
              <a:buSzPts val="1700"/>
              <a:buFont typeface="Arial"/>
              <a:buNone/>
            </a:pPr>
            <a:r>
              <a:rPr b="0" i="0" lang="en-US" sz="1700" u="none" cap="none" strike="noStrike">
                <a:solidFill>
                  <a:srgbClr val="F6DADB"/>
                </a:solidFill>
                <a:latin typeface="Arial"/>
                <a:ea typeface="Arial"/>
                <a:cs typeface="Arial"/>
                <a:sym typeface="Arial"/>
              </a:rPr>
              <a:t>Winners announced by 3:45 PM</a:t>
            </a:r>
            <a:endParaRPr b="0" i="0" sz="1700" u="none" cap="none" strike="noStrike">
              <a:solidFill>
                <a:schemeClr val="dk1"/>
              </a:solidFill>
              <a:latin typeface="Calibri"/>
              <a:ea typeface="Calibri"/>
              <a:cs typeface="Calibri"/>
              <a:sym typeface="Calibri"/>
            </a:endParaRPr>
          </a:p>
        </p:txBody>
      </p:sp>
      <p:sp>
        <p:nvSpPr>
          <p:cNvPr id="529" name="Google Shape;529;p44"/>
          <p:cNvSpPr txBox="1"/>
          <p:nvPr/>
        </p:nvSpPr>
        <p:spPr>
          <a:xfrm>
            <a:off x="950615" y="5608304"/>
            <a:ext cx="10485000" cy="30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A332E"/>
              </a:buClr>
              <a:buSzPts val="1600"/>
              <a:buFont typeface="Arial"/>
              <a:buNone/>
            </a:pPr>
            <a:r>
              <a:rPr b="0" i="0" lang="en-US" sz="1600" u="none" cap="none" strike="noStrike">
                <a:solidFill>
                  <a:srgbClr val="3A332E"/>
                </a:solidFill>
                <a:latin typeface="Arial"/>
                <a:ea typeface="Arial"/>
                <a:cs typeface="Arial"/>
                <a:sym typeface="Arial"/>
              </a:rPr>
              <a:t>Check in at the TNRB atrium  ·  Prelims in JKB  ·  Finals in TNRB 710</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DCD0"/>
        </a:solidFill>
      </p:bgPr>
    </p:bg>
    <p:spTree>
      <p:nvGrpSpPr>
        <p:cNvPr id="534" name="Shape 534"/>
        <p:cNvGrpSpPr/>
        <p:nvPr/>
      </p:nvGrpSpPr>
      <p:grpSpPr>
        <a:xfrm>
          <a:off x="0" y="0"/>
          <a:ext cx="0" cy="0"/>
          <a:chOff x="0" y="0"/>
          <a:chExt cx="0" cy="0"/>
        </a:xfrm>
      </p:grpSpPr>
      <p:sp>
        <p:nvSpPr>
          <p:cNvPr id="535" name="Google Shape;535;p45"/>
          <p:cNvSpPr txBox="1"/>
          <p:nvPr/>
        </p:nvSpPr>
        <p:spPr>
          <a:xfrm>
            <a:off x="813816" y="1280160"/>
            <a:ext cx="4023360" cy="2011680"/>
          </a:xfrm>
          <a:prstGeom prst="rect">
            <a:avLst/>
          </a:prstGeom>
          <a:noFill/>
          <a:ln>
            <a:noFill/>
          </a:ln>
        </p:spPr>
        <p:txBody>
          <a:bodyPr anchorCtr="0" anchor="t" bIns="0" lIns="0" spcFirstLastPara="1" rIns="0" wrap="square" tIns="0">
            <a:spAutoFit/>
          </a:bodyPr>
          <a:lstStyle/>
          <a:p>
            <a:pPr indent="0" lvl="0" marL="0" marR="0" rtl="0" algn="l">
              <a:lnSpc>
                <a:spcPct val="88000"/>
              </a:lnSpc>
              <a:spcBef>
                <a:spcPts val="0"/>
              </a:spcBef>
              <a:spcAft>
                <a:spcPts val="0"/>
              </a:spcAft>
              <a:buNone/>
            </a:pPr>
            <a:r>
              <a:rPr b="1" i="0" lang="en-US" sz="6600" u="none" cap="none" strike="noStrike">
                <a:solidFill>
                  <a:srgbClr val="B3202D"/>
                </a:solidFill>
                <a:latin typeface="Archivo"/>
                <a:ea typeface="Archivo"/>
                <a:cs typeface="Archivo"/>
                <a:sym typeface="Archivo"/>
              </a:rPr>
              <a:t>CASH</a:t>
            </a:r>
            <a:endParaRPr/>
          </a:p>
          <a:p>
            <a:pPr indent="0" lvl="0" marL="0" marR="0" rtl="0" algn="l">
              <a:lnSpc>
                <a:spcPct val="88000"/>
              </a:lnSpc>
              <a:spcBef>
                <a:spcPts val="0"/>
              </a:spcBef>
              <a:spcAft>
                <a:spcPts val="0"/>
              </a:spcAft>
              <a:buNone/>
            </a:pPr>
            <a:r>
              <a:rPr b="1" i="0" lang="en-US" sz="6600" u="none" cap="none" strike="noStrike">
                <a:solidFill>
                  <a:srgbClr val="B3202D"/>
                </a:solidFill>
                <a:latin typeface="Archivo"/>
                <a:ea typeface="Archivo"/>
                <a:cs typeface="Archivo"/>
                <a:sym typeface="Archivo"/>
              </a:rPr>
              <a:t>PRIZES</a:t>
            </a:r>
            <a:endParaRPr/>
          </a:p>
        </p:txBody>
      </p:sp>
      <p:sp>
        <p:nvSpPr>
          <p:cNvPr id="536" name="Google Shape;536;p45"/>
          <p:cNvSpPr/>
          <p:nvPr/>
        </p:nvSpPr>
        <p:spPr>
          <a:xfrm>
            <a:off x="5120640" y="2560320"/>
            <a:ext cx="1965960" cy="3291840"/>
          </a:xfrm>
          <a:prstGeom prst="rect">
            <a:avLst/>
          </a:prstGeom>
          <a:solidFill>
            <a:srgbClr val="6E101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7" name="Google Shape;537;p45"/>
          <p:cNvSpPr txBox="1"/>
          <p:nvPr/>
        </p:nvSpPr>
        <p:spPr>
          <a:xfrm>
            <a:off x="5376672" y="2788920"/>
            <a:ext cx="1554480"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600" u="none" cap="none" strike="noStrike">
                <a:solidFill>
                  <a:srgbClr val="FFFFFF"/>
                </a:solidFill>
                <a:latin typeface="Archivo"/>
                <a:ea typeface="Archivo"/>
                <a:cs typeface="Archivo"/>
                <a:sym typeface="Archivo"/>
              </a:rPr>
              <a:t>2nd</a:t>
            </a:r>
            <a:endParaRPr/>
          </a:p>
        </p:txBody>
      </p:sp>
      <p:sp>
        <p:nvSpPr>
          <p:cNvPr id="538" name="Google Shape;538;p45"/>
          <p:cNvSpPr txBox="1"/>
          <p:nvPr/>
        </p:nvSpPr>
        <p:spPr>
          <a:xfrm>
            <a:off x="5376672" y="5166360"/>
            <a:ext cx="1554480"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400" u="none" cap="none" strike="noStrike">
                <a:solidFill>
                  <a:srgbClr val="FFFFFF"/>
                </a:solidFill>
                <a:latin typeface="Archivo"/>
                <a:ea typeface="Archivo"/>
                <a:cs typeface="Archivo"/>
                <a:sym typeface="Archivo"/>
              </a:rPr>
              <a:t>$2,000</a:t>
            </a:r>
            <a:endParaRPr/>
          </a:p>
        </p:txBody>
      </p:sp>
      <p:sp>
        <p:nvSpPr>
          <p:cNvPr id="539" name="Google Shape;539;p45"/>
          <p:cNvSpPr/>
          <p:nvPr/>
        </p:nvSpPr>
        <p:spPr>
          <a:xfrm>
            <a:off x="7269480" y="1280160"/>
            <a:ext cx="1965960" cy="4572000"/>
          </a:xfrm>
          <a:prstGeom prst="rect">
            <a:avLst/>
          </a:prstGeom>
          <a:solidFill>
            <a:srgbClr val="B3202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0" name="Google Shape;540;p45"/>
          <p:cNvSpPr txBox="1"/>
          <p:nvPr/>
        </p:nvSpPr>
        <p:spPr>
          <a:xfrm>
            <a:off x="7525512" y="1508760"/>
            <a:ext cx="1554480"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600" u="none" cap="none" strike="noStrike">
                <a:solidFill>
                  <a:srgbClr val="FFFFFF"/>
                </a:solidFill>
                <a:latin typeface="Archivo"/>
                <a:ea typeface="Archivo"/>
                <a:cs typeface="Archivo"/>
                <a:sym typeface="Archivo"/>
              </a:rPr>
              <a:t>1st</a:t>
            </a:r>
            <a:endParaRPr/>
          </a:p>
        </p:txBody>
      </p:sp>
      <p:sp>
        <p:nvSpPr>
          <p:cNvPr id="541" name="Google Shape;541;p45"/>
          <p:cNvSpPr txBox="1"/>
          <p:nvPr/>
        </p:nvSpPr>
        <p:spPr>
          <a:xfrm>
            <a:off x="7525512" y="5166360"/>
            <a:ext cx="1554480"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400" u="none" cap="none" strike="noStrike">
                <a:solidFill>
                  <a:srgbClr val="FFFFFF"/>
                </a:solidFill>
                <a:latin typeface="Archivo"/>
                <a:ea typeface="Archivo"/>
                <a:cs typeface="Archivo"/>
                <a:sym typeface="Archivo"/>
              </a:rPr>
              <a:t>$3,000</a:t>
            </a:r>
            <a:endParaRPr/>
          </a:p>
        </p:txBody>
      </p:sp>
      <p:sp>
        <p:nvSpPr>
          <p:cNvPr id="542" name="Google Shape;542;p45"/>
          <p:cNvSpPr/>
          <p:nvPr/>
        </p:nvSpPr>
        <p:spPr>
          <a:xfrm>
            <a:off x="9418320" y="3474720"/>
            <a:ext cx="1965960" cy="2377440"/>
          </a:xfrm>
          <a:prstGeom prst="rect">
            <a:avLst/>
          </a:prstGeom>
          <a:solidFill>
            <a:srgbClr val="1E161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3" name="Google Shape;543;p45"/>
          <p:cNvSpPr txBox="1"/>
          <p:nvPr/>
        </p:nvSpPr>
        <p:spPr>
          <a:xfrm>
            <a:off x="9674352" y="3703320"/>
            <a:ext cx="1554480"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600" u="none" cap="none" strike="noStrike">
                <a:solidFill>
                  <a:srgbClr val="FFFFFF"/>
                </a:solidFill>
                <a:latin typeface="Archivo"/>
                <a:ea typeface="Archivo"/>
                <a:cs typeface="Archivo"/>
                <a:sym typeface="Archivo"/>
              </a:rPr>
              <a:t>3rd</a:t>
            </a:r>
            <a:endParaRPr/>
          </a:p>
        </p:txBody>
      </p:sp>
      <p:sp>
        <p:nvSpPr>
          <p:cNvPr id="544" name="Google Shape;544;p45"/>
          <p:cNvSpPr txBox="1"/>
          <p:nvPr/>
        </p:nvSpPr>
        <p:spPr>
          <a:xfrm>
            <a:off x="9674352" y="5166360"/>
            <a:ext cx="1554480"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400" u="none" cap="none" strike="noStrike">
                <a:solidFill>
                  <a:srgbClr val="FFFFFF"/>
                </a:solidFill>
                <a:latin typeface="Archivo"/>
                <a:ea typeface="Archivo"/>
                <a:cs typeface="Archivo"/>
                <a:sym typeface="Archivo"/>
              </a:rPr>
              <a:t>$1,000</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3202D"/>
        </a:solidFill>
      </p:bgPr>
    </p:bg>
    <p:spTree>
      <p:nvGrpSpPr>
        <p:cNvPr id="549" name="Shape 549"/>
        <p:cNvGrpSpPr/>
        <p:nvPr/>
      </p:nvGrpSpPr>
      <p:grpSpPr>
        <a:xfrm>
          <a:off x="0" y="0"/>
          <a:ext cx="0" cy="0"/>
          <a:chOff x="0" y="0"/>
          <a:chExt cx="0" cy="0"/>
        </a:xfrm>
      </p:grpSpPr>
      <p:sp>
        <p:nvSpPr>
          <p:cNvPr id="550" name="Google Shape;550;p46"/>
          <p:cNvSpPr/>
          <p:nvPr/>
        </p:nvSpPr>
        <p:spPr>
          <a:xfrm>
            <a:off x="812800" y="812800"/>
            <a:ext cx="7508494" cy="2508250"/>
          </a:xfrm>
          <a:prstGeom prst="rect">
            <a:avLst/>
          </a:prstGeom>
          <a:noFill/>
          <a:ln>
            <a:noFill/>
          </a:ln>
        </p:spPr>
        <p:txBody>
          <a:bodyPr anchorCtr="0" anchor="t" bIns="0" lIns="0" spcFirstLastPara="1" rIns="0" wrap="square" tIns="0">
            <a:noAutofit/>
          </a:bodyPr>
          <a:lstStyle/>
          <a:p>
            <a:pPr indent="0" lvl="0" marL="0" marR="0" rtl="0" algn="l">
              <a:lnSpc>
                <a:spcPct val="85000"/>
              </a:lnSpc>
              <a:spcBef>
                <a:spcPts val="0"/>
              </a:spcBef>
              <a:spcAft>
                <a:spcPts val="0"/>
              </a:spcAft>
              <a:buClr>
                <a:srgbClr val="F7ECE8"/>
              </a:buClr>
              <a:buSzPts val="11500"/>
              <a:buFont typeface="Archivo"/>
              <a:buNone/>
            </a:pPr>
            <a:r>
              <a:rPr b="1" i="0" lang="en-US" sz="11500" u="none" cap="none" strike="noStrike">
                <a:solidFill>
                  <a:srgbClr val="F7ECE8"/>
                </a:solidFill>
                <a:latin typeface="Archivo"/>
                <a:ea typeface="Archivo"/>
                <a:cs typeface="Archivo"/>
                <a:sym typeface="Archivo"/>
              </a:rPr>
              <a:t>THANK</a:t>
            </a:r>
            <a:endParaRPr b="0" i="0" sz="11500" u="none" cap="none" strike="noStrike">
              <a:solidFill>
                <a:schemeClr val="dk1"/>
              </a:solidFill>
              <a:latin typeface="Calibri"/>
              <a:ea typeface="Calibri"/>
              <a:cs typeface="Calibri"/>
              <a:sym typeface="Calibri"/>
            </a:endParaRPr>
          </a:p>
          <a:p>
            <a:pPr indent="0" lvl="0" marL="0" marR="0" rtl="0" algn="l">
              <a:lnSpc>
                <a:spcPct val="85000"/>
              </a:lnSpc>
              <a:spcBef>
                <a:spcPts val="0"/>
              </a:spcBef>
              <a:spcAft>
                <a:spcPts val="0"/>
              </a:spcAft>
              <a:buClr>
                <a:srgbClr val="F7ECE8"/>
              </a:buClr>
              <a:buSzPts val="11500"/>
              <a:buFont typeface="Archivo"/>
              <a:buNone/>
            </a:pPr>
            <a:r>
              <a:rPr b="1" i="0" lang="en-US" sz="11500" u="none" cap="none" strike="noStrike">
                <a:solidFill>
                  <a:srgbClr val="F7ECE8"/>
                </a:solidFill>
                <a:latin typeface="Archivo"/>
                <a:ea typeface="Archivo"/>
                <a:cs typeface="Archivo"/>
                <a:sym typeface="Archivo"/>
              </a:rPr>
              <a:t>YOU</a:t>
            </a:r>
            <a:endParaRPr b="0" i="0" sz="11500" u="none" cap="none" strike="noStrike">
              <a:solidFill>
                <a:schemeClr val="dk1"/>
              </a:solidFill>
              <a:latin typeface="Calibri"/>
              <a:ea typeface="Calibri"/>
              <a:cs typeface="Calibri"/>
              <a:sym typeface="Calibri"/>
            </a:endParaRPr>
          </a:p>
        </p:txBody>
      </p:sp>
      <p:sp>
        <p:nvSpPr>
          <p:cNvPr id="551" name="Google Shape;551;p46"/>
          <p:cNvSpPr/>
          <p:nvPr/>
        </p:nvSpPr>
        <p:spPr>
          <a:xfrm>
            <a:off x="812850" y="5910750"/>
            <a:ext cx="7508400" cy="381000"/>
          </a:xfrm>
          <a:prstGeom prst="rect">
            <a:avLst/>
          </a:prstGeom>
          <a:noFill/>
          <a:ln>
            <a:noFill/>
          </a:ln>
        </p:spPr>
        <p:txBody>
          <a:bodyPr anchorCtr="0" anchor="t" bIns="0" lIns="0" spcFirstLastPara="1" rIns="0" wrap="square" tIns="0">
            <a:noAutofit/>
          </a:bodyPr>
          <a:lstStyle/>
          <a:p>
            <a:pPr indent="0" lvl="0" marL="0" rtl="0" algn="l">
              <a:lnSpc>
                <a:spcPct val="140000"/>
              </a:lnSpc>
              <a:spcBef>
                <a:spcPts val="0"/>
              </a:spcBef>
              <a:spcAft>
                <a:spcPts val="0"/>
              </a:spcAft>
              <a:buClr>
                <a:srgbClr val="F7ECE8"/>
              </a:buClr>
              <a:buSzPts val="2000"/>
              <a:buFont typeface="DM Sans"/>
              <a:buNone/>
            </a:pPr>
            <a:r>
              <a:rPr b="1" lang="en-US" sz="2000">
                <a:solidFill>
                  <a:srgbClr val="F7ECE8"/>
                </a:solidFill>
                <a:latin typeface="DM Sans"/>
                <a:ea typeface="DM Sans"/>
                <a:cs typeface="DM Sans"/>
                <a:sym typeface="DM Sans"/>
              </a:rPr>
              <a:t>Register your team by Thursday Oct 15th @ 11:59pm</a:t>
            </a:r>
            <a:endParaRPr sz="2000">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F7ECE8"/>
              </a:buClr>
              <a:buSzPts val="2000"/>
              <a:buFont typeface="DM Sans"/>
              <a:buNone/>
            </a:pPr>
            <a:r>
              <a:t/>
            </a:r>
            <a:endParaRPr b="1" sz="2000">
              <a:solidFill>
                <a:srgbClr val="F7ECE8"/>
              </a:solidFill>
              <a:latin typeface="DM Sans"/>
              <a:ea typeface="DM Sans"/>
              <a:cs typeface="DM Sans"/>
              <a:sym typeface="DM Sans"/>
            </a:endParaRPr>
          </a:p>
        </p:txBody>
      </p:sp>
      <p:sp>
        <p:nvSpPr>
          <p:cNvPr id="552" name="Google Shape;552;p46"/>
          <p:cNvSpPr/>
          <p:nvPr/>
        </p:nvSpPr>
        <p:spPr>
          <a:xfrm>
            <a:off x="8721725" y="2699395"/>
            <a:ext cx="2647950" cy="2647950"/>
          </a:xfrm>
          <a:prstGeom prst="rect">
            <a:avLst/>
          </a:prstGeom>
          <a:noFill/>
          <a:ln cap="flat" cmpd="sng" w="19050">
            <a:solidFill>
              <a:srgbClr val="F7ECE8"/>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46"/>
          <p:cNvSpPr/>
          <p:nvPr/>
        </p:nvSpPr>
        <p:spPr>
          <a:xfrm>
            <a:off x="8672195" y="5509270"/>
            <a:ext cx="2747010" cy="25653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F7ECE8"/>
              </a:buClr>
              <a:buSzPts val="1300"/>
              <a:buFont typeface="DM Sans"/>
              <a:buNone/>
            </a:pPr>
            <a:r>
              <a:rPr lang="en-US" sz="1300">
                <a:solidFill>
                  <a:srgbClr val="F7ECE8"/>
                </a:solidFill>
                <a:latin typeface="DM Sans"/>
                <a:ea typeface="DM Sans"/>
                <a:cs typeface="DM Sans"/>
                <a:sym typeface="DM Sans"/>
              </a:rPr>
              <a:t>Team Sign Up Sheet</a:t>
            </a:r>
            <a:endParaRPr b="0" i="0" sz="1300" u="none" cap="none" strike="noStrike">
              <a:solidFill>
                <a:schemeClr val="dk1"/>
              </a:solidFill>
              <a:latin typeface="Calibri"/>
              <a:ea typeface="Calibri"/>
              <a:cs typeface="Calibri"/>
              <a:sym typeface="Calibri"/>
            </a:endParaRPr>
          </a:p>
        </p:txBody>
      </p:sp>
      <p:pic>
        <p:nvPicPr>
          <p:cNvPr descr="Do Good. Better." id="554" name="Google Shape;554;p46"/>
          <p:cNvPicPr preferRelativeResize="0"/>
          <p:nvPr/>
        </p:nvPicPr>
        <p:blipFill rotWithShape="1">
          <a:blip r:embed="rId3">
            <a:alphaModFix/>
          </a:blip>
          <a:srcRect b="-5" l="0" r="0" t="-5"/>
          <a:stretch/>
        </p:blipFill>
        <p:spPr>
          <a:xfrm>
            <a:off x="8001000" y="6121400"/>
            <a:ext cx="3378200" cy="304800"/>
          </a:xfrm>
          <a:prstGeom prst="rect">
            <a:avLst/>
          </a:prstGeom>
          <a:noFill/>
          <a:ln>
            <a:noFill/>
          </a:ln>
        </p:spPr>
      </p:pic>
      <p:pic>
        <p:nvPicPr>
          <p:cNvPr id="555" name="Google Shape;555;p46"/>
          <p:cNvPicPr preferRelativeResize="0"/>
          <p:nvPr/>
        </p:nvPicPr>
        <p:blipFill>
          <a:blip r:embed="rId4">
            <a:alphaModFix/>
          </a:blip>
          <a:stretch>
            <a:fillRect/>
          </a:stretch>
        </p:blipFill>
        <p:spPr>
          <a:xfrm>
            <a:off x="8527650" y="2577600"/>
            <a:ext cx="2891550" cy="2891550"/>
          </a:xfrm>
          <a:prstGeom prst="rect">
            <a:avLst/>
          </a:prstGeom>
          <a:noFill/>
          <a:ln>
            <a:noFill/>
          </a:ln>
        </p:spPr>
      </p:pic>
      <p:pic>
        <p:nvPicPr>
          <p:cNvPr id="556" name="Google Shape;556;p46"/>
          <p:cNvPicPr preferRelativeResize="0"/>
          <p:nvPr/>
        </p:nvPicPr>
        <p:blipFill>
          <a:blip r:embed="rId5">
            <a:alphaModFix/>
          </a:blip>
          <a:stretch>
            <a:fillRect/>
          </a:stretch>
        </p:blipFill>
        <p:spPr>
          <a:xfrm>
            <a:off x="9821248" y="367400"/>
            <a:ext cx="1557950" cy="1557950"/>
          </a:xfrm>
          <a:prstGeom prst="rect">
            <a:avLst/>
          </a:prstGeom>
          <a:noFill/>
          <a:ln>
            <a:noFill/>
          </a:ln>
        </p:spPr>
      </p:pic>
      <p:sp>
        <p:nvSpPr>
          <p:cNvPr id="557" name="Google Shape;557;p46"/>
          <p:cNvSpPr txBox="1"/>
          <p:nvPr/>
        </p:nvSpPr>
        <p:spPr>
          <a:xfrm>
            <a:off x="9645925" y="1889925"/>
            <a:ext cx="1908600" cy="354000"/>
          </a:xfrm>
          <a:prstGeom prst="rect">
            <a:avLst/>
          </a:prstGeom>
          <a:noFill/>
          <a:ln>
            <a:noFill/>
          </a:ln>
        </p:spPr>
        <p:txBody>
          <a:bodyPr anchorCtr="0" anchor="t" bIns="91425" lIns="91425" spcFirstLastPara="1" rIns="91425" wrap="square" tIns="91425">
            <a:spAutoFit/>
          </a:bodyPr>
          <a:lstStyle/>
          <a:p>
            <a:pPr indent="0" lvl="0" marL="0" rtl="0" algn="ctr">
              <a:lnSpc>
                <a:spcPct val="140000"/>
              </a:lnSpc>
              <a:spcBef>
                <a:spcPts val="0"/>
              </a:spcBef>
              <a:spcAft>
                <a:spcPts val="0"/>
              </a:spcAft>
              <a:buNone/>
            </a:pPr>
            <a:r>
              <a:rPr lang="en-US" sz="1100">
                <a:solidFill>
                  <a:srgbClr val="F7ECE8"/>
                </a:solidFill>
                <a:latin typeface="DM Sans"/>
                <a:ea typeface="DM Sans"/>
                <a:cs typeface="DM Sans"/>
                <a:sym typeface="DM Sans"/>
              </a:rPr>
              <a:t>Scan if you need a team!</a:t>
            </a:r>
            <a:endParaRPr sz="1100">
              <a:solidFill>
                <a:schemeClr val="dk1"/>
              </a:solidFill>
              <a:latin typeface="Calibri"/>
              <a:ea typeface="Calibri"/>
              <a:cs typeface="Calibri"/>
              <a:sym typeface="Calibri"/>
            </a:endParaRPr>
          </a:p>
        </p:txBody>
      </p:sp>
      <p:sp>
        <p:nvSpPr>
          <p:cNvPr id="558" name="Google Shape;558;p46"/>
          <p:cNvSpPr txBox="1"/>
          <p:nvPr/>
        </p:nvSpPr>
        <p:spPr>
          <a:xfrm>
            <a:off x="709300" y="6121400"/>
            <a:ext cx="5104200" cy="492600"/>
          </a:xfrm>
          <a:prstGeom prst="rect">
            <a:avLst/>
          </a:prstGeom>
          <a:noFill/>
          <a:ln>
            <a:noFill/>
          </a:ln>
        </p:spPr>
        <p:txBody>
          <a:bodyPr anchorCtr="0" anchor="t" bIns="91425" lIns="91425" spcFirstLastPara="1" rIns="91425" wrap="square" tIns="91425">
            <a:spAutoFit/>
          </a:bodyPr>
          <a:lstStyle/>
          <a:p>
            <a:pPr indent="0" lvl="0" marL="0" rtl="0" algn="l">
              <a:lnSpc>
                <a:spcPct val="140000"/>
              </a:lnSpc>
              <a:spcBef>
                <a:spcPts val="0"/>
              </a:spcBef>
              <a:spcAft>
                <a:spcPts val="0"/>
              </a:spcAft>
              <a:buNone/>
            </a:pPr>
            <a:r>
              <a:rPr b="1" lang="en-US" sz="2000">
                <a:solidFill>
                  <a:srgbClr val="F7ECE8"/>
                </a:solidFill>
                <a:latin typeface="DM Sans"/>
                <a:ea typeface="DM Sans"/>
                <a:cs typeface="DM Sans"/>
                <a:sym typeface="DM Sans"/>
              </a:rPr>
              <a:t>Questions? Email peerybfg@byu.edu</a:t>
            </a:r>
            <a:endParaRPr sz="20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Merit Medical Case Brief">
  <a:themeElements>
    <a:clrScheme name="Merit Medical Case Brief">
      <a:dk1>
        <a:srgbClr val="1E1616"/>
      </a:dk1>
      <a:lt1>
        <a:srgbClr val="F2EDE6"/>
      </a:lt1>
      <a:dk2>
        <a:srgbClr val="534C4A"/>
      </a:dk2>
      <a:lt2>
        <a:srgbClr val="DDD8D1"/>
      </a:lt2>
      <a:accent1>
        <a:srgbClr val="B3202D"/>
      </a:accent1>
      <a:accent2>
        <a:srgbClr val="F2C4C0"/>
      </a:accent2>
      <a:accent3>
        <a:srgbClr val="E0707A"/>
      </a:accent3>
      <a:accent4>
        <a:srgbClr val="6E1019"/>
      </a:accent4>
      <a:accent5>
        <a:srgbClr val="9AA0A6"/>
      </a:accent5>
      <a:accent6>
        <a:srgbClr val="736C69"/>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